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talk is a high-level overview: upstream EmbodiedGen V2, what ZenoBench contains, task demos, and the proposed upper-level skill-graph interface.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EmbodiedGen V2 is upstream. It documents text/image-to-3D assets, multi-room scenes and task-driven world composition: https://github.com/HorizonRobotics/EmbodiedGen/blob/master/README.md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house is an Infinigen layout, and the task objects are EmbodiedGen V2-generated. The repo prepares assets, room interactions, task scenes and scoring. This slide is intentionally a simple inventory, not an implementation pipeline.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Keep this high-level. These are things the system can demonstrate; do not explain trajectory controllers here. Recorded videos show whole scripted-policy runs and state-based evaluation.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Current repo catalog has 60 policy entries, 54 with at least one representative physical smoke run and six callable but unverified. Give examples by category, not the full list. The six unverified include floor-corner picking and five dual-arm or handover routes. An atomic policy is a graph-level action; its controller may include several joint motions.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All eight names come from task_specs. There are five organization/preparation tasks and three appliance tasks. The README includes representative runs; the task list is not a claim of robust success across all seeds.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If time is limited, play only one clip. These stills come from the recorded collect_fruits, tidy_toys and shelve_books videos. Video paths are listed in SPEAKER_NOTES.md.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heat_breakfast seed-0 rollout achieved 100% of its four goals. The repo video shows the full sequence. Heating is modeled at task level, not with PhysX thermal simulation. Avoid quoting this as general success rate.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These are recorded examples, not a statistical benchmark result. The repo has six successful videos in the main task table, a separate successful preloaded microwave smoke run, and one partial breakfast_setup run at 67% after a mug drop. The full heat_breakfast task has a seed-0 successful rollout.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is the transition to the user's two architecture figures. The existing task suite tests the consequences of upper-level decisions. The upper layer will reason over a public skill library and inspect verified outcomes.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Handoff to the upper-layer presenter: Figure 1 shows one Skill Subgraph per subgoal, validation, execution, verification and replanning.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Handoff to the upper-layer presenter: Figure 2 shows public SkillNodes, per-skill Contracts, the invocation adapter and heterogeneous low-level policies.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7.xml"/><Relationship Id="rId3"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image" Target="../media/image2.jpeg"/></Relationships>
</file>

<file path=ppt/slides/_rels/slide4.xml.rels><?xml version="1.0" encoding="UTF-8" standalone="yes"?>
<Relationships xmlns="http://schemas.openxmlformats.org/package/2006/relationships"><Relationship Id="rId6" Type="http://schemas.openxmlformats.org/officeDocument/2006/relationships/notesSlide" Target="../notesSlides/notesSlide4.xml"/><Relationship Id="rId5" Type="http://schemas.openxmlformats.org/officeDocument/2006/relationships/slideLayout" Target="../slideLayouts/slideLayout7.xml"/><Relationship Id="rId4" Type="http://schemas.openxmlformats.org/officeDocument/2006/relationships/image" Target="../media/image3.jpeg"/><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image" Target="../media/image1.jpe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notesSlide" Target="../notesSlides/notesSlide7.xml"/><Relationship Id="rId7"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hyperlink" Target="https://github.com/CMU-Agentic-Library/ZenoBench/blob/main/media/tasks/shelve_books.mp4" TargetMode="External"/><Relationship Id="rId4" Type="http://schemas.openxmlformats.org/officeDocument/2006/relationships/image" Target="../media/image6.jpeg"/><Relationship Id="rId3" Type="http://schemas.openxmlformats.org/officeDocument/2006/relationships/hyperlink" Target="https://github.com/CMU-Agentic-Library/ZenoBench/blob/main/media/tasks/tidy_toys.mp4" TargetMode="External"/><Relationship Id="rId2" Type="http://schemas.openxmlformats.org/officeDocument/2006/relationships/image" Target="../media/image4.jpeg"/><Relationship Id="rId1" Type="http://schemas.openxmlformats.org/officeDocument/2006/relationships/hyperlink" Target="https://github.com/CMU-Agentic-Library/ZenoBench/blob/main/media/tasks/collect_fruits.mp4" TargetMode="External"/></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8.xml"/><Relationship Id="rId5" Type="http://schemas.openxmlformats.org/officeDocument/2006/relationships/slideLayout" Target="../slideLayouts/slideLayout7.xml"/><Relationship Id="rId4" Type="http://schemas.openxmlformats.org/officeDocument/2006/relationships/image" Target="../media/image3.jpeg"/><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hyperlink" Target="https://github.com/CMU-Agentic-Library/ZenoBench/blob/main/media/tasks/heat_breakfast.mp4"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101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ouse_topdown.jpg"/>
          <p:cNvPicPr>
            <a:picLocks noChangeAspect="1"/>
          </p:cNvPicPr>
          <p:nvPr/>
        </p:nvPicPr>
        <p:blipFill>
          <a:blip r:embed="rId1"/>
          <a:srcRect l="22409" r="22409"/>
          <a:stretch>
            <a:fillRect/>
          </a:stretch>
        </p:blipFill>
        <p:spPr>
          <a:xfrm>
            <a:off x="5669280" y="292608"/>
            <a:ext cx="6144768" cy="6263640"/>
          </a:xfrm>
          <a:prstGeom prst="rect">
            <a:avLst/>
          </a:prstGeom>
        </p:spPr>
      </p:pic>
      <p:sp>
        <p:nvSpPr>
          <p:cNvPr id="4" name="Rectangle 3"/>
          <p:cNvSpPr/>
          <p:nvPr/>
        </p:nvSpPr>
        <p:spPr>
          <a:xfrm>
            <a:off x="5559552" y="292608"/>
            <a:ext cx="82296" cy="626364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60704"/>
            <a:ext cx="4681728" cy="685800"/>
          </a:xfrm>
          <a:prstGeom prst="rect">
            <a:avLst/>
          </a:prstGeom>
          <a:noFill/>
        </p:spPr>
        <p:txBody>
          <a:bodyPr wrap="square" lIns="0" tIns="0" rIns="0" bIns="0" anchor="t">
            <a:spAutoFit/>
          </a:bodyPr>
          <a:lstStyle/>
          <a:p>
            <a:pPr>
              <a:spcAft>
                <a:spcPts val="300"/>
              </a:spcAft>
              <a:defRPr sz="3600" b="1">
                <a:solidFill>
                  <a:srgbClr val="FFFFFF"/>
                </a:solidFill>
                <a:latin typeface="Aptos"/>
              </a:defRPr>
            </a:pPr>
            <a:r>
              <a:t>ZenoBench</a:t>
            </a:r>
          </a:p>
        </p:txBody>
      </p:sp>
      <p:sp>
        <p:nvSpPr>
          <p:cNvPr id="6" name="TextBox 5"/>
          <p:cNvSpPr txBox="1"/>
          <p:nvPr/>
        </p:nvSpPr>
        <p:spPr>
          <a:xfrm>
            <a:off x="594360" y="1938528"/>
            <a:ext cx="4727448" cy="1216152"/>
          </a:xfrm>
          <a:prstGeom prst="rect">
            <a:avLst/>
          </a:prstGeom>
          <a:noFill/>
        </p:spPr>
        <p:txBody>
          <a:bodyPr wrap="square" lIns="0" tIns="0" rIns="0" bIns="0" anchor="t">
            <a:spAutoFit/>
          </a:bodyPr>
          <a:lstStyle/>
          <a:p>
            <a:pPr>
              <a:spcAft>
                <a:spcPts val="300"/>
              </a:spcAft>
              <a:defRPr sz="2500" b="1">
                <a:solidFill>
                  <a:srgbClr val="FFFFFF"/>
                </a:solidFill>
                <a:latin typeface="Aptos"/>
              </a:defRPr>
            </a:pPr>
            <a:r>
              <a:t>From generated worlds to household tasks</a:t>
            </a:r>
          </a:p>
        </p:txBody>
      </p:sp>
      <p:sp>
        <p:nvSpPr>
          <p:cNvPr id="7" name="TextBox 6"/>
          <p:cNvSpPr txBox="1"/>
          <p:nvPr/>
        </p:nvSpPr>
        <p:spPr>
          <a:xfrm>
            <a:off x="603504" y="3666744"/>
            <a:ext cx="4754880" cy="649224"/>
          </a:xfrm>
          <a:prstGeom prst="rect">
            <a:avLst/>
          </a:prstGeom>
          <a:noFill/>
        </p:spPr>
        <p:txBody>
          <a:bodyPr wrap="square" lIns="0" tIns="0" rIns="0" bIns="0" anchor="t">
            <a:spAutoFit/>
          </a:bodyPr>
          <a:lstStyle/>
          <a:p>
            <a:pPr>
              <a:spcAft>
                <a:spcPts val="300"/>
              </a:spcAft>
              <a:defRPr sz="1600" b="0">
                <a:solidFill>
                  <a:srgbClr val="C2D8EA"/>
                </a:solidFill>
                <a:latin typeface="Aptos"/>
              </a:defRPr>
            </a:pPr>
            <a:r>
              <a:t>What we have · What it can do · What comes next</a:t>
            </a:r>
          </a:p>
        </p:txBody>
      </p:sp>
      <p:sp>
        <p:nvSpPr>
          <p:cNvPr id="8" name="Rounded Rectangle 7"/>
          <p:cNvSpPr/>
          <p:nvPr/>
        </p:nvSpPr>
        <p:spPr>
          <a:xfrm>
            <a:off x="594360" y="5111496"/>
            <a:ext cx="4553712" cy="612648"/>
          </a:xfrm>
          <a:prstGeom prst="roundRect">
            <a:avLst/>
          </a:prstGeom>
          <a:solidFill>
            <a:srgbClr val="1B3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276088"/>
            <a:ext cx="4096512" cy="292608"/>
          </a:xfrm>
          <a:prstGeom prst="rect">
            <a:avLst/>
          </a:prstGeom>
          <a:noFill/>
        </p:spPr>
        <p:txBody>
          <a:bodyPr wrap="square" lIns="0" tIns="0" rIns="0" bIns="0" anchor="t">
            <a:spAutoFit/>
          </a:bodyPr>
          <a:lstStyle/>
          <a:p>
            <a:pPr>
              <a:spcAft>
                <a:spcPts val="300"/>
              </a:spcAft>
              <a:defRPr sz="1400" b="1">
                <a:solidFill>
                  <a:srgbClr val="FFFFFF"/>
                </a:solidFill>
                <a:latin typeface="Aptos"/>
              </a:defRPr>
            </a:pPr>
            <a:r>
              <a:t>Group meeting  |  October 2026</a:t>
            </a:r>
          </a:p>
        </p:txBody>
      </p:sp>
      <p:sp>
        <p:nvSpPr>
          <p:cNvPr id="10" name="TextBox 9"/>
          <p:cNvSpPr txBox="1"/>
          <p:nvPr/>
        </p:nvSpPr>
        <p:spPr>
          <a:xfrm>
            <a:off x="612648" y="6245352"/>
            <a:ext cx="5157216" cy="228600"/>
          </a:xfrm>
          <a:prstGeom prst="rect">
            <a:avLst/>
          </a:prstGeom>
          <a:noFill/>
        </p:spPr>
        <p:txBody>
          <a:bodyPr wrap="square" lIns="0" tIns="0" rIns="0" bIns="0" anchor="t">
            <a:spAutoFit/>
          </a:bodyPr>
          <a:lstStyle/>
          <a:p>
            <a:pPr>
              <a:spcAft>
                <a:spcPts val="300"/>
              </a:spcAft>
              <a:defRPr sz="1080" b="0">
                <a:solidFill>
                  <a:srgbClr val="BCD3E4"/>
                </a:solidFill>
                <a:latin typeface="Aptos"/>
              </a:defRPr>
            </a:pPr>
            <a:r>
              <a:t>github.com/CMU-Agentic-Library/ZenoBench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210312"/>
          </a:xfrm>
          <a:prstGeom prst="rect">
            <a:avLst/>
          </a:prstGeom>
          <a:noFill/>
        </p:spPr>
        <p:txBody>
          <a:bodyPr wrap="square" lIns="0" tIns="0" rIns="0" bIns="0" anchor="t">
            <a:spAutoFit/>
          </a:bodyPr>
          <a:lstStyle/>
          <a:p>
            <a:pPr>
              <a:spcAft>
                <a:spcPts val="300"/>
              </a:spcAft>
              <a:defRPr sz="1000" b="1">
                <a:solidFill>
                  <a:srgbClr val="008F93"/>
                </a:solidFill>
                <a:latin typeface="Aptos"/>
              </a:defRPr>
            </a:pPr>
            <a:r>
              <a:t>BACKGROUND</a:t>
            </a:r>
          </a:p>
        </p:txBody>
      </p:sp>
      <p:sp>
        <p:nvSpPr>
          <p:cNvPr id="4" name="TextBox 3"/>
          <p:cNvSpPr txBox="1"/>
          <p:nvPr/>
        </p:nvSpPr>
        <p:spPr>
          <a:xfrm>
            <a:off x="502920" y="585216"/>
            <a:ext cx="11018520" cy="685800"/>
          </a:xfrm>
          <a:prstGeom prst="rect">
            <a:avLst/>
          </a:prstGeom>
          <a:noFill/>
        </p:spPr>
        <p:txBody>
          <a:bodyPr wrap="square" lIns="0" tIns="0" rIns="0" bIns="0" anchor="t">
            <a:spAutoFit/>
          </a:bodyPr>
          <a:lstStyle/>
          <a:p>
            <a:pPr>
              <a:spcAft>
                <a:spcPts val="300"/>
              </a:spcAft>
              <a:defRPr sz="2800" b="1">
                <a:solidFill>
                  <a:srgbClr val="19283D"/>
                </a:solidFill>
                <a:latin typeface="Aptos"/>
              </a:defRPr>
            </a:pPr>
            <a:r>
              <a:t>EmbodiedGen V2 generates simulation-ready worlds</a:t>
            </a:r>
          </a:p>
        </p:txBody>
      </p:sp>
      <p:sp>
        <p:nvSpPr>
          <p:cNvPr id="5" name="TextBox 4"/>
          <p:cNvSpPr txBox="1"/>
          <p:nvPr/>
        </p:nvSpPr>
        <p:spPr>
          <a:xfrm>
            <a:off x="521207" y="1261872"/>
            <a:ext cx="10972800" cy="393192"/>
          </a:xfrm>
          <a:prstGeom prst="rect">
            <a:avLst/>
          </a:prstGeom>
          <a:noFill/>
        </p:spPr>
        <p:txBody>
          <a:bodyPr wrap="square" lIns="0" tIns="0" rIns="0" bIns="0" anchor="t">
            <a:spAutoFit/>
          </a:bodyPr>
          <a:lstStyle/>
          <a:p>
            <a:pPr>
              <a:spcAft>
                <a:spcPts val="300"/>
              </a:spcAft>
              <a:defRPr sz="1250" b="0">
                <a:solidFill>
                  <a:srgbClr val="58697B"/>
                </a:solidFill>
                <a:latin typeface="Aptos"/>
              </a:defRPr>
            </a:pPr>
            <a:r>
              <a:t>The upstream system turns language or images into assets, rooms and task layouts.</a:t>
            </a:r>
          </a:p>
        </p:txBody>
      </p:sp>
      <p:sp>
        <p:nvSpPr>
          <p:cNvPr id="6" name="Rectangle 5"/>
          <p:cNvSpPr/>
          <p:nvPr/>
        </p:nvSpPr>
        <p:spPr>
          <a:xfrm>
            <a:off x="502920" y="6473952"/>
            <a:ext cx="11183112" cy="10972"/>
          </a:xfrm>
          <a:prstGeom prst="rect">
            <a:avLst/>
          </a:prstGeom>
          <a:solidFill>
            <a:srgbClr val="DB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064" y="6519672"/>
            <a:ext cx="7315200" cy="164592"/>
          </a:xfrm>
          <a:prstGeom prst="rect">
            <a:avLst/>
          </a:prstGeom>
          <a:noFill/>
        </p:spPr>
        <p:txBody>
          <a:bodyPr wrap="square" lIns="0" tIns="0" rIns="0" bIns="0" anchor="t">
            <a:spAutoFit/>
          </a:bodyPr>
          <a:lstStyle/>
          <a:p>
            <a:pPr>
              <a:spcAft>
                <a:spcPts val="300"/>
              </a:spcAft>
              <a:defRPr sz="850" b="0">
                <a:solidFill>
                  <a:srgbClr val="58697B"/>
                </a:solidFill>
                <a:latin typeface="Aptos"/>
              </a:defRPr>
            </a:pPr>
            <a:r>
              <a:t>ZenoBench  ·  CMU Agentic Library</a:t>
            </a:r>
          </a:p>
        </p:txBody>
      </p:sp>
      <p:sp>
        <p:nvSpPr>
          <p:cNvPr id="8" name="TextBox 7"/>
          <p:cNvSpPr txBox="1"/>
          <p:nvPr/>
        </p:nvSpPr>
        <p:spPr>
          <a:xfrm>
            <a:off x="11100816" y="6510528"/>
            <a:ext cx="566928" cy="182880"/>
          </a:xfrm>
          <a:prstGeom prst="rect">
            <a:avLst/>
          </a:prstGeom>
          <a:noFill/>
        </p:spPr>
        <p:txBody>
          <a:bodyPr wrap="square" lIns="0" tIns="0" rIns="0" bIns="0" anchor="t">
            <a:spAutoFit/>
          </a:bodyPr>
          <a:lstStyle/>
          <a:p>
            <a:pPr algn="r">
              <a:spcAft>
                <a:spcPts val="300"/>
              </a:spcAft>
              <a:defRPr sz="850" b="0">
                <a:solidFill>
                  <a:srgbClr val="58697B"/>
                </a:solidFill>
                <a:latin typeface="Aptos"/>
              </a:defRPr>
            </a:pPr>
            <a:r>
              <a:t>02 / 12</a:t>
            </a:r>
          </a:p>
        </p:txBody>
      </p:sp>
      <p:sp>
        <p:nvSpPr>
          <p:cNvPr id="9" name="Rounded Rectangle 8"/>
          <p:cNvSpPr/>
          <p:nvPr/>
        </p:nvSpPr>
        <p:spPr>
          <a:xfrm>
            <a:off x="594360" y="1911095"/>
            <a:ext cx="3410712" cy="2276856"/>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 y="1911095"/>
            <a:ext cx="3410712" cy="11887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276856"/>
            <a:ext cx="2999232" cy="429768"/>
          </a:xfrm>
          <a:prstGeom prst="rect">
            <a:avLst/>
          </a:prstGeom>
          <a:noFill/>
        </p:spPr>
        <p:txBody>
          <a:bodyPr wrap="square" lIns="0" tIns="0" rIns="0" bIns="0" anchor="t">
            <a:spAutoFit/>
          </a:bodyPr>
          <a:lstStyle/>
          <a:p>
            <a:pPr>
              <a:spcAft>
                <a:spcPts val="300"/>
              </a:spcAft>
              <a:defRPr sz="2300" b="1">
                <a:solidFill>
                  <a:srgbClr val="19283D"/>
                </a:solidFill>
                <a:latin typeface="Aptos"/>
              </a:defRPr>
            </a:pPr>
            <a:r>
              <a:t>Assets</a:t>
            </a:r>
          </a:p>
        </p:txBody>
      </p:sp>
      <p:sp>
        <p:nvSpPr>
          <p:cNvPr id="12" name="TextBox 11"/>
          <p:cNvSpPr txBox="1"/>
          <p:nvPr/>
        </p:nvSpPr>
        <p:spPr>
          <a:xfrm>
            <a:off x="795528" y="2898648"/>
            <a:ext cx="2990088" cy="941832"/>
          </a:xfrm>
          <a:prstGeom prst="rect">
            <a:avLst/>
          </a:prstGeom>
          <a:noFill/>
        </p:spPr>
        <p:txBody>
          <a:bodyPr wrap="square" lIns="0" tIns="0" rIns="0" bIns="0" anchor="t">
            <a:spAutoFit/>
          </a:bodyPr>
          <a:lstStyle/>
          <a:p>
            <a:pPr>
              <a:spcAft>
                <a:spcPts val="300"/>
              </a:spcAft>
              <a:defRPr sz="1500" b="0">
                <a:solidFill>
                  <a:srgbClr val="58697B"/>
                </a:solidFill>
                <a:latin typeface="Aptos"/>
              </a:defRPr>
            </a:pPr>
            <a:r>
              <a:t>3D objects with geometry, appearance and physical properties</a:t>
            </a:r>
          </a:p>
        </p:txBody>
      </p:sp>
      <p:sp>
        <p:nvSpPr>
          <p:cNvPr id="13" name="TextBox 12"/>
          <p:cNvSpPr txBox="1"/>
          <p:nvPr/>
        </p:nvSpPr>
        <p:spPr>
          <a:xfrm>
            <a:off x="4050791" y="2807208"/>
            <a:ext cx="256032" cy="356616"/>
          </a:xfrm>
          <a:prstGeom prst="rect">
            <a:avLst/>
          </a:prstGeom>
          <a:noFill/>
        </p:spPr>
        <p:txBody>
          <a:bodyPr wrap="square" lIns="0" tIns="0" rIns="0" bIns="0" anchor="t">
            <a:spAutoFit/>
          </a:bodyPr>
          <a:lstStyle/>
          <a:p>
            <a:pPr>
              <a:spcAft>
                <a:spcPts val="300"/>
              </a:spcAft>
              <a:defRPr sz="2400" b="1">
                <a:solidFill>
                  <a:srgbClr val="2468BC"/>
                </a:solidFill>
                <a:latin typeface="Aptos"/>
              </a:defRPr>
            </a:pPr>
            <a:r>
              <a:t>→</a:t>
            </a:r>
          </a:p>
        </p:txBody>
      </p:sp>
      <p:sp>
        <p:nvSpPr>
          <p:cNvPr id="14" name="Rounded Rectangle 13"/>
          <p:cNvSpPr/>
          <p:nvPr/>
        </p:nvSpPr>
        <p:spPr>
          <a:xfrm>
            <a:off x="4425696" y="1911095"/>
            <a:ext cx="3410712" cy="2276856"/>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1911095"/>
            <a:ext cx="3410712" cy="118872"/>
          </a:xfrm>
          <a:prstGeom prst="rect">
            <a:avLst/>
          </a:prstGeom>
          <a:solidFill>
            <a:srgbClr val="246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2276856"/>
            <a:ext cx="2999232" cy="429768"/>
          </a:xfrm>
          <a:prstGeom prst="rect">
            <a:avLst/>
          </a:prstGeom>
          <a:noFill/>
        </p:spPr>
        <p:txBody>
          <a:bodyPr wrap="square" lIns="0" tIns="0" rIns="0" bIns="0" anchor="t">
            <a:spAutoFit/>
          </a:bodyPr>
          <a:lstStyle/>
          <a:p>
            <a:pPr>
              <a:spcAft>
                <a:spcPts val="300"/>
              </a:spcAft>
              <a:defRPr sz="2300" b="1">
                <a:solidFill>
                  <a:srgbClr val="19283D"/>
                </a:solidFill>
                <a:latin typeface="Aptos"/>
              </a:defRPr>
            </a:pPr>
            <a:r>
              <a:t>Scenes</a:t>
            </a:r>
          </a:p>
        </p:txBody>
      </p:sp>
      <p:sp>
        <p:nvSpPr>
          <p:cNvPr id="17" name="TextBox 16"/>
          <p:cNvSpPr txBox="1"/>
          <p:nvPr/>
        </p:nvSpPr>
        <p:spPr>
          <a:xfrm>
            <a:off x="4626864" y="2898648"/>
            <a:ext cx="2990088" cy="941832"/>
          </a:xfrm>
          <a:prstGeom prst="rect">
            <a:avLst/>
          </a:prstGeom>
          <a:noFill/>
        </p:spPr>
        <p:txBody>
          <a:bodyPr wrap="square" lIns="0" tIns="0" rIns="0" bIns="0" anchor="t">
            <a:spAutoFit/>
          </a:bodyPr>
          <a:lstStyle/>
          <a:p>
            <a:pPr>
              <a:spcAft>
                <a:spcPts val="300"/>
              </a:spcAft>
              <a:defRPr sz="1500" b="0">
                <a:solidFill>
                  <a:srgbClr val="58697B"/>
                </a:solidFill>
                <a:latin typeface="Aptos"/>
              </a:defRPr>
            </a:pPr>
            <a:r>
              <a:t>Navigable multi-room environments</a:t>
            </a:r>
          </a:p>
        </p:txBody>
      </p:sp>
      <p:sp>
        <p:nvSpPr>
          <p:cNvPr id="18" name="TextBox 17"/>
          <p:cNvSpPr txBox="1"/>
          <p:nvPr/>
        </p:nvSpPr>
        <p:spPr>
          <a:xfrm>
            <a:off x="7882128" y="2807208"/>
            <a:ext cx="256032" cy="356616"/>
          </a:xfrm>
          <a:prstGeom prst="rect">
            <a:avLst/>
          </a:prstGeom>
          <a:noFill/>
        </p:spPr>
        <p:txBody>
          <a:bodyPr wrap="square" lIns="0" tIns="0" rIns="0" bIns="0" anchor="t">
            <a:spAutoFit/>
          </a:bodyPr>
          <a:lstStyle/>
          <a:p>
            <a:pPr>
              <a:spcAft>
                <a:spcPts val="300"/>
              </a:spcAft>
              <a:defRPr sz="2400" b="1">
                <a:solidFill>
                  <a:srgbClr val="2468BC"/>
                </a:solidFill>
                <a:latin typeface="Aptos"/>
              </a:defRPr>
            </a:pPr>
            <a:r>
              <a:t>→</a:t>
            </a:r>
          </a:p>
        </p:txBody>
      </p:sp>
      <p:sp>
        <p:nvSpPr>
          <p:cNvPr id="19" name="Rounded Rectangle 18"/>
          <p:cNvSpPr/>
          <p:nvPr/>
        </p:nvSpPr>
        <p:spPr>
          <a:xfrm>
            <a:off x="8257032" y="1911095"/>
            <a:ext cx="3410712" cy="2276856"/>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7032" y="1911095"/>
            <a:ext cx="3410712" cy="118872"/>
          </a:xfrm>
          <a:prstGeom prst="rect">
            <a:avLst/>
          </a:prstGeom>
          <a:solidFill>
            <a:srgbClr val="EFA3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58200" y="2276856"/>
            <a:ext cx="2999232" cy="429768"/>
          </a:xfrm>
          <a:prstGeom prst="rect">
            <a:avLst/>
          </a:prstGeom>
          <a:noFill/>
        </p:spPr>
        <p:txBody>
          <a:bodyPr wrap="square" lIns="0" tIns="0" rIns="0" bIns="0" anchor="t">
            <a:spAutoFit/>
          </a:bodyPr>
          <a:lstStyle/>
          <a:p>
            <a:pPr>
              <a:spcAft>
                <a:spcPts val="300"/>
              </a:spcAft>
              <a:defRPr sz="2300" b="1">
                <a:solidFill>
                  <a:srgbClr val="19283D"/>
                </a:solidFill>
                <a:latin typeface="Aptos"/>
              </a:defRPr>
            </a:pPr>
            <a:r>
              <a:t>Task worlds</a:t>
            </a:r>
          </a:p>
        </p:txBody>
      </p:sp>
      <p:sp>
        <p:nvSpPr>
          <p:cNvPr id="22" name="TextBox 21"/>
          <p:cNvSpPr txBox="1"/>
          <p:nvPr/>
        </p:nvSpPr>
        <p:spPr>
          <a:xfrm>
            <a:off x="8458200" y="2898648"/>
            <a:ext cx="2990088" cy="941832"/>
          </a:xfrm>
          <a:prstGeom prst="rect">
            <a:avLst/>
          </a:prstGeom>
          <a:noFill/>
        </p:spPr>
        <p:txBody>
          <a:bodyPr wrap="square" lIns="0" tIns="0" rIns="0" bIns="0" anchor="t">
            <a:spAutoFit/>
          </a:bodyPr>
          <a:lstStyle/>
          <a:p>
            <a:pPr>
              <a:spcAft>
                <a:spcPts val="300"/>
              </a:spcAft>
              <a:defRPr sz="1500" b="0">
                <a:solidFill>
                  <a:srgbClr val="58697B"/>
                </a:solidFill>
                <a:latin typeface="Aptos"/>
              </a:defRPr>
            </a:pPr>
            <a:r>
              <a:t>Objects arranged for interactive robot tasks</a:t>
            </a:r>
          </a:p>
        </p:txBody>
      </p:sp>
      <p:sp>
        <p:nvSpPr>
          <p:cNvPr id="23" name="Rounded Rectangle 22"/>
          <p:cNvSpPr/>
          <p:nvPr/>
        </p:nvSpPr>
        <p:spPr>
          <a:xfrm>
            <a:off x="594360" y="4681728"/>
            <a:ext cx="11036808" cy="758952"/>
          </a:xfrm>
          <a:prstGeom prst="roundRect">
            <a:avLst/>
          </a:prstGeom>
          <a:solidFill>
            <a:srgbClr val="E5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 y="4882896"/>
            <a:ext cx="10597896" cy="365760"/>
          </a:xfrm>
          <a:prstGeom prst="rect">
            <a:avLst/>
          </a:prstGeom>
          <a:noFill/>
        </p:spPr>
        <p:txBody>
          <a:bodyPr wrap="square" lIns="0" tIns="0" rIns="0" bIns="0" anchor="t">
            <a:spAutoFit/>
          </a:bodyPr>
          <a:lstStyle/>
          <a:p>
            <a:pPr>
              <a:spcAft>
                <a:spcPts val="300"/>
              </a:spcAft>
              <a:defRPr sz="1700" b="1">
                <a:solidFill>
                  <a:srgbClr val="101F34"/>
                </a:solidFill>
                <a:latin typeface="Aptos"/>
              </a:defRPr>
            </a:pPr>
            <a:r>
              <a:t>ZenoBench uses these generated objects in a reusable house and turns them into runnable, measurable tasks.</a:t>
            </a:r>
          </a:p>
        </p:txBody>
      </p:sp>
      <p:sp>
        <p:nvSpPr>
          <p:cNvPr id="25" name="TextBox 24"/>
          <p:cNvSpPr txBox="1"/>
          <p:nvPr/>
        </p:nvSpPr>
        <p:spPr>
          <a:xfrm>
            <a:off x="621792" y="5879592"/>
            <a:ext cx="10469880" cy="201168"/>
          </a:xfrm>
          <a:prstGeom prst="rect">
            <a:avLst/>
          </a:prstGeom>
          <a:noFill/>
        </p:spPr>
        <p:txBody>
          <a:bodyPr wrap="square" lIns="0" tIns="0" rIns="0" bIns="0" anchor="t">
            <a:spAutoFit/>
          </a:bodyPr>
          <a:lstStyle/>
          <a:p>
            <a:pPr>
              <a:spcAft>
                <a:spcPts val="300"/>
              </a:spcAft>
              <a:defRPr sz="1000" b="0">
                <a:solidFill>
                  <a:srgbClr val="58697B"/>
                </a:solidFill>
                <a:latin typeface="Aptos"/>
              </a:defRPr>
            </a:pPr>
            <a:r>
              <a:t>Source: HorizonRobotics / EmbodiedGen V2 README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210312"/>
          </a:xfrm>
          <a:prstGeom prst="rect">
            <a:avLst/>
          </a:prstGeom>
          <a:noFill/>
        </p:spPr>
        <p:txBody>
          <a:bodyPr wrap="square" lIns="0" tIns="0" rIns="0" bIns="0" anchor="t">
            <a:spAutoFit/>
          </a:bodyPr>
          <a:lstStyle/>
          <a:p>
            <a:pPr>
              <a:spcAft>
                <a:spcPts val="300"/>
              </a:spcAft>
              <a:defRPr sz="1000" b="1">
                <a:solidFill>
                  <a:srgbClr val="008F93"/>
                </a:solidFill>
                <a:latin typeface="Aptos"/>
              </a:defRPr>
            </a:pPr>
            <a:r>
              <a:t>WHAT I BUILT</a:t>
            </a:r>
          </a:p>
        </p:txBody>
      </p:sp>
      <p:sp>
        <p:nvSpPr>
          <p:cNvPr id="4" name="TextBox 3"/>
          <p:cNvSpPr txBox="1"/>
          <p:nvPr/>
        </p:nvSpPr>
        <p:spPr>
          <a:xfrm>
            <a:off x="502920" y="585216"/>
            <a:ext cx="11018520" cy="685800"/>
          </a:xfrm>
          <a:prstGeom prst="rect">
            <a:avLst/>
          </a:prstGeom>
          <a:noFill/>
        </p:spPr>
        <p:txBody>
          <a:bodyPr wrap="square" lIns="0" tIns="0" rIns="0" bIns="0" anchor="t">
            <a:spAutoFit/>
          </a:bodyPr>
          <a:lstStyle/>
          <a:p>
            <a:pPr>
              <a:spcAft>
                <a:spcPts val="300"/>
              </a:spcAft>
              <a:defRPr sz="2800" b="1">
                <a:solidFill>
                  <a:srgbClr val="19283D"/>
                </a:solidFill>
                <a:latin typeface="Aptos"/>
              </a:defRPr>
            </a:pPr>
            <a:r>
              <a:t>ZenoBench at a glance</a:t>
            </a:r>
          </a:p>
        </p:txBody>
      </p:sp>
      <p:sp>
        <p:nvSpPr>
          <p:cNvPr id="5" name="TextBox 4"/>
          <p:cNvSpPr txBox="1"/>
          <p:nvPr/>
        </p:nvSpPr>
        <p:spPr>
          <a:xfrm>
            <a:off x="521207" y="1261872"/>
            <a:ext cx="10972800" cy="393192"/>
          </a:xfrm>
          <a:prstGeom prst="rect">
            <a:avLst/>
          </a:prstGeom>
          <a:noFill/>
        </p:spPr>
        <p:txBody>
          <a:bodyPr wrap="square" lIns="0" tIns="0" rIns="0" bIns="0" anchor="t">
            <a:spAutoFit/>
          </a:bodyPr>
          <a:lstStyle/>
          <a:p>
            <a:pPr>
              <a:spcAft>
                <a:spcPts val="300"/>
              </a:spcAft>
              <a:defRPr sz="1250" b="0">
                <a:solidFill>
                  <a:srgbClr val="58697B"/>
                </a:solidFill>
                <a:latin typeface="Aptos"/>
              </a:defRPr>
            </a:pPr>
            <a:r>
              <a:t>One reusable home, generated task objects, and a suite of executable household goals.</a:t>
            </a:r>
          </a:p>
        </p:txBody>
      </p:sp>
      <p:sp>
        <p:nvSpPr>
          <p:cNvPr id="6" name="Rectangle 5"/>
          <p:cNvSpPr/>
          <p:nvPr/>
        </p:nvSpPr>
        <p:spPr>
          <a:xfrm>
            <a:off x="502920" y="6473952"/>
            <a:ext cx="11183112" cy="10972"/>
          </a:xfrm>
          <a:prstGeom prst="rect">
            <a:avLst/>
          </a:prstGeom>
          <a:solidFill>
            <a:srgbClr val="DB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064" y="6519672"/>
            <a:ext cx="7315200" cy="164592"/>
          </a:xfrm>
          <a:prstGeom prst="rect">
            <a:avLst/>
          </a:prstGeom>
          <a:noFill/>
        </p:spPr>
        <p:txBody>
          <a:bodyPr wrap="square" lIns="0" tIns="0" rIns="0" bIns="0" anchor="t">
            <a:spAutoFit/>
          </a:bodyPr>
          <a:lstStyle/>
          <a:p>
            <a:pPr>
              <a:spcAft>
                <a:spcPts val="300"/>
              </a:spcAft>
              <a:defRPr sz="850" b="0">
                <a:solidFill>
                  <a:srgbClr val="58697B"/>
                </a:solidFill>
                <a:latin typeface="Aptos"/>
              </a:defRPr>
            </a:pPr>
            <a:r>
              <a:t>ZenoBench  ·  CMU Agentic Library</a:t>
            </a:r>
          </a:p>
        </p:txBody>
      </p:sp>
      <p:sp>
        <p:nvSpPr>
          <p:cNvPr id="8" name="TextBox 7"/>
          <p:cNvSpPr txBox="1"/>
          <p:nvPr/>
        </p:nvSpPr>
        <p:spPr>
          <a:xfrm>
            <a:off x="11100816" y="6510528"/>
            <a:ext cx="566928" cy="182880"/>
          </a:xfrm>
          <a:prstGeom prst="rect">
            <a:avLst/>
          </a:prstGeom>
          <a:noFill/>
        </p:spPr>
        <p:txBody>
          <a:bodyPr wrap="square" lIns="0" tIns="0" rIns="0" bIns="0" anchor="t">
            <a:spAutoFit/>
          </a:bodyPr>
          <a:lstStyle/>
          <a:p>
            <a:pPr algn="r">
              <a:spcAft>
                <a:spcPts val="300"/>
              </a:spcAft>
              <a:defRPr sz="850" b="0">
                <a:solidFill>
                  <a:srgbClr val="58697B"/>
                </a:solidFill>
                <a:latin typeface="Aptos"/>
              </a:defRPr>
            </a:pPr>
            <a:r>
              <a:t>03 / 12</a:t>
            </a:r>
          </a:p>
        </p:txBody>
      </p:sp>
      <p:sp>
        <p:nvSpPr>
          <p:cNvPr id="9" name="Rounded Rectangle 8"/>
          <p:cNvSpPr/>
          <p:nvPr/>
        </p:nvSpPr>
        <p:spPr>
          <a:xfrm>
            <a:off x="557784" y="1773936"/>
            <a:ext cx="3465576" cy="408736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ssets_gallery.jpg"/>
          <p:cNvPicPr>
            <a:picLocks noChangeAspect="1"/>
          </p:cNvPicPr>
          <p:nvPr/>
        </p:nvPicPr>
        <p:blipFill>
          <a:blip r:embed="rId1"/>
          <a:stretch>
            <a:fillRect/>
          </a:stretch>
        </p:blipFill>
        <p:spPr>
          <a:xfrm>
            <a:off x="726947" y="1865376"/>
            <a:ext cx="3127248" cy="2084831"/>
          </a:xfrm>
          <a:prstGeom prst="rect">
            <a:avLst/>
          </a:prstGeom>
        </p:spPr>
      </p:pic>
      <p:sp>
        <p:nvSpPr>
          <p:cNvPr id="11" name="Rectangle 10"/>
          <p:cNvSpPr/>
          <p:nvPr/>
        </p:nvSpPr>
        <p:spPr>
          <a:xfrm>
            <a:off x="649224" y="4023360"/>
            <a:ext cx="3282696" cy="7315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325112"/>
            <a:ext cx="3054096" cy="393192"/>
          </a:xfrm>
          <a:prstGeom prst="rect">
            <a:avLst/>
          </a:prstGeom>
          <a:noFill/>
        </p:spPr>
        <p:txBody>
          <a:bodyPr wrap="square" lIns="0" tIns="0" rIns="0" bIns="0" anchor="t">
            <a:spAutoFit/>
          </a:bodyPr>
          <a:lstStyle/>
          <a:p>
            <a:pPr>
              <a:spcAft>
                <a:spcPts val="300"/>
              </a:spcAft>
              <a:defRPr sz="2000" b="1">
                <a:solidFill>
                  <a:srgbClr val="19283D"/>
                </a:solidFill>
                <a:latin typeface="Aptos"/>
              </a:defRPr>
            </a:pPr>
            <a:r>
              <a:t>Assets</a:t>
            </a:r>
          </a:p>
        </p:txBody>
      </p:sp>
      <p:sp>
        <p:nvSpPr>
          <p:cNvPr id="13" name="TextBox 12"/>
          <p:cNvSpPr txBox="1"/>
          <p:nvPr/>
        </p:nvSpPr>
        <p:spPr>
          <a:xfrm>
            <a:off x="758952" y="4828032"/>
            <a:ext cx="3026664" cy="740664"/>
          </a:xfrm>
          <a:prstGeom prst="rect">
            <a:avLst/>
          </a:prstGeom>
          <a:noFill/>
        </p:spPr>
        <p:txBody>
          <a:bodyPr wrap="square" lIns="0" tIns="0" rIns="0" bIns="0" anchor="t">
            <a:spAutoFit/>
          </a:bodyPr>
          <a:lstStyle/>
          <a:p>
            <a:pPr>
              <a:spcAft>
                <a:spcPts val="300"/>
              </a:spcAft>
              <a:defRPr sz="1360" b="0">
                <a:solidFill>
                  <a:srgbClr val="58697B"/>
                </a:solidFill>
                <a:latin typeface="Aptos"/>
              </a:defRPr>
            </a:pPr>
            <a:r>
              <a:t>EmbodiedGen V2 task objects prepared for physical interaction</a:t>
            </a:r>
          </a:p>
        </p:txBody>
      </p:sp>
      <p:sp>
        <p:nvSpPr>
          <p:cNvPr id="14" name="Rounded Rectangle 13"/>
          <p:cNvSpPr/>
          <p:nvPr/>
        </p:nvSpPr>
        <p:spPr>
          <a:xfrm>
            <a:off x="4389120" y="1773936"/>
            <a:ext cx="3465576" cy="408736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house_topdown.jpg"/>
          <p:cNvPicPr>
            <a:picLocks noChangeAspect="1"/>
          </p:cNvPicPr>
          <p:nvPr/>
        </p:nvPicPr>
        <p:blipFill>
          <a:blip r:embed="rId2"/>
          <a:srcRect l="5715" r="5715"/>
          <a:stretch>
            <a:fillRect/>
          </a:stretch>
        </p:blipFill>
        <p:spPr>
          <a:xfrm>
            <a:off x="4480560" y="1865376"/>
            <a:ext cx="3282696" cy="2084831"/>
          </a:xfrm>
          <a:prstGeom prst="rect">
            <a:avLst/>
          </a:prstGeom>
        </p:spPr>
      </p:pic>
      <p:sp>
        <p:nvSpPr>
          <p:cNvPr id="16" name="Rectangle 15"/>
          <p:cNvSpPr/>
          <p:nvPr/>
        </p:nvSpPr>
        <p:spPr>
          <a:xfrm>
            <a:off x="4480560" y="4023360"/>
            <a:ext cx="3282696" cy="73152"/>
          </a:xfrm>
          <a:prstGeom prst="rect">
            <a:avLst/>
          </a:prstGeom>
          <a:solidFill>
            <a:srgbClr val="246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4325112"/>
            <a:ext cx="3054096" cy="393192"/>
          </a:xfrm>
          <a:prstGeom prst="rect">
            <a:avLst/>
          </a:prstGeom>
          <a:noFill/>
        </p:spPr>
        <p:txBody>
          <a:bodyPr wrap="square" lIns="0" tIns="0" rIns="0" bIns="0" anchor="t">
            <a:spAutoFit/>
          </a:bodyPr>
          <a:lstStyle/>
          <a:p>
            <a:pPr>
              <a:spcAft>
                <a:spcPts val="300"/>
              </a:spcAft>
              <a:defRPr sz="2000" b="1">
                <a:solidFill>
                  <a:srgbClr val="19283D"/>
                </a:solidFill>
                <a:latin typeface="Aptos"/>
              </a:defRPr>
            </a:pPr>
            <a:r>
              <a:t>Rooms</a:t>
            </a:r>
          </a:p>
        </p:txBody>
      </p:sp>
      <p:sp>
        <p:nvSpPr>
          <p:cNvPr id="18" name="TextBox 17"/>
          <p:cNvSpPr txBox="1"/>
          <p:nvPr/>
        </p:nvSpPr>
        <p:spPr>
          <a:xfrm>
            <a:off x="4590288" y="4828032"/>
            <a:ext cx="3026664" cy="740664"/>
          </a:xfrm>
          <a:prstGeom prst="rect">
            <a:avLst/>
          </a:prstGeom>
          <a:noFill/>
        </p:spPr>
        <p:txBody>
          <a:bodyPr wrap="square" lIns="0" tIns="0" rIns="0" bIns="0" anchor="t">
            <a:spAutoFit/>
          </a:bodyPr>
          <a:lstStyle/>
          <a:p>
            <a:pPr>
              <a:spcAft>
                <a:spcPts val="300"/>
              </a:spcAft>
              <a:defRPr sz="1360" b="0">
                <a:solidFill>
                  <a:srgbClr val="58697B"/>
                </a:solidFill>
                <a:latin typeface="Aptos"/>
              </a:defRPr>
            </a:pPr>
            <a:r>
              <a:t>10-room Infinigen house with furniture and articulated storage</a:t>
            </a:r>
          </a:p>
        </p:txBody>
      </p:sp>
      <p:sp>
        <p:nvSpPr>
          <p:cNvPr id="19" name="Rounded Rectangle 18"/>
          <p:cNvSpPr/>
          <p:nvPr/>
        </p:nvSpPr>
        <p:spPr>
          <a:xfrm>
            <a:off x="8220456" y="1773936"/>
            <a:ext cx="3465576" cy="408736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heat_table.jpg"/>
          <p:cNvPicPr>
            <a:picLocks noChangeAspect="1"/>
          </p:cNvPicPr>
          <p:nvPr/>
        </p:nvPicPr>
        <p:blipFill>
          <a:blip r:embed="rId3"/>
          <a:srcRect l="5750" r="5750"/>
          <a:stretch>
            <a:fillRect/>
          </a:stretch>
        </p:blipFill>
        <p:spPr>
          <a:xfrm>
            <a:off x="8311896" y="1865376"/>
            <a:ext cx="3282696" cy="2084831"/>
          </a:xfrm>
          <a:prstGeom prst="rect">
            <a:avLst/>
          </a:prstGeom>
        </p:spPr>
      </p:pic>
      <p:sp>
        <p:nvSpPr>
          <p:cNvPr id="21" name="Rectangle 20"/>
          <p:cNvSpPr/>
          <p:nvPr/>
        </p:nvSpPr>
        <p:spPr>
          <a:xfrm>
            <a:off x="8311896" y="4023360"/>
            <a:ext cx="3282696" cy="73152"/>
          </a:xfrm>
          <a:prstGeom prst="rect">
            <a:avLst/>
          </a:prstGeom>
          <a:solidFill>
            <a:srgbClr val="EFA3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21624" y="4325112"/>
            <a:ext cx="3054096" cy="393192"/>
          </a:xfrm>
          <a:prstGeom prst="rect">
            <a:avLst/>
          </a:prstGeom>
          <a:noFill/>
        </p:spPr>
        <p:txBody>
          <a:bodyPr wrap="square" lIns="0" tIns="0" rIns="0" bIns="0" anchor="t">
            <a:spAutoFit/>
          </a:bodyPr>
          <a:lstStyle/>
          <a:p>
            <a:pPr>
              <a:spcAft>
                <a:spcPts val="300"/>
              </a:spcAft>
              <a:defRPr sz="2000" b="1">
                <a:solidFill>
                  <a:srgbClr val="19283D"/>
                </a:solidFill>
                <a:latin typeface="Aptos"/>
              </a:defRPr>
            </a:pPr>
            <a:r>
              <a:t>Tasks</a:t>
            </a:r>
          </a:p>
        </p:txBody>
      </p:sp>
      <p:sp>
        <p:nvSpPr>
          <p:cNvPr id="23" name="TextBox 22"/>
          <p:cNvSpPr txBox="1"/>
          <p:nvPr/>
        </p:nvSpPr>
        <p:spPr>
          <a:xfrm>
            <a:off x="8421624" y="4828032"/>
            <a:ext cx="3026664" cy="740664"/>
          </a:xfrm>
          <a:prstGeom prst="rect">
            <a:avLst/>
          </a:prstGeom>
          <a:noFill/>
        </p:spPr>
        <p:txBody>
          <a:bodyPr wrap="square" lIns="0" tIns="0" rIns="0" bIns="0" anchor="t">
            <a:spAutoFit/>
          </a:bodyPr>
          <a:lstStyle/>
          <a:p>
            <a:pPr>
              <a:spcAft>
                <a:spcPts val="300"/>
              </a:spcAft>
              <a:defRPr sz="1360" b="0">
                <a:solidFill>
                  <a:srgbClr val="58697B"/>
                </a:solidFill>
                <a:latin typeface="Aptos"/>
              </a:defRPr>
            </a:pPr>
            <a:r>
              <a:t>8 task definitions, each with a scene, goal and evaluation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210312"/>
          </a:xfrm>
          <a:prstGeom prst="rect">
            <a:avLst/>
          </a:prstGeom>
          <a:noFill/>
        </p:spPr>
        <p:txBody>
          <a:bodyPr wrap="square" lIns="0" tIns="0" rIns="0" bIns="0" anchor="t">
            <a:spAutoFit/>
          </a:bodyPr>
          <a:lstStyle/>
          <a:p>
            <a:pPr>
              <a:spcAft>
                <a:spcPts val="300"/>
              </a:spcAft>
              <a:defRPr sz="1000" b="1">
                <a:solidFill>
                  <a:srgbClr val="008F93"/>
                </a:solidFill>
                <a:latin typeface="Aptos"/>
              </a:defRPr>
            </a:pPr>
            <a:r>
              <a:t>CAPABILITIES</a:t>
            </a:r>
          </a:p>
        </p:txBody>
      </p:sp>
      <p:sp>
        <p:nvSpPr>
          <p:cNvPr id="4" name="TextBox 3"/>
          <p:cNvSpPr txBox="1"/>
          <p:nvPr/>
        </p:nvSpPr>
        <p:spPr>
          <a:xfrm>
            <a:off x="502920" y="585216"/>
            <a:ext cx="11018520" cy="685800"/>
          </a:xfrm>
          <a:prstGeom prst="rect">
            <a:avLst/>
          </a:prstGeom>
          <a:noFill/>
        </p:spPr>
        <p:txBody>
          <a:bodyPr wrap="square" lIns="0" tIns="0" rIns="0" bIns="0" anchor="t">
            <a:spAutoFit/>
          </a:bodyPr>
          <a:lstStyle/>
          <a:p>
            <a:pPr>
              <a:spcAft>
                <a:spcPts val="300"/>
              </a:spcAft>
              <a:defRPr sz="2800" b="1">
                <a:solidFill>
                  <a:srgbClr val="19283D"/>
                </a:solidFill>
                <a:latin typeface="Aptos"/>
              </a:defRPr>
            </a:pPr>
            <a:r>
              <a:t>What can the robot do here?</a:t>
            </a:r>
          </a:p>
        </p:txBody>
      </p:sp>
      <p:sp>
        <p:nvSpPr>
          <p:cNvPr id="5" name="TextBox 4"/>
          <p:cNvSpPr txBox="1"/>
          <p:nvPr/>
        </p:nvSpPr>
        <p:spPr>
          <a:xfrm>
            <a:off x="521207" y="1261872"/>
            <a:ext cx="10972800" cy="393192"/>
          </a:xfrm>
          <a:prstGeom prst="rect">
            <a:avLst/>
          </a:prstGeom>
          <a:noFill/>
        </p:spPr>
        <p:txBody>
          <a:bodyPr wrap="square" lIns="0" tIns="0" rIns="0" bIns="0" anchor="t">
            <a:spAutoFit/>
          </a:bodyPr>
          <a:lstStyle/>
          <a:p>
            <a:pPr>
              <a:spcAft>
                <a:spcPts val="300"/>
              </a:spcAft>
              <a:defRPr sz="1250" b="0">
                <a:solidFill>
                  <a:srgbClr val="58697B"/>
                </a:solidFill>
                <a:latin typeface="Aptos"/>
              </a:defRPr>
            </a:pPr>
            <a:r>
              <a:t>Zeno Malo can execute connected household actions in the same environment.</a:t>
            </a:r>
          </a:p>
        </p:txBody>
      </p:sp>
      <p:sp>
        <p:nvSpPr>
          <p:cNvPr id="6" name="Rectangle 5"/>
          <p:cNvSpPr/>
          <p:nvPr/>
        </p:nvSpPr>
        <p:spPr>
          <a:xfrm>
            <a:off x="502920" y="6473952"/>
            <a:ext cx="11183112" cy="10972"/>
          </a:xfrm>
          <a:prstGeom prst="rect">
            <a:avLst/>
          </a:prstGeom>
          <a:solidFill>
            <a:srgbClr val="DB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064" y="6519672"/>
            <a:ext cx="7315200" cy="164592"/>
          </a:xfrm>
          <a:prstGeom prst="rect">
            <a:avLst/>
          </a:prstGeom>
          <a:noFill/>
        </p:spPr>
        <p:txBody>
          <a:bodyPr wrap="square" lIns="0" tIns="0" rIns="0" bIns="0" anchor="t">
            <a:spAutoFit/>
          </a:bodyPr>
          <a:lstStyle/>
          <a:p>
            <a:pPr>
              <a:spcAft>
                <a:spcPts val="300"/>
              </a:spcAft>
              <a:defRPr sz="850" b="0">
                <a:solidFill>
                  <a:srgbClr val="58697B"/>
                </a:solidFill>
                <a:latin typeface="Aptos"/>
              </a:defRPr>
            </a:pPr>
            <a:r>
              <a:t>ZenoBench  ·  CMU Agentic Library</a:t>
            </a:r>
          </a:p>
        </p:txBody>
      </p:sp>
      <p:sp>
        <p:nvSpPr>
          <p:cNvPr id="8" name="TextBox 7"/>
          <p:cNvSpPr txBox="1"/>
          <p:nvPr/>
        </p:nvSpPr>
        <p:spPr>
          <a:xfrm>
            <a:off x="11100816" y="6510528"/>
            <a:ext cx="566928" cy="182880"/>
          </a:xfrm>
          <a:prstGeom prst="rect">
            <a:avLst/>
          </a:prstGeom>
          <a:noFill/>
        </p:spPr>
        <p:txBody>
          <a:bodyPr wrap="square" lIns="0" tIns="0" rIns="0" bIns="0" anchor="t">
            <a:spAutoFit/>
          </a:bodyPr>
          <a:lstStyle/>
          <a:p>
            <a:pPr algn="r">
              <a:spcAft>
                <a:spcPts val="300"/>
              </a:spcAft>
              <a:defRPr sz="850" b="0">
                <a:solidFill>
                  <a:srgbClr val="58697B"/>
                </a:solidFill>
                <a:latin typeface="Aptos"/>
              </a:defRPr>
            </a:pPr>
            <a:r>
              <a:t>04 / 12</a:t>
            </a:r>
          </a:p>
        </p:txBody>
      </p:sp>
      <p:sp>
        <p:nvSpPr>
          <p:cNvPr id="9" name="Rounded Rectangle 8"/>
          <p:cNvSpPr/>
          <p:nvPr/>
        </p:nvSpPr>
        <p:spPr>
          <a:xfrm>
            <a:off x="557784" y="1801368"/>
            <a:ext cx="5431536" cy="1874519"/>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ouse_topdown.jpg"/>
          <p:cNvPicPr>
            <a:picLocks noChangeAspect="1"/>
          </p:cNvPicPr>
          <p:nvPr/>
        </p:nvPicPr>
        <p:blipFill>
          <a:blip r:embed="rId1"/>
          <a:srcRect l="14806" r="14806"/>
          <a:stretch>
            <a:fillRect/>
          </a:stretch>
        </p:blipFill>
        <p:spPr>
          <a:xfrm>
            <a:off x="640080" y="1883664"/>
            <a:ext cx="2139696" cy="1709928"/>
          </a:xfrm>
          <a:prstGeom prst="rect">
            <a:avLst/>
          </a:prstGeom>
        </p:spPr>
      </p:pic>
      <p:sp>
        <p:nvSpPr>
          <p:cNvPr id="11" name="Rectangle 10"/>
          <p:cNvSpPr/>
          <p:nvPr/>
        </p:nvSpPr>
        <p:spPr>
          <a:xfrm>
            <a:off x="2889503" y="2084831"/>
            <a:ext cx="64008" cy="1335024"/>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18103" y="2066543"/>
            <a:ext cx="2651760" cy="365760"/>
          </a:xfrm>
          <a:prstGeom prst="rect">
            <a:avLst/>
          </a:prstGeom>
          <a:noFill/>
        </p:spPr>
        <p:txBody>
          <a:bodyPr wrap="square" lIns="0" tIns="0" rIns="0" bIns="0" anchor="t">
            <a:spAutoFit/>
          </a:bodyPr>
          <a:lstStyle/>
          <a:p>
            <a:pPr>
              <a:spcAft>
                <a:spcPts val="300"/>
              </a:spcAft>
              <a:defRPr sz="1820" b="1">
                <a:solidFill>
                  <a:srgbClr val="19283D"/>
                </a:solidFill>
                <a:latin typeface="Aptos"/>
              </a:defRPr>
            </a:pPr>
            <a:r>
              <a:t>Move</a:t>
            </a:r>
          </a:p>
        </p:txBody>
      </p:sp>
      <p:sp>
        <p:nvSpPr>
          <p:cNvPr id="13" name="TextBox 12"/>
          <p:cNvSpPr txBox="1"/>
          <p:nvPr/>
        </p:nvSpPr>
        <p:spPr>
          <a:xfrm>
            <a:off x="3118103" y="2542032"/>
            <a:ext cx="2660904" cy="868680"/>
          </a:xfrm>
          <a:prstGeom prst="rect">
            <a:avLst/>
          </a:prstGeom>
          <a:noFill/>
        </p:spPr>
        <p:txBody>
          <a:bodyPr wrap="square" lIns="0" tIns="0" rIns="0" bIns="0" anchor="t">
            <a:spAutoFit/>
          </a:bodyPr>
          <a:lstStyle/>
          <a:p>
            <a:pPr>
              <a:spcAft>
                <a:spcPts val="300"/>
              </a:spcAft>
              <a:defRPr sz="1270" b="0">
                <a:solidFill>
                  <a:srgbClr val="58697B"/>
                </a:solidFill>
                <a:latin typeface="Aptos"/>
              </a:defRPr>
            </a:pPr>
            <a:r>
              <a:t>Travel between rooms and approach workspaces</a:t>
            </a:r>
          </a:p>
        </p:txBody>
      </p:sp>
      <p:sp>
        <p:nvSpPr>
          <p:cNvPr id="14" name="Rounded Rectangle 13"/>
          <p:cNvSpPr/>
          <p:nvPr/>
        </p:nvSpPr>
        <p:spPr>
          <a:xfrm>
            <a:off x="6291072" y="1801368"/>
            <a:ext cx="5431536" cy="1874519"/>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ollect_fruits.jpg"/>
          <p:cNvPicPr>
            <a:picLocks noChangeAspect="1"/>
          </p:cNvPicPr>
          <p:nvPr/>
        </p:nvPicPr>
        <p:blipFill>
          <a:blip r:embed="rId2"/>
          <a:srcRect l="14834" r="14834"/>
          <a:stretch>
            <a:fillRect/>
          </a:stretch>
        </p:blipFill>
        <p:spPr>
          <a:xfrm>
            <a:off x="6373368" y="1883664"/>
            <a:ext cx="2139696" cy="1709928"/>
          </a:xfrm>
          <a:prstGeom prst="rect">
            <a:avLst/>
          </a:prstGeom>
        </p:spPr>
      </p:pic>
      <p:sp>
        <p:nvSpPr>
          <p:cNvPr id="16" name="Rectangle 15"/>
          <p:cNvSpPr/>
          <p:nvPr/>
        </p:nvSpPr>
        <p:spPr>
          <a:xfrm>
            <a:off x="8622792" y="2084831"/>
            <a:ext cx="64008" cy="1335024"/>
          </a:xfrm>
          <a:prstGeom prst="rect">
            <a:avLst/>
          </a:prstGeom>
          <a:solidFill>
            <a:srgbClr val="246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51392" y="2066543"/>
            <a:ext cx="2651760" cy="365760"/>
          </a:xfrm>
          <a:prstGeom prst="rect">
            <a:avLst/>
          </a:prstGeom>
          <a:noFill/>
        </p:spPr>
        <p:txBody>
          <a:bodyPr wrap="square" lIns="0" tIns="0" rIns="0" bIns="0" anchor="t">
            <a:spAutoFit/>
          </a:bodyPr>
          <a:lstStyle/>
          <a:p>
            <a:pPr>
              <a:spcAft>
                <a:spcPts val="300"/>
              </a:spcAft>
              <a:defRPr sz="1820" b="1">
                <a:solidFill>
                  <a:srgbClr val="19283D"/>
                </a:solidFill>
                <a:latin typeface="Aptos"/>
              </a:defRPr>
            </a:pPr>
            <a:r>
              <a:t>Handle objects</a:t>
            </a:r>
          </a:p>
        </p:txBody>
      </p:sp>
      <p:sp>
        <p:nvSpPr>
          <p:cNvPr id="18" name="TextBox 17"/>
          <p:cNvSpPr txBox="1"/>
          <p:nvPr/>
        </p:nvSpPr>
        <p:spPr>
          <a:xfrm>
            <a:off x="8851392" y="2542032"/>
            <a:ext cx="2660904" cy="868680"/>
          </a:xfrm>
          <a:prstGeom prst="rect">
            <a:avLst/>
          </a:prstGeom>
          <a:noFill/>
        </p:spPr>
        <p:txBody>
          <a:bodyPr wrap="square" lIns="0" tIns="0" rIns="0" bIns="0" anchor="t">
            <a:spAutoFit/>
          </a:bodyPr>
          <a:lstStyle/>
          <a:p>
            <a:pPr>
              <a:spcAft>
                <a:spcPts val="300"/>
              </a:spcAft>
              <a:defRPr sz="1270" b="0">
                <a:solidFill>
                  <a:srgbClr val="58697B"/>
                </a:solidFill>
                <a:latin typeface="Aptos"/>
              </a:defRPr>
            </a:pPr>
            <a:r>
              <a:t>Pick, carry, place and sort different object shapes</a:t>
            </a:r>
          </a:p>
        </p:txBody>
      </p:sp>
      <p:sp>
        <p:nvSpPr>
          <p:cNvPr id="19" name="Rounded Rectangle 18"/>
          <p:cNvSpPr/>
          <p:nvPr/>
        </p:nvSpPr>
        <p:spPr>
          <a:xfrm>
            <a:off x="557784" y="3913632"/>
            <a:ext cx="5431536" cy="1874519"/>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icrowave_framed.png"/>
          <p:cNvPicPr>
            <a:picLocks noChangeAspect="1"/>
          </p:cNvPicPr>
          <p:nvPr/>
        </p:nvPicPr>
        <p:blipFill>
          <a:blip r:embed="rId3"/>
          <a:srcRect l="14806" r="14806"/>
          <a:stretch>
            <a:fillRect/>
          </a:stretch>
        </p:blipFill>
        <p:spPr>
          <a:xfrm>
            <a:off x="640080" y="3995928"/>
            <a:ext cx="2139696" cy="1709928"/>
          </a:xfrm>
          <a:prstGeom prst="rect">
            <a:avLst/>
          </a:prstGeom>
        </p:spPr>
      </p:pic>
      <p:sp>
        <p:nvSpPr>
          <p:cNvPr id="21" name="Rectangle 20"/>
          <p:cNvSpPr/>
          <p:nvPr/>
        </p:nvSpPr>
        <p:spPr>
          <a:xfrm>
            <a:off x="2889503" y="4197096"/>
            <a:ext cx="64008" cy="1335024"/>
          </a:xfrm>
          <a:prstGeom prst="rect">
            <a:avLst/>
          </a:prstGeom>
          <a:solidFill>
            <a:srgbClr val="EFA3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18103" y="4178808"/>
            <a:ext cx="2651760" cy="365760"/>
          </a:xfrm>
          <a:prstGeom prst="rect">
            <a:avLst/>
          </a:prstGeom>
          <a:noFill/>
        </p:spPr>
        <p:txBody>
          <a:bodyPr wrap="square" lIns="0" tIns="0" rIns="0" bIns="0" anchor="t">
            <a:spAutoFit/>
          </a:bodyPr>
          <a:lstStyle/>
          <a:p>
            <a:pPr>
              <a:spcAft>
                <a:spcPts val="300"/>
              </a:spcAft>
              <a:defRPr sz="1820" b="1">
                <a:solidFill>
                  <a:srgbClr val="19283D"/>
                </a:solidFill>
                <a:latin typeface="Aptos"/>
              </a:defRPr>
            </a:pPr>
            <a:r>
              <a:t>Interact</a:t>
            </a:r>
          </a:p>
        </p:txBody>
      </p:sp>
      <p:sp>
        <p:nvSpPr>
          <p:cNvPr id="23" name="TextBox 22"/>
          <p:cNvSpPr txBox="1"/>
          <p:nvPr/>
        </p:nvSpPr>
        <p:spPr>
          <a:xfrm>
            <a:off x="3118103" y="4654296"/>
            <a:ext cx="2660904" cy="868680"/>
          </a:xfrm>
          <a:prstGeom prst="rect">
            <a:avLst/>
          </a:prstGeom>
          <a:noFill/>
        </p:spPr>
        <p:txBody>
          <a:bodyPr wrap="square" lIns="0" tIns="0" rIns="0" bIns="0" anchor="t">
            <a:spAutoFit/>
          </a:bodyPr>
          <a:lstStyle/>
          <a:p>
            <a:pPr>
              <a:spcAft>
                <a:spcPts val="300"/>
              </a:spcAft>
              <a:defRPr sz="1270" b="0">
                <a:solidFill>
                  <a:srgbClr val="58697B"/>
                </a:solidFill>
                <a:latin typeface="Aptos"/>
              </a:defRPr>
            </a:pPr>
            <a:r>
              <a:t>Open/close storage and operate appliance controls</a:t>
            </a:r>
          </a:p>
        </p:txBody>
      </p:sp>
      <p:sp>
        <p:nvSpPr>
          <p:cNvPr id="24" name="Rounded Rectangle 23"/>
          <p:cNvSpPr/>
          <p:nvPr/>
        </p:nvSpPr>
        <p:spPr>
          <a:xfrm>
            <a:off x="6291072" y="3913632"/>
            <a:ext cx="5431536" cy="1874519"/>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heat_table.jpg"/>
          <p:cNvPicPr>
            <a:picLocks noChangeAspect="1"/>
          </p:cNvPicPr>
          <p:nvPr/>
        </p:nvPicPr>
        <p:blipFill>
          <a:blip r:embed="rId4"/>
          <a:srcRect l="14834" r="14834"/>
          <a:stretch>
            <a:fillRect/>
          </a:stretch>
        </p:blipFill>
        <p:spPr>
          <a:xfrm>
            <a:off x="6373368" y="3995928"/>
            <a:ext cx="2139696" cy="1709928"/>
          </a:xfrm>
          <a:prstGeom prst="rect">
            <a:avLst/>
          </a:prstGeom>
        </p:spPr>
      </p:pic>
      <p:sp>
        <p:nvSpPr>
          <p:cNvPr id="26" name="Rectangle 25"/>
          <p:cNvSpPr/>
          <p:nvPr/>
        </p:nvSpPr>
        <p:spPr>
          <a:xfrm>
            <a:off x="8622792" y="4197096"/>
            <a:ext cx="64008" cy="1335024"/>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51392" y="4178808"/>
            <a:ext cx="2651760" cy="365760"/>
          </a:xfrm>
          <a:prstGeom prst="rect">
            <a:avLst/>
          </a:prstGeom>
          <a:noFill/>
        </p:spPr>
        <p:txBody>
          <a:bodyPr wrap="square" lIns="0" tIns="0" rIns="0" bIns="0" anchor="t">
            <a:spAutoFit/>
          </a:bodyPr>
          <a:lstStyle/>
          <a:p>
            <a:pPr>
              <a:spcAft>
                <a:spcPts val="300"/>
              </a:spcAft>
              <a:defRPr sz="1820" b="1">
                <a:solidFill>
                  <a:srgbClr val="19283D"/>
                </a:solidFill>
                <a:latin typeface="Aptos"/>
              </a:defRPr>
            </a:pPr>
            <a:r>
              <a:t>Complete tasks</a:t>
            </a:r>
          </a:p>
        </p:txBody>
      </p:sp>
      <p:sp>
        <p:nvSpPr>
          <p:cNvPr id="28" name="TextBox 27"/>
          <p:cNvSpPr txBox="1"/>
          <p:nvPr/>
        </p:nvSpPr>
        <p:spPr>
          <a:xfrm>
            <a:off x="8851392" y="4654296"/>
            <a:ext cx="2660904" cy="868680"/>
          </a:xfrm>
          <a:prstGeom prst="rect">
            <a:avLst/>
          </a:prstGeom>
          <a:noFill/>
        </p:spPr>
        <p:txBody>
          <a:bodyPr wrap="square" lIns="0" tIns="0" rIns="0" bIns="0" anchor="t">
            <a:spAutoFit/>
          </a:bodyPr>
          <a:lstStyle/>
          <a:p>
            <a:pPr>
              <a:spcAft>
                <a:spcPts val="300"/>
              </a:spcAft>
              <a:defRPr sz="1270" b="0">
                <a:solidFill>
                  <a:srgbClr val="58697B"/>
                </a:solidFill>
                <a:latin typeface="Aptos"/>
              </a:defRPr>
            </a:pPr>
            <a:r>
              <a:t>Combine actions toward a goal checked from simulator state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210312"/>
          </a:xfrm>
          <a:prstGeom prst="rect">
            <a:avLst/>
          </a:prstGeom>
          <a:noFill/>
        </p:spPr>
        <p:txBody>
          <a:bodyPr wrap="square" lIns="0" tIns="0" rIns="0" bIns="0" anchor="t">
            <a:spAutoFit/>
          </a:bodyPr>
          <a:lstStyle/>
          <a:p>
            <a:pPr>
              <a:spcAft>
                <a:spcPts val="300"/>
              </a:spcAft>
              <a:defRPr sz="1000" b="1">
                <a:solidFill>
                  <a:srgbClr val="008F93"/>
                </a:solidFill>
                <a:latin typeface="Aptos"/>
              </a:defRPr>
            </a:pPr>
            <a:r>
              <a:t>CURRENT CAPABILITIES</a:t>
            </a:r>
          </a:p>
        </p:txBody>
      </p:sp>
      <p:sp>
        <p:nvSpPr>
          <p:cNvPr id="4" name="TextBox 3"/>
          <p:cNvSpPr txBox="1"/>
          <p:nvPr/>
        </p:nvSpPr>
        <p:spPr>
          <a:xfrm>
            <a:off x="502920" y="585216"/>
            <a:ext cx="11018520" cy="685800"/>
          </a:xfrm>
          <a:prstGeom prst="rect">
            <a:avLst/>
          </a:prstGeom>
          <a:noFill/>
        </p:spPr>
        <p:txBody>
          <a:bodyPr wrap="square" lIns="0" tIns="0" rIns="0" bIns="0" anchor="t">
            <a:spAutoFit/>
          </a:bodyPr>
          <a:lstStyle/>
          <a:p>
            <a:pPr>
              <a:spcAft>
                <a:spcPts val="300"/>
              </a:spcAft>
              <a:defRPr sz="2800" b="1">
                <a:solidFill>
                  <a:srgbClr val="19283D"/>
                </a:solidFill>
                <a:latin typeface="Aptos"/>
              </a:defRPr>
            </a:pPr>
            <a:r>
              <a:t>Atomic policies: what is callable today</a:t>
            </a:r>
          </a:p>
        </p:txBody>
      </p:sp>
      <p:sp>
        <p:nvSpPr>
          <p:cNvPr id="5" name="TextBox 4"/>
          <p:cNvSpPr txBox="1"/>
          <p:nvPr/>
        </p:nvSpPr>
        <p:spPr>
          <a:xfrm>
            <a:off x="521207" y="1261872"/>
            <a:ext cx="10972800" cy="393192"/>
          </a:xfrm>
          <a:prstGeom prst="rect">
            <a:avLst/>
          </a:prstGeom>
          <a:noFill/>
        </p:spPr>
        <p:txBody>
          <a:bodyPr wrap="square" lIns="0" tIns="0" rIns="0" bIns="0" anchor="t">
            <a:spAutoFit/>
          </a:bodyPr>
          <a:lstStyle/>
          <a:p>
            <a:pPr>
              <a:spcAft>
                <a:spcPts val="300"/>
              </a:spcAft>
              <a:defRPr sz="1250" b="0">
                <a:solidFill>
                  <a:srgbClr val="58697B"/>
                </a:solidFill>
                <a:latin typeface="Aptos"/>
              </a:defRPr>
            </a:pPr>
            <a:r>
              <a:t>Concrete actions that can be combined under a task or a semantic contract.</a:t>
            </a:r>
          </a:p>
        </p:txBody>
      </p:sp>
      <p:sp>
        <p:nvSpPr>
          <p:cNvPr id="6" name="Rectangle 5"/>
          <p:cNvSpPr/>
          <p:nvPr/>
        </p:nvSpPr>
        <p:spPr>
          <a:xfrm>
            <a:off x="502920" y="6473952"/>
            <a:ext cx="11183112" cy="10972"/>
          </a:xfrm>
          <a:prstGeom prst="rect">
            <a:avLst/>
          </a:prstGeom>
          <a:solidFill>
            <a:srgbClr val="DB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064" y="6519672"/>
            <a:ext cx="7315200" cy="164592"/>
          </a:xfrm>
          <a:prstGeom prst="rect">
            <a:avLst/>
          </a:prstGeom>
          <a:noFill/>
        </p:spPr>
        <p:txBody>
          <a:bodyPr wrap="square" lIns="0" tIns="0" rIns="0" bIns="0" anchor="t">
            <a:spAutoFit/>
          </a:bodyPr>
          <a:lstStyle/>
          <a:p>
            <a:pPr>
              <a:spcAft>
                <a:spcPts val="300"/>
              </a:spcAft>
              <a:defRPr sz="850" b="0">
                <a:solidFill>
                  <a:srgbClr val="58697B"/>
                </a:solidFill>
                <a:latin typeface="Aptos"/>
              </a:defRPr>
            </a:pPr>
            <a:r>
              <a:t>ZenoBench  ·  CMU Agentic Library</a:t>
            </a:r>
          </a:p>
        </p:txBody>
      </p:sp>
      <p:sp>
        <p:nvSpPr>
          <p:cNvPr id="8" name="TextBox 7"/>
          <p:cNvSpPr txBox="1"/>
          <p:nvPr/>
        </p:nvSpPr>
        <p:spPr>
          <a:xfrm>
            <a:off x="11100816" y="6510528"/>
            <a:ext cx="566928" cy="182880"/>
          </a:xfrm>
          <a:prstGeom prst="rect">
            <a:avLst/>
          </a:prstGeom>
          <a:noFill/>
        </p:spPr>
        <p:txBody>
          <a:bodyPr wrap="square" lIns="0" tIns="0" rIns="0" bIns="0" anchor="t">
            <a:spAutoFit/>
          </a:bodyPr>
          <a:lstStyle/>
          <a:p>
            <a:pPr algn="r">
              <a:spcAft>
                <a:spcPts val="300"/>
              </a:spcAft>
              <a:defRPr sz="850" b="0">
                <a:solidFill>
                  <a:srgbClr val="58697B"/>
                </a:solidFill>
                <a:latin typeface="Aptos"/>
              </a:defRPr>
            </a:pPr>
            <a:r>
              <a:t>05 / 12</a:t>
            </a:r>
          </a:p>
        </p:txBody>
      </p:sp>
      <p:sp>
        <p:nvSpPr>
          <p:cNvPr id="9" name="Rounded Rectangle 8"/>
          <p:cNvSpPr/>
          <p:nvPr/>
        </p:nvSpPr>
        <p:spPr>
          <a:xfrm>
            <a:off x="557784" y="1783080"/>
            <a:ext cx="5422392" cy="1545336"/>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1783080"/>
            <a:ext cx="82296" cy="1545336"/>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1965960"/>
            <a:ext cx="4965192" cy="329184"/>
          </a:xfrm>
          <a:prstGeom prst="rect">
            <a:avLst/>
          </a:prstGeom>
          <a:noFill/>
        </p:spPr>
        <p:txBody>
          <a:bodyPr wrap="square" lIns="0" tIns="0" rIns="0" bIns="0" anchor="t">
            <a:spAutoFit/>
          </a:bodyPr>
          <a:lstStyle/>
          <a:p>
            <a:pPr>
              <a:spcAft>
                <a:spcPts val="300"/>
              </a:spcAft>
              <a:defRPr sz="1830" b="1">
                <a:solidFill>
                  <a:srgbClr val="19283D"/>
                </a:solidFill>
                <a:latin typeface="Aptos"/>
              </a:defRPr>
            </a:pPr>
            <a:r>
              <a:t>Navigate + move</a:t>
            </a:r>
          </a:p>
        </p:txBody>
      </p:sp>
      <p:sp>
        <p:nvSpPr>
          <p:cNvPr id="12" name="TextBox 11"/>
          <p:cNvSpPr txBox="1"/>
          <p:nvPr/>
        </p:nvSpPr>
        <p:spPr>
          <a:xfrm>
            <a:off x="758952" y="2441448"/>
            <a:ext cx="4901184" cy="667512"/>
          </a:xfrm>
          <a:prstGeom prst="rect">
            <a:avLst/>
          </a:prstGeom>
          <a:noFill/>
        </p:spPr>
        <p:txBody>
          <a:bodyPr wrap="square" lIns="0" tIns="0" rIns="0" bIns="0" anchor="t">
            <a:spAutoFit/>
          </a:bodyPr>
          <a:lstStyle/>
          <a:p>
            <a:pPr>
              <a:spcAft>
                <a:spcPts val="300"/>
              </a:spcAft>
              <a:defRPr sz="1340" b="0">
                <a:solidFill>
                  <a:srgbClr val="58697B"/>
                </a:solidFill>
                <a:latin typeface="Aptos"/>
              </a:defRPr>
            </a:pPr>
            <a:r>
              <a:t>empty_navigate · carry_navigate</a:t>
            </a:r>
          </a:p>
          <a:p>
            <a:pPr>
              <a:spcAft>
                <a:spcPts val="300"/>
              </a:spcAft>
              <a:defRPr sz="1340" b="0">
                <a:solidFill>
                  <a:srgbClr val="58697B"/>
                </a:solidFill>
                <a:latin typeface="Aptos"/>
              </a:defRPr>
            </a:pPr>
            <a:r>
              <a:t>pick_while_moving · place_while_moving</a:t>
            </a:r>
          </a:p>
        </p:txBody>
      </p:sp>
      <p:sp>
        <p:nvSpPr>
          <p:cNvPr id="13" name="Rounded Rectangle 12"/>
          <p:cNvSpPr/>
          <p:nvPr/>
        </p:nvSpPr>
        <p:spPr>
          <a:xfrm>
            <a:off x="6300216" y="1783080"/>
            <a:ext cx="5422392" cy="1545336"/>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0216" y="1783080"/>
            <a:ext cx="82296" cy="1545336"/>
          </a:xfrm>
          <a:prstGeom prst="rect">
            <a:avLst/>
          </a:prstGeom>
          <a:solidFill>
            <a:srgbClr val="246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4" y="1965960"/>
            <a:ext cx="4965192" cy="329184"/>
          </a:xfrm>
          <a:prstGeom prst="rect">
            <a:avLst/>
          </a:prstGeom>
          <a:noFill/>
        </p:spPr>
        <p:txBody>
          <a:bodyPr wrap="square" lIns="0" tIns="0" rIns="0" bIns="0" anchor="t">
            <a:spAutoFit/>
          </a:bodyPr>
          <a:lstStyle/>
          <a:p>
            <a:pPr>
              <a:spcAft>
                <a:spcPts val="300"/>
              </a:spcAft>
              <a:defRPr sz="1830" b="1">
                <a:solidFill>
                  <a:srgbClr val="19283D"/>
                </a:solidFill>
                <a:latin typeface="Aptos"/>
              </a:defRPr>
            </a:pPr>
            <a:r>
              <a:t>Posture + reach</a:t>
            </a:r>
          </a:p>
        </p:txBody>
      </p:sp>
      <p:sp>
        <p:nvSpPr>
          <p:cNvPr id="16" name="TextBox 15"/>
          <p:cNvSpPr txBox="1"/>
          <p:nvPr/>
        </p:nvSpPr>
        <p:spPr>
          <a:xfrm>
            <a:off x="6501384" y="2441448"/>
            <a:ext cx="4901184" cy="667512"/>
          </a:xfrm>
          <a:prstGeom prst="rect">
            <a:avLst/>
          </a:prstGeom>
          <a:noFill/>
        </p:spPr>
        <p:txBody>
          <a:bodyPr wrap="square" lIns="0" tIns="0" rIns="0" bIns="0" anchor="t">
            <a:spAutoFit/>
          </a:bodyPr>
          <a:lstStyle/>
          <a:p>
            <a:pPr>
              <a:spcAft>
                <a:spcPts val="300"/>
              </a:spcAft>
              <a:defRPr sz="1340" b="0">
                <a:solidFill>
                  <a:srgbClr val="58697B"/>
                </a:solidFill>
                <a:latin typeface="Aptos"/>
              </a:defRPr>
            </a:pPr>
            <a:r>
              <a:t>lower_torso · lean_forward</a:t>
            </a:r>
          </a:p>
          <a:p>
            <a:pPr>
              <a:spcAft>
                <a:spcPts val="300"/>
              </a:spcAft>
              <a:defRPr sz="1340" b="0">
                <a:solidFill>
                  <a:srgbClr val="58697B"/>
                </a:solidFill>
                <a:latin typeface="Aptos"/>
              </a:defRPr>
            </a:pPr>
            <a:r>
              <a:t>right_tcp_move · gripper open/close</a:t>
            </a:r>
          </a:p>
        </p:txBody>
      </p:sp>
      <p:sp>
        <p:nvSpPr>
          <p:cNvPr id="17" name="Rounded Rectangle 16"/>
          <p:cNvSpPr/>
          <p:nvPr/>
        </p:nvSpPr>
        <p:spPr>
          <a:xfrm>
            <a:off x="557784" y="3538728"/>
            <a:ext cx="5422392" cy="1545336"/>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7784" y="3538728"/>
            <a:ext cx="82296" cy="1545336"/>
          </a:xfrm>
          <a:prstGeom prst="rect">
            <a:avLst/>
          </a:prstGeom>
          <a:solidFill>
            <a:srgbClr val="EFA3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 y="3721608"/>
            <a:ext cx="4965192" cy="329184"/>
          </a:xfrm>
          <a:prstGeom prst="rect">
            <a:avLst/>
          </a:prstGeom>
          <a:noFill/>
        </p:spPr>
        <p:txBody>
          <a:bodyPr wrap="square" lIns="0" tIns="0" rIns="0" bIns="0" anchor="t">
            <a:spAutoFit/>
          </a:bodyPr>
          <a:lstStyle/>
          <a:p>
            <a:pPr>
              <a:spcAft>
                <a:spcPts val="300"/>
              </a:spcAft>
              <a:defRPr sz="1830" b="1">
                <a:solidFill>
                  <a:srgbClr val="19283D"/>
                </a:solidFill>
                <a:latin typeface="Aptos"/>
              </a:defRPr>
            </a:pPr>
            <a:r>
              <a:t>Pick + place</a:t>
            </a:r>
          </a:p>
        </p:txBody>
      </p:sp>
      <p:sp>
        <p:nvSpPr>
          <p:cNvPr id="20" name="TextBox 19"/>
          <p:cNvSpPr txBox="1"/>
          <p:nvPr/>
        </p:nvSpPr>
        <p:spPr>
          <a:xfrm>
            <a:off x="758952" y="4197096"/>
            <a:ext cx="4901184" cy="667512"/>
          </a:xfrm>
          <a:prstGeom prst="rect">
            <a:avLst/>
          </a:prstGeom>
          <a:noFill/>
        </p:spPr>
        <p:txBody>
          <a:bodyPr wrap="square" lIns="0" tIns="0" rIns="0" bIns="0" anchor="t">
            <a:spAutoFit/>
          </a:bodyPr>
          <a:lstStyle/>
          <a:p>
            <a:pPr>
              <a:spcAft>
                <a:spcPts val="300"/>
              </a:spcAft>
              <a:defRPr sz="1340" b="0">
                <a:solidFill>
                  <a:srgbClr val="58697B"/>
                </a:solidFill>
                <a:latin typeface="Aptos"/>
              </a:defRPr>
            </a:pPr>
            <a:r>
              <a:t>pick_top · pick_round_rim · pick_edge</a:t>
            </a:r>
          </a:p>
          <a:p>
            <a:pPr>
              <a:spcAft>
                <a:spcPts val="300"/>
              </a:spcAft>
              <a:defRPr sz="1340" b="0">
                <a:solidFill>
                  <a:srgbClr val="58697B"/>
                </a:solidFill>
                <a:latin typeface="Aptos"/>
              </a:defRPr>
            </a:pPr>
            <a:r>
              <a:t>place_surface · place_container</a:t>
            </a:r>
          </a:p>
        </p:txBody>
      </p:sp>
      <p:sp>
        <p:nvSpPr>
          <p:cNvPr id="21" name="Rounded Rectangle 20"/>
          <p:cNvSpPr/>
          <p:nvPr/>
        </p:nvSpPr>
        <p:spPr>
          <a:xfrm>
            <a:off x="6300216" y="3538728"/>
            <a:ext cx="5422392" cy="1545336"/>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0216" y="3538728"/>
            <a:ext cx="82296" cy="1545336"/>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4" y="3721608"/>
            <a:ext cx="4965192" cy="329184"/>
          </a:xfrm>
          <a:prstGeom prst="rect">
            <a:avLst/>
          </a:prstGeom>
          <a:noFill/>
        </p:spPr>
        <p:txBody>
          <a:bodyPr wrap="square" lIns="0" tIns="0" rIns="0" bIns="0" anchor="t">
            <a:spAutoFit/>
          </a:bodyPr>
          <a:lstStyle/>
          <a:p>
            <a:pPr>
              <a:spcAft>
                <a:spcPts val="300"/>
              </a:spcAft>
              <a:defRPr sz="1830" b="1">
                <a:solidFill>
                  <a:srgbClr val="19283D"/>
                </a:solidFill>
                <a:latin typeface="Aptos"/>
              </a:defRPr>
            </a:pPr>
            <a:r>
              <a:t>Interact + operate</a:t>
            </a:r>
          </a:p>
        </p:txBody>
      </p:sp>
      <p:sp>
        <p:nvSpPr>
          <p:cNvPr id="24" name="TextBox 23"/>
          <p:cNvSpPr txBox="1"/>
          <p:nvPr/>
        </p:nvSpPr>
        <p:spPr>
          <a:xfrm>
            <a:off x="6501384" y="4197096"/>
            <a:ext cx="4901184" cy="667512"/>
          </a:xfrm>
          <a:prstGeom prst="rect">
            <a:avLst/>
          </a:prstGeom>
          <a:noFill/>
        </p:spPr>
        <p:txBody>
          <a:bodyPr wrap="square" lIns="0" tIns="0" rIns="0" bIns="0" anchor="t">
            <a:spAutoFit/>
          </a:bodyPr>
          <a:lstStyle/>
          <a:p>
            <a:pPr>
              <a:spcAft>
                <a:spcPts val="300"/>
              </a:spcAft>
              <a:defRPr sz="1340" b="0">
                <a:solidFill>
                  <a:srgbClr val="58697B"/>
                </a:solidFill>
                <a:latin typeface="Aptos"/>
              </a:defRPr>
            </a:pPr>
            <a:r>
              <a:t>open_handle · close_handle · click</a:t>
            </a:r>
          </a:p>
          <a:p>
            <a:pPr>
              <a:spcAft>
                <a:spcPts val="300"/>
              </a:spcAft>
              <a:defRPr sz="1340" b="0">
                <a:solidFill>
                  <a:srgbClr val="58697B"/>
                </a:solidFill>
                <a:latin typeface="Aptos"/>
              </a:defRPr>
            </a:pPr>
            <a:r>
              <a:t>microwave_start · place_microwave</a:t>
            </a:r>
          </a:p>
        </p:txBody>
      </p:sp>
      <p:sp>
        <p:nvSpPr>
          <p:cNvPr id="25" name="Rounded Rectangle 24"/>
          <p:cNvSpPr/>
          <p:nvPr/>
        </p:nvSpPr>
        <p:spPr>
          <a:xfrm>
            <a:off x="585216" y="5522976"/>
            <a:ext cx="10972800" cy="502920"/>
          </a:xfrm>
          <a:prstGeom prst="roundRect">
            <a:avLst/>
          </a:prstGeom>
          <a:solidFill>
            <a:srgbClr val="E8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8" y="5660136"/>
            <a:ext cx="10561320" cy="265176"/>
          </a:xfrm>
          <a:prstGeom prst="rect">
            <a:avLst/>
          </a:prstGeom>
          <a:noFill/>
        </p:spPr>
        <p:txBody>
          <a:bodyPr wrap="square" lIns="0" tIns="0" rIns="0" bIns="0" anchor="t">
            <a:spAutoFit/>
          </a:bodyPr>
          <a:lstStyle/>
          <a:p>
            <a:pPr>
              <a:spcAft>
                <a:spcPts val="300"/>
              </a:spcAft>
              <a:defRPr sz="1460" b="1">
                <a:solidFill>
                  <a:srgbClr val="101F34"/>
                </a:solidFill>
                <a:latin typeface="Aptos"/>
              </a:defRPr>
            </a:pPr>
            <a:r>
              <a:t>60 OOP entries  ·  54 passed at least one Isaac Sim smoke test  ·  6 callable but unverified</a:t>
            </a:r>
          </a:p>
        </p:txBody>
      </p:sp>
      <p:sp>
        <p:nvSpPr>
          <p:cNvPr id="27" name="TextBox 26"/>
          <p:cNvSpPr txBox="1"/>
          <p:nvPr/>
        </p:nvSpPr>
        <p:spPr>
          <a:xfrm>
            <a:off x="649224" y="6117336"/>
            <a:ext cx="10853928" cy="182880"/>
          </a:xfrm>
          <a:prstGeom prst="rect">
            <a:avLst/>
          </a:prstGeom>
          <a:noFill/>
        </p:spPr>
        <p:txBody>
          <a:bodyPr wrap="square" lIns="0" tIns="0" rIns="0" bIns="0" anchor="t">
            <a:spAutoFit/>
          </a:bodyPr>
          <a:lstStyle/>
          <a:p>
            <a:pPr>
              <a:spcAft>
                <a:spcPts val="300"/>
              </a:spcAft>
              <a:defRPr sz="1040" b="0">
                <a:solidFill>
                  <a:srgbClr val="58697B"/>
                </a:solidFill>
                <a:latin typeface="Aptos"/>
              </a:defRPr>
            </a:pPr>
            <a:r>
              <a:t>Unverified: floor-corner pick and five dual-arm / handover routes; verified results are scene-specific.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210312"/>
          </a:xfrm>
          <a:prstGeom prst="rect">
            <a:avLst/>
          </a:prstGeom>
          <a:noFill/>
        </p:spPr>
        <p:txBody>
          <a:bodyPr wrap="square" lIns="0" tIns="0" rIns="0" bIns="0" anchor="t">
            <a:spAutoFit/>
          </a:bodyPr>
          <a:lstStyle/>
          <a:p>
            <a:pPr>
              <a:spcAft>
                <a:spcPts val="300"/>
              </a:spcAft>
              <a:defRPr sz="1000" b="1">
                <a:solidFill>
                  <a:srgbClr val="008F93"/>
                </a:solidFill>
                <a:latin typeface="Aptos"/>
              </a:defRPr>
            </a:pPr>
            <a:r>
              <a:t>TASK SUITE</a:t>
            </a:r>
          </a:p>
        </p:txBody>
      </p:sp>
      <p:sp>
        <p:nvSpPr>
          <p:cNvPr id="4" name="TextBox 3"/>
          <p:cNvSpPr txBox="1"/>
          <p:nvPr/>
        </p:nvSpPr>
        <p:spPr>
          <a:xfrm>
            <a:off x="502920" y="585216"/>
            <a:ext cx="11018520" cy="685800"/>
          </a:xfrm>
          <a:prstGeom prst="rect">
            <a:avLst/>
          </a:prstGeom>
          <a:noFill/>
        </p:spPr>
        <p:txBody>
          <a:bodyPr wrap="square" lIns="0" tIns="0" rIns="0" bIns="0" anchor="t">
            <a:spAutoFit/>
          </a:bodyPr>
          <a:lstStyle/>
          <a:p>
            <a:pPr>
              <a:spcAft>
                <a:spcPts val="300"/>
              </a:spcAft>
              <a:defRPr sz="2800" b="1">
                <a:solidFill>
                  <a:srgbClr val="19283D"/>
                </a:solidFill>
                <a:latin typeface="Aptos"/>
              </a:defRPr>
            </a:pPr>
            <a:r>
              <a:t>Eight tasks across four household themes</a:t>
            </a:r>
          </a:p>
        </p:txBody>
      </p:sp>
      <p:sp>
        <p:nvSpPr>
          <p:cNvPr id="5" name="TextBox 4"/>
          <p:cNvSpPr txBox="1"/>
          <p:nvPr/>
        </p:nvSpPr>
        <p:spPr>
          <a:xfrm>
            <a:off x="521207" y="1261872"/>
            <a:ext cx="10972800" cy="393192"/>
          </a:xfrm>
          <a:prstGeom prst="rect">
            <a:avLst/>
          </a:prstGeom>
          <a:noFill/>
        </p:spPr>
        <p:txBody>
          <a:bodyPr wrap="square" lIns="0" tIns="0" rIns="0" bIns="0" anchor="t">
            <a:spAutoFit/>
          </a:bodyPr>
          <a:lstStyle/>
          <a:p>
            <a:pPr>
              <a:spcAft>
                <a:spcPts val="300"/>
              </a:spcAft>
              <a:defRPr sz="1250" b="0">
                <a:solidFill>
                  <a:srgbClr val="58697B"/>
                </a:solidFill>
                <a:latin typeface="Aptos"/>
              </a:defRPr>
            </a:pPr>
            <a:r>
              <a:t>The same house supports different goals rather than a single scripted demonstration.</a:t>
            </a:r>
          </a:p>
        </p:txBody>
      </p:sp>
      <p:sp>
        <p:nvSpPr>
          <p:cNvPr id="6" name="Rectangle 5"/>
          <p:cNvSpPr/>
          <p:nvPr/>
        </p:nvSpPr>
        <p:spPr>
          <a:xfrm>
            <a:off x="502920" y="6473952"/>
            <a:ext cx="11183112" cy="10972"/>
          </a:xfrm>
          <a:prstGeom prst="rect">
            <a:avLst/>
          </a:prstGeom>
          <a:solidFill>
            <a:srgbClr val="DB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064" y="6519672"/>
            <a:ext cx="7315200" cy="164592"/>
          </a:xfrm>
          <a:prstGeom prst="rect">
            <a:avLst/>
          </a:prstGeom>
          <a:noFill/>
        </p:spPr>
        <p:txBody>
          <a:bodyPr wrap="square" lIns="0" tIns="0" rIns="0" bIns="0" anchor="t">
            <a:spAutoFit/>
          </a:bodyPr>
          <a:lstStyle/>
          <a:p>
            <a:pPr>
              <a:spcAft>
                <a:spcPts val="300"/>
              </a:spcAft>
              <a:defRPr sz="850" b="0">
                <a:solidFill>
                  <a:srgbClr val="58697B"/>
                </a:solidFill>
                <a:latin typeface="Aptos"/>
              </a:defRPr>
            </a:pPr>
            <a:r>
              <a:t>ZenoBench  ·  CMU Agentic Library</a:t>
            </a:r>
          </a:p>
        </p:txBody>
      </p:sp>
      <p:sp>
        <p:nvSpPr>
          <p:cNvPr id="8" name="TextBox 7"/>
          <p:cNvSpPr txBox="1"/>
          <p:nvPr/>
        </p:nvSpPr>
        <p:spPr>
          <a:xfrm>
            <a:off x="11100816" y="6510528"/>
            <a:ext cx="566928" cy="182880"/>
          </a:xfrm>
          <a:prstGeom prst="rect">
            <a:avLst/>
          </a:prstGeom>
          <a:noFill/>
        </p:spPr>
        <p:txBody>
          <a:bodyPr wrap="square" lIns="0" tIns="0" rIns="0" bIns="0" anchor="t">
            <a:spAutoFit/>
          </a:bodyPr>
          <a:lstStyle/>
          <a:p>
            <a:pPr algn="r">
              <a:spcAft>
                <a:spcPts val="300"/>
              </a:spcAft>
              <a:defRPr sz="850" b="0">
                <a:solidFill>
                  <a:srgbClr val="58697B"/>
                </a:solidFill>
                <a:latin typeface="Aptos"/>
              </a:defRPr>
            </a:pPr>
            <a:r>
              <a:t>06 / 12</a:t>
            </a:r>
          </a:p>
        </p:txBody>
      </p:sp>
      <p:sp>
        <p:nvSpPr>
          <p:cNvPr id="9" name="Rounded Rectangle 8"/>
          <p:cNvSpPr/>
          <p:nvPr/>
        </p:nvSpPr>
        <p:spPr>
          <a:xfrm>
            <a:off x="539496" y="1847088"/>
            <a:ext cx="2523744" cy="3593592"/>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9496" y="1847088"/>
            <a:ext cx="2523744" cy="11887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212848"/>
            <a:ext cx="2194560" cy="356616"/>
          </a:xfrm>
          <a:prstGeom prst="rect">
            <a:avLst/>
          </a:prstGeom>
          <a:noFill/>
        </p:spPr>
        <p:txBody>
          <a:bodyPr wrap="square" lIns="0" tIns="0" rIns="0" bIns="0" anchor="t">
            <a:spAutoFit/>
          </a:bodyPr>
          <a:lstStyle/>
          <a:p>
            <a:pPr>
              <a:spcAft>
                <a:spcPts val="300"/>
              </a:spcAft>
              <a:defRPr sz="2000" b="1">
                <a:solidFill>
                  <a:srgbClr val="19283D"/>
                </a:solidFill>
                <a:latin typeface="Aptos"/>
              </a:defRPr>
            </a:pPr>
            <a:r>
              <a:t>Collect</a:t>
            </a:r>
          </a:p>
        </p:txBody>
      </p:sp>
      <p:sp>
        <p:nvSpPr>
          <p:cNvPr id="12" name="TextBox 11"/>
          <p:cNvSpPr txBox="1"/>
          <p:nvPr/>
        </p:nvSpPr>
        <p:spPr>
          <a:xfrm>
            <a:off x="713232" y="2852928"/>
            <a:ext cx="2212848" cy="1069848"/>
          </a:xfrm>
          <a:prstGeom prst="rect">
            <a:avLst/>
          </a:prstGeom>
          <a:noFill/>
        </p:spPr>
        <p:txBody>
          <a:bodyPr wrap="square" lIns="0" tIns="0" rIns="0" bIns="0" anchor="t">
            <a:spAutoFit/>
          </a:bodyPr>
          <a:lstStyle/>
          <a:p>
            <a:pPr>
              <a:spcAft>
                <a:spcPts val="300"/>
              </a:spcAft>
              <a:defRPr sz="1350" b="1">
                <a:solidFill>
                  <a:srgbClr val="008F93"/>
                </a:solidFill>
                <a:latin typeface="Aptos"/>
              </a:defRPr>
            </a:pPr>
            <a:r>
              <a:t>collect_fruits</a:t>
            </a:r>
          </a:p>
        </p:txBody>
      </p:sp>
      <p:sp>
        <p:nvSpPr>
          <p:cNvPr id="13" name="TextBox 12"/>
          <p:cNvSpPr txBox="1"/>
          <p:nvPr/>
        </p:nvSpPr>
        <p:spPr>
          <a:xfrm>
            <a:off x="713232" y="4315968"/>
            <a:ext cx="2185416" cy="859536"/>
          </a:xfrm>
          <a:prstGeom prst="rect">
            <a:avLst/>
          </a:prstGeom>
          <a:noFill/>
        </p:spPr>
        <p:txBody>
          <a:bodyPr wrap="square" lIns="0" tIns="0" rIns="0" bIns="0" anchor="t">
            <a:spAutoFit/>
          </a:bodyPr>
          <a:lstStyle/>
          <a:p>
            <a:pPr>
              <a:spcAft>
                <a:spcPts val="300"/>
              </a:spcAft>
              <a:defRPr sz="1300" b="0">
                <a:solidFill>
                  <a:srgbClr val="58697B"/>
                </a:solidFill>
                <a:latin typeface="Aptos"/>
              </a:defRPr>
            </a:pPr>
            <a:r>
              <a:t>Gather objects into a shared container</a:t>
            </a:r>
          </a:p>
        </p:txBody>
      </p:sp>
      <p:sp>
        <p:nvSpPr>
          <p:cNvPr id="14" name="Rounded Rectangle 13"/>
          <p:cNvSpPr/>
          <p:nvPr/>
        </p:nvSpPr>
        <p:spPr>
          <a:xfrm>
            <a:off x="3410712" y="1847088"/>
            <a:ext cx="2523744" cy="3593592"/>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10712" y="1847088"/>
            <a:ext cx="2523744" cy="118872"/>
          </a:xfrm>
          <a:prstGeom prst="rect">
            <a:avLst/>
          </a:prstGeom>
          <a:solidFill>
            <a:srgbClr val="246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4448" y="2212848"/>
            <a:ext cx="2194560" cy="356616"/>
          </a:xfrm>
          <a:prstGeom prst="rect">
            <a:avLst/>
          </a:prstGeom>
          <a:noFill/>
        </p:spPr>
        <p:txBody>
          <a:bodyPr wrap="square" lIns="0" tIns="0" rIns="0" bIns="0" anchor="t">
            <a:spAutoFit/>
          </a:bodyPr>
          <a:lstStyle/>
          <a:p>
            <a:pPr>
              <a:spcAft>
                <a:spcPts val="300"/>
              </a:spcAft>
              <a:defRPr sz="2000" b="1">
                <a:solidFill>
                  <a:srgbClr val="19283D"/>
                </a:solidFill>
                <a:latin typeface="Aptos"/>
              </a:defRPr>
            </a:pPr>
            <a:r>
              <a:t>Organize</a:t>
            </a:r>
          </a:p>
        </p:txBody>
      </p:sp>
      <p:sp>
        <p:nvSpPr>
          <p:cNvPr id="17" name="TextBox 16"/>
          <p:cNvSpPr txBox="1"/>
          <p:nvPr/>
        </p:nvSpPr>
        <p:spPr>
          <a:xfrm>
            <a:off x="3584448" y="2852928"/>
            <a:ext cx="2212848" cy="1069848"/>
          </a:xfrm>
          <a:prstGeom prst="rect">
            <a:avLst/>
          </a:prstGeom>
          <a:noFill/>
        </p:spPr>
        <p:txBody>
          <a:bodyPr wrap="square" lIns="0" tIns="0" rIns="0" bIns="0" anchor="t">
            <a:spAutoFit/>
          </a:bodyPr>
          <a:lstStyle/>
          <a:p>
            <a:pPr>
              <a:spcAft>
                <a:spcPts val="300"/>
              </a:spcAft>
              <a:defRPr sz="1350" b="1">
                <a:solidFill>
                  <a:srgbClr val="2468BC"/>
                </a:solidFill>
                <a:latin typeface="Aptos"/>
              </a:defRPr>
            </a:pPr>
            <a:r>
              <a:t>tidy_toys</a:t>
            </a:r>
          </a:p>
          <a:p>
            <a:pPr>
              <a:spcAft>
                <a:spcPts val="300"/>
              </a:spcAft>
              <a:defRPr sz="1350" b="1">
                <a:solidFill>
                  <a:srgbClr val="2468BC"/>
                </a:solidFill>
                <a:latin typeface="Aptos"/>
              </a:defRPr>
            </a:pPr>
            <a:r>
              <a:t>shelve_books</a:t>
            </a:r>
          </a:p>
        </p:txBody>
      </p:sp>
      <p:sp>
        <p:nvSpPr>
          <p:cNvPr id="18" name="TextBox 17"/>
          <p:cNvSpPr txBox="1"/>
          <p:nvPr/>
        </p:nvSpPr>
        <p:spPr>
          <a:xfrm>
            <a:off x="3584448" y="4315968"/>
            <a:ext cx="2185416" cy="859536"/>
          </a:xfrm>
          <a:prstGeom prst="rect">
            <a:avLst/>
          </a:prstGeom>
          <a:noFill/>
        </p:spPr>
        <p:txBody>
          <a:bodyPr wrap="square" lIns="0" tIns="0" rIns="0" bIns="0" anchor="t">
            <a:spAutoFit/>
          </a:bodyPr>
          <a:lstStyle/>
          <a:p>
            <a:pPr>
              <a:spcAft>
                <a:spcPts val="300"/>
              </a:spcAft>
              <a:defRPr sz="1300" b="0">
                <a:solidFill>
                  <a:srgbClr val="58697B"/>
                </a:solidFill>
                <a:latin typeface="Aptos"/>
              </a:defRPr>
            </a:pPr>
            <a:r>
              <a:t>Put floor toys away; place books on shelves</a:t>
            </a:r>
          </a:p>
        </p:txBody>
      </p:sp>
      <p:sp>
        <p:nvSpPr>
          <p:cNvPr id="19" name="Rounded Rectangle 18"/>
          <p:cNvSpPr/>
          <p:nvPr/>
        </p:nvSpPr>
        <p:spPr>
          <a:xfrm>
            <a:off x="6281928" y="1847088"/>
            <a:ext cx="2523744" cy="3593592"/>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81928" y="1847088"/>
            <a:ext cx="2523744" cy="118872"/>
          </a:xfrm>
          <a:prstGeom prst="rect">
            <a:avLst/>
          </a:prstGeom>
          <a:solidFill>
            <a:srgbClr val="EFA3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2212848"/>
            <a:ext cx="2194560" cy="356616"/>
          </a:xfrm>
          <a:prstGeom prst="rect">
            <a:avLst/>
          </a:prstGeom>
          <a:noFill/>
        </p:spPr>
        <p:txBody>
          <a:bodyPr wrap="square" lIns="0" tIns="0" rIns="0" bIns="0" anchor="t">
            <a:spAutoFit/>
          </a:bodyPr>
          <a:lstStyle/>
          <a:p>
            <a:pPr>
              <a:spcAft>
                <a:spcPts val="300"/>
              </a:spcAft>
              <a:defRPr sz="2000" b="1">
                <a:solidFill>
                  <a:srgbClr val="19283D"/>
                </a:solidFill>
                <a:latin typeface="Aptos"/>
              </a:defRPr>
            </a:pPr>
            <a:r>
              <a:t>Prepare</a:t>
            </a:r>
          </a:p>
        </p:txBody>
      </p:sp>
      <p:sp>
        <p:nvSpPr>
          <p:cNvPr id="22" name="TextBox 21"/>
          <p:cNvSpPr txBox="1"/>
          <p:nvPr/>
        </p:nvSpPr>
        <p:spPr>
          <a:xfrm>
            <a:off x="6455664" y="2852928"/>
            <a:ext cx="2212848" cy="1069848"/>
          </a:xfrm>
          <a:prstGeom prst="rect">
            <a:avLst/>
          </a:prstGeom>
          <a:noFill/>
        </p:spPr>
        <p:txBody>
          <a:bodyPr wrap="square" lIns="0" tIns="0" rIns="0" bIns="0" anchor="t">
            <a:spAutoFit/>
          </a:bodyPr>
          <a:lstStyle/>
          <a:p>
            <a:pPr>
              <a:spcAft>
                <a:spcPts val="300"/>
              </a:spcAft>
              <a:defRPr sz="1350" b="1">
                <a:solidFill>
                  <a:srgbClr val="EFA33C"/>
                </a:solidFill>
                <a:latin typeface="Aptos"/>
              </a:defRPr>
            </a:pPr>
            <a:r>
              <a:t>desk_prep</a:t>
            </a:r>
          </a:p>
          <a:p>
            <a:pPr>
              <a:spcAft>
                <a:spcPts val="300"/>
              </a:spcAft>
              <a:defRPr sz="1350" b="1">
                <a:solidFill>
                  <a:srgbClr val="EFA33C"/>
                </a:solidFill>
                <a:latin typeface="Aptos"/>
              </a:defRPr>
            </a:pPr>
            <a:r>
              <a:t>breakfast_setup</a:t>
            </a:r>
          </a:p>
        </p:txBody>
      </p:sp>
      <p:sp>
        <p:nvSpPr>
          <p:cNvPr id="23" name="TextBox 22"/>
          <p:cNvSpPr txBox="1"/>
          <p:nvPr/>
        </p:nvSpPr>
        <p:spPr>
          <a:xfrm>
            <a:off x="6455664" y="4315968"/>
            <a:ext cx="2185416" cy="859536"/>
          </a:xfrm>
          <a:prstGeom prst="rect">
            <a:avLst/>
          </a:prstGeom>
          <a:noFill/>
        </p:spPr>
        <p:txBody>
          <a:bodyPr wrap="square" lIns="0" tIns="0" rIns="0" bIns="0" anchor="t">
            <a:spAutoFit/>
          </a:bodyPr>
          <a:lstStyle/>
          <a:p>
            <a:pPr>
              <a:spcAft>
                <a:spcPts val="300"/>
              </a:spcAft>
              <a:defRPr sz="1300" b="0">
                <a:solidFill>
                  <a:srgbClr val="58697B"/>
                </a:solidFill>
                <a:latin typeface="Aptos"/>
              </a:defRPr>
            </a:pPr>
            <a:r>
              <a:t>Set up a workspace or a dining table</a:t>
            </a:r>
          </a:p>
        </p:txBody>
      </p:sp>
      <p:sp>
        <p:nvSpPr>
          <p:cNvPr id="24" name="Rounded Rectangle 23"/>
          <p:cNvSpPr/>
          <p:nvPr/>
        </p:nvSpPr>
        <p:spPr>
          <a:xfrm>
            <a:off x="9153144" y="1847088"/>
            <a:ext cx="2523744" cy="3593592"/>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53144" y="1847088"/>
            <a:ext cx="2523744" cy="118872"/>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2212848"/>
            <a:ext cx="2194560" cy="356616"/>
          </a:xfrm>
          <a:prstGeom prst="rect">
            <a:avLst/>
          </a:prstGeom>
          <a:noFill/>
        </p:spPr>
        <p:txBody>
          <a:bodyPr wrap="square" lIns="0" tIns="0" rIns="0" bIns="0" anchor="t">
            <a:spAutoFit/>
          </a:bodyPr>
          <a:lstStyle/>
          <a:p>
            <a:pPr>
              <a:spcAft>
                <a:spcPts val="300"/>
              </a:spcAft>
              <a:defRPr sz="2000" b="1">
                <a:solidFill>
                  <a:srgbClr val="19283D"/>
                </a:solidFill>
                <a:latin typeface="Aptos"/>
              </a:defRPr>
            </a:pPr>
            <a:r>
              <a:t>Appliances</a:t>
            </a:r>
          </a:p>
        </p:txBody>
      </p:sp>
      <p:sp>
        <p:nvSpPr>
          <p:cNvPr id="27" name="TextBox 26"/>
          <p:cNvSpPr txBox="1"/>
          <p:nvPr/>
        </p:nvSpPr>
        <p:spPr>
          <a:xfrm>
            <a:off x="9326880" y="2852928"/>
            <a:ext cx="2212848" cy="1069848"/>
          </a:xfrm>
          <a:prstGeom prst="rect">
            <a:avLst/>
          </a:prstGeom>
          <a:noFill/>
        </p:spPr>
        <p:txBody>
          <a:bodyPr wrap="square" lIns="0" tIns="0" rIns="0" bIns="0" anchor="t">
            <a:spAutoFit/>
          </a:bodyPr>
          <a:lstStyle/>
          <a:p>
            <a:pPr>
              <a:spcAft>
                <a:spcPts val="300"/>
              </a:spcAft>
              <a:defRPr sz="1350" b="1">
                <a:solidFill>
                  <a:srgbClr val="269365"/>
                </a:solidFill>
                <a:latin typeface="Aptos"/>
              </a:defRPr>
            </a:pPr>
            <a:r>
              <a:t>heat_breakfast_preloaded</a:t>
            </a:r>
          </a:p>
          <a:p>
            <a:pPr>
              <a:spcAft>
                <a:spcPts val="300"/>
              </a:spcAft>
              <a:defRPr sz="1350" b="1">
                <a:solidFill>
                  <a:srgbClr val="269365"/>
                </a:solidFill>
                <a:latin typeface="Aptos"/>
              </a:defRPr>
            </a:pPr>
            <a:r>
              <a:t>heat_breakfast_combo</a:t>
            </a:r>
          </a:p>
          <a:p>
            <a:pPr>
              <a:spcAft>
                <a:spcPts val="300"/>
              </a:spcAft>
              <a:defRPr sz="1350" b="1">
                <a:solidFill>
                  <a:srgbClr val="269365"/>
                </a:solidFill>
                <a:latin typeface="Aptos"/>
              </a:defRPr>
            </a:pPr>
            <a:r>
              <a:t>heat_breakfast</a:t>
            </a:r>
          </a:p>
        </p:txBody>
      </p:sp>
      <p:sp>
        <p:nvSpPr>
          <p:cNvPr id="28" name="TextBox 27"/>
          <p:cNvSpPr txBox="1"/>
          <p:nvPr/>
        </p:nvSpPr>
        <p:spPr>
          <a:xfrm>
            <a:off x="9326880" y="4315968"/>
            <a:ext cx="2185416" cy="859536"/>
          </a:xfrm>
          <a:prstGeom prst="rect">
            <a:avLst/>
          </a:prstGeom>
          <a:noFill/>
        </p:spPr>
        <p:txBody>
          <a:bodyPr wrap="square" lIns="0" tIns="0" rIns="0" bIns="0" anchor="t">
            <a:spAutoFit/>
          </a:bodyPr>
          <a:lstStyle/>
          <a:p>
            <a:pPr>
              <a:spcAft>
                <a:spcPts val="300"/>
              </a:spcAft>
              <a:defRPr sz="1300" b="0">
                <a:solidFill>
                  <a:srgbClr val="58697B"/>
                </a:solidFill>
                <a:latin typeface="Aptos"/>
              </a:defRPr>
            </a:pPr>
            <a:r>
              <a:t>Operate fridge/microwave and serve food</a:t>
            </a:r>
          </a:p>
        </p:txBody>
      </p:sp>
      <p:sp>
        <p:nvSpPr>
          <p:cNvPr id="29" name="TextBox 28"/>
          <p:cNvSpPr txBox="1"/>
          <p:nvPr/>
        </p:nvSpPr>
        <p:spPr>
          <a:xfrm>
            <a:off x="603504" y="5861304"/>
            <a:ext cx="10954512" cy="292608"/>
          </a:xfrm>
          <a:prstGeom prst="rect">
            <a:avLst/>
          </a:prstGeom>
          <a:noFill/>
        </p:spPr>
        <p:txBody>
          <a:bodyPr wrap="square" lIns="0" tIns="0" rIns="0" bIns="0" anchor="t">
            <a:spAutoFit/>
          </a:bodyPr>
          <a:lstStyle/>
          <a:p>
            <a:pPr>
              <a:spcAft>
                <a:spcPts val="300"/>
              </a:spcAft>
              <a:defRPr sz="1400" b="1">
                <a:solidFill>
                  <a:srgbClr val="101F34"/>
                </a:solidFill>
                <a:latin typeface="Aptos"/>
              </a:defRPr>
            </a:pPr>
            <a:r>
              <a:t>Representative rollouts and result JSONs are included in the repository.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210312"/>
          </a:xfrm>
          <a:prstGeom prst="rect">
            <a:avLst/>
          </a:prstGeom>
          <a:noFill/>
        </p:spPr>
        <p:txBody>
          <a:bodyPr wrap="square" lIns="0" tIns="0" rIns="0" bIns="0" anchor="t">
            <a:spAutoFit/>
          </a:bodyPr>
          <a:lstStyle/>
          <a:p>
            <a:pPr>
              <a:spcAft>
                <a:spcPts val="300"/>
              </a:spcAft>
              <a:defRPr sz="1000" b="1">
                <a:solidFill>
                  <a:srgbClr val="008F93"/>
                </a:solidFill>
                <a:latin typeface="Aptos"/>
              </a:defRPr>
            </a:pPr>
            <a:r>
              <a:t>DEMO</a:t>
            </a:r>
          </a:p>
        </p:txBody>
      </p:sp>
      <p:sp>
        <p:nvSpPr>
          <p:cNvPr id="4" name="TextBox 3"/>
          <p:cNvSpPr txBox="1"/>
          <p:nvPr/>
        </p:nvSpPr>
        <p:spPr>
          <a:xfrm>
            <a:off x="502920" y="585216"/>
            <a:ext cx="11018520" cy="685800"/>
          </a:xfrm>
          <a:prstGeom prst="rect">
            <a:avLst/>
          </a:prstGeom>
          <a:noFill/>
        </p:spPr>
        <p:txBody>
          <a:bodyPr wrap="square" lIns="0" tIns="0" rIns="0" bIns="0" anchor="t">
            <a:spAutoFit/>
          </a:bodyPr>
          <a:lstStyle/>
          <a:p>
            <a:pPr>
              <a:spcAft>
                <a:spcPts val="300"/>
              </a:spcAft>
              <a:defRPr sz="2800" b="1">
                <a:solidFill>
                  <a:srgbClr val="19283D"/>
                </a:solidFill>
                <a:latin typeface="Aptos"/>
              </a:defRPr>
            </a:pPr>
            <a:r>
              <a:t>Task showcase: three different behaviors</a:t>
            </a:r>
          </a:p>
        </p:txBody>
      </p:sp>
      <p:sp>
        <p:nvSpPr>
          <p:cNvPr id="5" name="TextBox 4"/>
          <p:cNvSpPr txBox="1"/>
          <p:nvPr/>
        </p:nvSpPr>
        <p:spPr>
          <a:xfrm>
            <a:off x="521207" y="1261872"/>
            <a:ext cx="10972800" cy="393192"/>
          </a:xfrm>
          <a:prstGeom prst="rect">
            <a:avLst/>
          </a:prstGeom>
          <a:noFill/>
        </p:spPr>
        <p:txBody>
          <a:bodyPr wrap="square" lIns="0" tIns="0" rIns="0" bIns="0" anchor="t">
            <a:spAutoFit/>
          </a:bodyPr>
          <a:lstStyle/>
          <a:p>
            <a:pPr>
              <a:spcAft>
                <a:spcPts val="300"/>
              </a:spcAft>
              <a:defRPr sz="1250" b="0">
                <a:solidFill>
                  <a:srgbClr val="58697B"/>
                </a:solidFill>
                <a:latin typeface="Aptos"/>
              </a:defRPr>
            </a:pPr>
            <a:r>
              <a:t>Use the recorded videos to show the system acting in the house.</a:t>
            </a:r>
          </a:p>
        </p:txBody>
      </p:sp>
      <p:sp>
        <p:nvSpPr>
          <p:cNvPr id="6" name="Rectangle 5"/>
          <p:cNvSpPr/>
          <p:nvPr/>
        </p:nvSpPr>
        <p:spPr>
          <a:xfrm>
            <a:off x="502920" y="6473952"/>
            <a:ext cx="11183112" cy="10972"/>
          </a:xfrm>
          <a:prstGeom prst="rect">
            <a:avLst/>
          </a:prstGeom>
          <a:solidFill>
            <a:srgbClr val="DB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064" y="6519672"/>
            <a:ext cx="7315200" cy="164592"/>
          </a:xfrm>
          <a:prstGeom prst="rect">
            <a:avLst/>
          </a:prstGeom>
          <a:noFill/>
        </p:spPr>
        <p:txBody>
          <a:bodyPr wrap="square" lIns="0" tIns="0" rIns="0" bIns="0" anchor="t">
            <a:spAutoFit/>
          </a:bodyPr>
          <a:lstStyle/>
          <a:p>
            <a:pPr>
              <a:spcAft>
                <a:spcPts val="300"/>
              </a:spcAft>
              <a:defRPr sz="850" b="0">
                <a:solidFill>
                  <a:srgbClr val="58697B"/>
                </a:solidFill>
                <a:latin typeface="Aptos"/>
              </a:defRPr>
            </a:pPr>
            <a:r>
              <a:t>ZenoBench  ·  CMU Agentic Library</a:t>
            </a:r>
          </a:p>
        </p:txBody>
      </p:sp>
      <p:sp>
        <p:nvSpPr>
          <p:cNvPr id="8" name="TextBox 7"/>
          <p:cNvSpPr txBox="1"/>
          <p:nvPr/>
        </p:nvSpPr>
        <p:spPr>
          <a:xfrm>
            <a:off x="11100816" y="6510528"/>
            <a:ext cx="566928" cy="182880"/>
          </a:xfrm>
          <a:prstGeom prst="rect">
            <a:avLst/>
          </a:prstGeom>
          <a:noFill/>
        </p:spPr>
        <p:txBody>
          <a:bodyPr wrap="square" lIns="0" tIns="0" rIns="0" bIns="0" anchor="t">
            <a:spAutoFit/>
          </a:bodyPr>
          <a:lstStyle/>
          <a:p>
            <a:pPr algn="r">
              <a:spcAft>
                <a:spcPts val="300"/>
              </a:spcAft>
              <a:defRPr sz="850" b="0">
                <a:solidFill>
                  <a:srgbClr val="58697B"/>
                </a:solidFill>
                <a:latin typeface="Aptos"/>
              </a:defRPr>
            </a:pPr>
            <a:r>
              <a:t>07 / 12</a:t>
            </a:r>
          </a:p>
        </p:txBody>
      </p:sp>
      <p:sp>
        <p:nvSpPr>
          <p:cNvPr id="9" name="Rounded Rectangle 8"/>
          <p:cNvSpPr/>
          <p:nvPr/>
        </p:nvSpPr>
        <p:spPr>
          <a:xfrm>
            <a:off x="548640" y="1819656"/>
            <a:ext cx="3474720" cy="4023360"/>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llect_fruits.jpg">
            <a:hlinkClick r:id="rId1"/>
          </p:cNvPr>
          <p:cNvPicPr>
            <a:picLocks noChangeAspect="1"/>
          </p:cNvPicPr>
          <p:nvPr/>
        </p:nvPicPr>
        <p:blipFill>
          <a:blip r:embed="rId2"/>
          <a:srcRect l="5575" r="5575"/>
          <a:stretch>
            <a:fillRect/>
          </a:stretch>
        </p:blipFill>
        <p:spPr>
          <a:xfrm>
            <a:off x="630936" y="1901952"/>
            <a:ext cx="3310128" cy="2093976"/>
          </a:xfrm>
          <a:prstGeom prst="rect">
            <a:avLst/>
          </a:prstGeom>
        </p:spPr>
      </p:pic>
      <p:sp>
        <p:nvSpPr>
          <p:cNvPr id="11" name="Rectangle 10"/>
          <p:cNvSpPr/>
          <p:nvPr/>
        </p:nvSpPr>
        <p:spPr>
          <a:xfrm>
            <a:off x="630936" y="4078224"/>
            <a:ext cx="3310128" cy="7315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379976"/>
            <a:ext cx="3063240" cy="374904"/>
          </a:xfrm>
          <a:prstGeom prst="rect">
            <a:avLst/>
          </a:prstGeom>
          <a:noFill/>
        </p:spPr>
        <p:txBody>
          <a:bodyPr wrap="square" lIns="0" tIns="0" rIns="0" bIns="0" anchor="t">
            <a:spAutoFit/>
          </a:bodyPr>
          <a:lstStyle/>
          <a:p>
            <a:pPr>
              <a:spcAft>
                <a:spcPts val="300"/>
              </a:spcAft>
              <a:defRPr sz="1900" b="1">
                <a:solidFill>
                  <a:srgbClr val="19283D"/>
                </a:solidFill>
                <a:latin typeface="Aptos"/>
              </a:defRPr>
            </a:pPr>
            <a:r>
              <a:t>Collect fruits</a:t>
            </a:r>
          </a:p>
        </p:txBody>
      </p:sp>
      <p:sp>
        <p:nvSpPr>
          <p:cNvPr id="13" name="TextBox 12"/>
          <p:cNvSpPr txBox="1"/>
          <p:nvPr/>
        </p:nvSpPr>
        <p:spPr>
          <a:xfrm>
            <a:off x="758952" y="4901184"/>
            <a:ext cx="3054096" cy="667512"/>
          </a:xfrm>
          <a:prstGeom prst="rect">
            <a:avLst/>
          </a:prstGeom>
          <a:noFill/>
        </p:spPr>
        <p:txBody>
          <a:bodyPr wrap="square" lIns="0" tIns="0" rIns="0" bIns="0" anchor="t">
            <a:spAutoFit/>
          </a:bodyPr>
          <a:lstStyle/>
          <a:p>
            <a:pPr>
              <a:spcAft>
                <a:spcPts val="300"/>
              </a:spcAft>
              <a:defRPr sz="1340" b="0">
                <a:solidFill>
                  <a:srgbClr val="58697B"/>
                </a:solidFill>
                <a:latin typeface="Aptos"/>
              </a:defRPr>
            </a:pPr>
            <a:r>
              <a:t>Cross rooms; put two fruits into one container</a:t>
            </a:r>
          </a:p>
        </p:txBody>
      </p:sp>
      <p:sp>
        <p:nvSpPr>
          <p:cNvPr id="14" name="Rounded Rectangle 13"/>
          <p:cNvSpPr/>
          <p:nvPr/>
        </p:nvSpPr>
        <p:spPr>
          <a:xfrm>
            <a:off x="4370831" y="1819656"/>
            <a:ext cx="3474720" cy="4023360"/>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tidy_toys.jpg">
            <a:hlinkClick r:id="rId3"/>
          </p:cNvPr>
          <p:cNvPicPr>
            <a:picLocks noChangeAspect="1"/>
          </p:cNvPicPr>
          <p:nvPr/>
        </p:nvPicPr>
        <p:blipFill>
          <a:blip r:embed="rId4"/>
          <a:srcRect l="5575" r="5575"/>
          <a:stretch>
            <a:fillRect/>
          </a:stretch>
        </p:blipFill>
        <p:spPr>
          <a:xfrm>
            <a:off x="4453127" y="1901952"/>
            <a:ext cx="3310128" cy="2093976"/>
          </a:xfrm>
          <a:prstGeom prst="rect">
            <a:avLst/>
          </a:prstGeom>
        </p:spPr>
      </p:pic>
      <p:sp>
        <p:nvSpPr>
          <p:cNvPr id="16" name="Rectangle 15"/>
          <p:cNvSpPr/>
          <p:nvPr/>
        </p:nvSpPr>
        <p:spPr>
          <a:xfrm>
            <a:off x="4453127" y="4078224"/>
            <a:ext cx="3310128" cy="73152"/>
          </a:xfrm>
          <a:prstGeom prst="rect">
            <a:avLst/>
          </a:prstGeom>
          <a:solidFill>
            <a:srgbClr val="246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4379976"/>
            <a:ext cx="3063240" cy="374904"/>
          </a:xfrm>
          <a:prstGeom prst="rect">
            <a:avLst/>
          </a:prstGeom>
          <a:noFill/>
        </p:spPr>
        <p:txBody>
          <a:bodyPr wrap="square" lIns="0" tIns="0" rIns="0" bIns="0" anchor="t">
            <a:spAutoFit/>
          </a:bodyPr>
          <a:lstStyle/>
          <a:p>
            <a:pPr>
              <a:spcAft>
                <a:spcPts val="300"/>
              </a:spcAft>
              <a:defRPr sz="1900" b="1">
                <a:solidFill>
                  <a:srgbClr val="19283D"/>
                </a:solidFill>
                <a:latin typeface="Aptos"/>
              </a:defRPr>
            </a:pPr>
            <a:r>
              <a:t>Tidy toys</a:t>
            </a:r>
          </a:p>
        </p:txBody>
      </p:sp>
      <p:sp>
        <p:nvSpPr>
          <p:cNvPr id="18" name="TextBox 17"/>
          <p:cNvSpPr txBox="1"/>
          <p:nvPr/>
        </p:nvSpPr>
        <p:spPr>
          <a:xfrm>
            <a:off x="4581144" y="4901184"/>
            <a:ext cx="3054096" cy="667512"/>
          </a:xfrm>
          <a:prstGeom prst="rect">
            <a:avLst/>
          </a:prstGeom>
          <a:noFill/>
        </p:spPr>
        <p:txBody>
          <a:bodyPr wrap="square" lIns="0" tIns="0" rIns="0" bIns="0" anchor="t">
            <a:spAutoFit/>
          </a:bodyPr>
          <a:lstStyle/>
          <a:p>
            <a:pPr>
              <a:spcAft>
                <a:spcPts val="300"/>
              </a:spcAft>
              <a:defRPr sz="1340" b="0">
                <a:solidFill>
                  <a:srgbClr val="58697B"/>
                </a:solidFill>
                <a:latin typeface="Aptos"/>
              </a:defRPr>
            </a:pPr>
            <a:r>
              <a:t>Pick floor objects and store them</a:t>
            </a:r>
          </a:p>
        </p:txBody>
      </p:sp>
      <p:sp>
        <p:nvSpPr>
          <p:cNvPr id="19" name="Rounded Rectangle 18"/>
          <p:cNvSpPr/>
          <p:nvPr/>
        </p:nvSpPr>
        <p:spPr>
          <a:xfrm>
            <a:off x="8193023" y="1819656"/>
            <a:ext cx="3474720" cy="4023360"/>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helve_books.jpg">
            <a:hlinkClick r:id="rId5"/>
          </p:cNvPr>
          <p:cNvPicPr>
            <a:picLocks noChangeAspect="1"/>
          </p:cNvPicPr>
          <p:nvPr/>
        </p:nvPicPr>
        <p:blipFill>
          <a:blip r:embed="rId6"/>
          <a:srcRect l="5575" r="5575"/>
          <a:stretch>
            <a:fillRect/>
          </a:stretch>
        </p:blipFill>
        <p:spPr>
          <a:xfrm>
            <a:off x="8275319" y="1901952"/>
            <a:ext cx="3310128" cy="2093976"/>
          </a:xfrm>
          <a:prstGeom prst="rect">
            <a:avLst/>
          </a:prstGeom>
        </p:spPr>
      </p:pic>
      <p:sp>
        <p:nvSpPr>
          <p:cNvPr id="21" name="Rectangle 20"/>
          <p:cNvSpPr/>
          <p:nvPr/>
        </p:nvSpPr>
        <p:spPr>
          <a:xfrm>
            <a:off x="8275319" y="4078224"/>
            <a:ext cx="3310128" cy="73152"/>
          </a:xfrm>
          <a:prstGeom prst="rect">
            <a:avLst/>
          </a:prstGeom>
          <a:solidFill>
            <a:srgbClr val="EFA3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3336" y="4379976"/>
            <a:ext cx="3063240" cy="374904"/>
          </a:xfrm>
          <a:prstGeom prst="rect">
            <a:avLst/>
          </a:prstGeom>
          <a:noFill/>
        </p:spPr>
        <p:txBody>
          <a:bodyPr wrap="square" lIns="0" tIns="0" rIns="0" bIns="0" anchor="t">
            <a:spAutoFit/>
          </a:bodyPr>
          <a:lstStyle/>
          <a:p>
            <a:pPr>
              <a:spcAft>
                <a:spcPts val="300"/>
              </a:spcAft>
              <a:defRPr sz="1900" b="1">
                <a:solidFill>
                  <a:srgbClr val="19283D"/>
                </a:solidFill>
                <a:latin typeface="Aptos"/>
              </a:defRPr>
            </a:pPr>
            <a:r>
              <a:t>Shelve books</a:t>
            </a:r>
          </a:p>
        </p:txBody>
      </p:sp>
      <p:sp>
        <p:nvSpPr>
          <p:cNvPr id="23" name="TextBox 22"/>
          <p:cNvSpPr txBox="1"/>
          <p:nvPr/>
        </p:nvSpPr>
        <p:spPr>
          <a:xfrm>
            <a:off x="8403336" y="4901184"/>
            <a:ext cx="3054096" cy="667512"/>
          </a:xfrm>
          <a:prstGeom prst="rect">
            <a:avLst/>
          </a:prstGeom>
          <a:noFill/>
        </p:spPr>
        <p:txBody>
          <a:bodyPr wrap="square" lIns="0" tIns="0" rIns="0" bIns="0" anchor="t">
            <a:spAutoFit/>
          </a:bodyPr>
          <a:lstStyle/>
          <a:p>
            <a:pPr>
              <a:spcAft>
                <a:spcPts val="300"/>
              </a:spcAft>
              <a:defRPr sz="1340" b="0">
                <a:solidFill>
                  <a:srgbClr val="58697B"/>
                </a:solidFill>
                <a:latin typeface="Aptos"/>
              </a:defRPr>
            </a:pPr>
            <a:r>
              <a:t>Handle flat books and place them on shelves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210312"/>
          </a:xfrm>
          <a:prstGeom prst="rect">
            <a:avLst/>
          </a:prstGeom>
          <a:noFill/>
        </p:spPr>
        <p:txBody>
          <a:bodyPr wrap="square" lIns="0" tIns="0" rIns="0" bIns="0" anchor="t">
            <a:spAutoFit/>
          </a:bodyPr>
          <a:lstStyle/>
          <a:p>
            <a:pPr>
              <a:spcAft>
                <a:spcPts val="300"/>
              </a:spcAft>
              <a:defRPr sz="1000" b="1">
                <a:solidFill>
                  <a:srgbClr val="008F93"/>
                </a:solidFill>
                <a:latin typeface="Aptos"/>
              </a:defRPr>
            </a:pPr>
            <a:r>
              <a:t>TASK DEMO</a:t>
            </a:r>
          </a:p>
        </p:txBody>
      </p:sp>
      <p:sp>
        <p:nvSpPr>
          <p:cNvPr id="4" name="TextBox 3"/>
          <p:cNvSpPr txBox="1"/>
          <p:nvPr/>
        </p:nvSpPr>
        <p:spPr>
          <a:xfrm>
            <a:off x="502920" y="585216"/>
            <a:ext cx="11018520" cy="685800"/>
          </a:xfrm>
          <a:prstGeom prst="rect">
            <a:avLst/>
          </a:prstGeom>
          <a:noFill/>
        </p:spPr>
        <p:txBody>
          <a:bodyPr wrap="square" lIns="0" tIns="0" rIns="0" bIns="0" anchor="t">
            <a:spAutoFit/>
          </a:bodyPr>
          <a:lstStyle/>
          <a:p>
            <a:pPr>
              <a:spcAft>
                <a:spcPts val="300"/>
              </a:spcAft>
              <a:defRPr sz="2800" b="1">
                <a:solidFill>
                  <a:srgbClr val="19283D"/>
                </a:solidFill>
                <a:latin typeface="Aptos"/>
              </a:defRPr>
            </a:pPr>
            <a:r>
              <a:t>One longer example: fridge → microwave → table</a:t>
            </a:r>
          </a:p>
        </p:txBody>
      </p:sp>
      <p:sp>
        <p:nvSpPr>
          <p:cNvPr id="5" name="TextBox 4"/>
          <p:cNvSpPr txBox="1"/>
          <p:nvPr/>
        </p:nvSpPr>
        <p:spPr>
          <a:xfrm>
            <a:off x="521207" y="1261872"/>
            <a:ext cx="10972800" cy="393192"/>
          </a:xfrm>
          <a:prstGeom prst="rect">
            <a:avLst/>
          </a:prstGeom>
          <a:noFill/>
        </p:spPr>
        <p:txBody>
          <a:bodyPr wrap="square" lIns="0" tIns="0" rIns="0" bIns="0" anchor="t">
            <a:spAutoFit/>
          </a:bodyPr>
          <a:lstStyle/>
          <a:p>
            <a:pPr>
              <a:spcAft>
                <a:spcPts val="300"/>
              </a:spcAft>
              <a:defRPr sz="1250" b="0">
                <a:solidFill>
                  <a:srgbClr val="58697B"/>
                </a:solidFill>
                <a:latin typeface="Aptos"/>
              </a:defRPr>
            </a:pPr>
            <a:r>
              <a:t>A single goal ties together object handling, appliance use and movement through the home.</a:t>
            </a:r>
          </a:p>
        </p:txBody>
      </p:sp>
      <p:sp>
        <p:nvSpPr>
          <p:cNvPr id="6" name="Rectangle 5"/>
          <p:cNvSpPr/>
          <p:nvPr/>
        </p:nvSpPr>
        <p:spPr>
          <a:xfrm>
            <a:off x="502920" y="6473952"/>
            <a:ext cx="11183112" cy="10972"/>
          </a:xfrm>
          <a:prstGeom prst="rect">
            <a:avLst/>
          </a:prstGeom>
          <a:solidFill>
            <a:srgbClr val="DB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064" y="6519672"/>
            <a:ext cx="7315200" cy="164592"/>
          </a:xfrm>
          <a:prstGeom prst="rect">
            <a:avLst/>
          </a:prstGeom>
          <a:noFill/>
        </p:spPr>
        <p:txBody>
          <a:bodyPr wrap="square" lIns="0" tIns="0" rIns="0" bIns="0" anchor="t">
            <a:spAutoFit/>
          </a:bodyPr>
          <a:lstStyle/>
          <a:p>
            <a:pPr>
              <a:spcAft>
                <a:spcPts val="300"/>
              </a:spcAft>
              <a:defRPr sz="850" b="0">
                <a:solidFill>
                  <a:srgbClr val="58697B"/>
                </a:solidFill>
                <a:latin typeface="Aptos"/>
              </a:defRPr>
            </a:pPr>
            <a:r>
              <a:t>ZenoBench  ·  CMU Agentic Library</a:t>
            </a:r>
          </a:p>
        </p:txBody>
      </p:sp>
      <p:sp>
        <p:nvSpPr>
          <p:cNvPr id="8" name="TextBox 7"/>
          <p:cNvSpPr txBox="1"/>
          <p:nvPr/>
        </p:nvSpPr>
        <p:spPr>
          <a:xfrm>
            <a:off x="11100816" y="6510528"/>
            <a:ext cx="566928" cy="182880"/>
          </a:xfrm>
          <a:prstGeom prst="rect">
            <a:avLst/>
          </a:prstGeom>
          <a:noFill/>
        </p:spPr>
        <p:txBody>
          <a:bodyPr wrap="square" lIns="0" tIns="0" rIns="0" bIns="0" anchor="t">
            <a:spAutoFit/>
          </a:bodyPr>
          <a:lstStyle/>
          <a:p>
            <a:pPr algn="r">
              <a:spcAft>
                <a:spcPts val="300"/>
              </a:spcAft>
              <a:defRPr sz="850" b="0">
                <a:solidFill>
                  <a:srgbClr val="58697B"/>
                </a:solidFill>
                <a:latin typeface="Aptos"/>
              </a:defRPr>
            </a:pPr>
            <a:r>
              <a:t>08 / 12</a:t>
            </a:r>
          </a:p>
        </p:txBody>
      </p:sp>
      <p:sp>
        <p:nvSpPr>
          <p:cNvPr id="9" name="Rounded Rectangle 8"/>
          <p:cNvSpPr/>
          <p:nvPr/>
        </p:nvSpPr>
        <p:spPr>
          <a:xfrm>
            <a:off x="539496" y="1819656"/>
            <a:ext cx="3474720" cy="3200400"/>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eat_fridge.jpg">
            <a:hlinkClick r:id="rId1"/>
          </p:cNvPr>
          <p:cNvPicPr>
            <a:picLocks noChangeAspect="1"/>
          </p:cNvPicPr>
          <p:nvPr/>
        </p:nvPicPr>
        <p:blipFill>
          <a:blip r:embed="rId2"/>
          <a:srcRect l="5960" r="5960"/>
          <a:stretch>
            <a:fillRect/>
          </a:stretch>
        </p:blipFill>
        <p:spPr>
          <a:xfrm>
            <a:off x="621792" y="1901952"/>
            <a:ext cx="3310128" cy="2112264"/>
          </a:xfrm>
          <a:prstGeom prst="rect">
            <a:avLst/>
          </a:prstGeom>
        </p:spPr>
      </p:pic>
      <p:sp>
        <p:nvSpPr>
          <p:cNvPr id="11" name="TextBox 10"/>
          <p:cNvSpPr txBox="1"/>
          <p:nvPr/>
        </p:nvSpPr>
        <p:spPr>
          <a:xfrm>
            <a:off x="731519" y="4279392"/>
            <a:ext cx="3108960" cy="365760"/>
          </a:xfrm>
          <a:prstGeom prst="rect">
            <a:avLst/>
          </a:prstGeom>
          <a:noFill/>
        </p:spPr>
        <p:txBody>
          <a:bodyPr wrap="square" lIns="0" tIns="0" rIns="0" bIns="0" anchor="t">
            <a:spAutoFit/>
          </a:bodyPr>
          <a:lstStyle/>
          <a:p>
            <a:pPr>
              <a:spcAft>
                <a:spcPts val="300"/>
              </a:spcAft>
              <a:defRPr sz="1750" b="1">
                <a:solidFill>
                  <a:srgbClr val="19283D"/>
                </a:solidFill>
                <a:latin typeface="Aptos"/>
              </a:defRPr>
            </a:pPr>
            <a:r>
              <a:t>Take from fridge</a:t>
            </a:r>
          </a:p>
        </p:txBody>
      </p:sp>
      <p:sp>
        <p:nvSpPr>
          <p:cNvPr id="12" name="TextBox 11"/>
          <p:cNvSpPr txBox="1"/>
          <p:nvPr/>
        </p:nvSpPr>
        <p:spPr>
          <a:xfrm>
            <a:off x="4069080" y="2788920"/>
            <a:ext cx="256032" cy="374904"/>
          </a:xfrm>
          <a:prstGeom prst="rect">
            <a:avLst/>
          </a:prstGeom>
          <a:noFill/>
        </p:spPr>
        <p:txBody>
          <a:bodyPr wrap="square" lIns="0" tIns="0" rIns="0" bIns="0" anchor="t">
            <a:spAutoFit/>
          </a:bodyPr>
          <a:lstStyle/>
          <a:p>
            <a:pPr>
              <a:spcAft>
                <a:spcPts val="300"/>
              </a:spcAft>
              <a:defRPr sz="2400" b="1">
                <a:solidFill>
                  <a:srgbClr val="2468BC"/>
                </a:solidFill>
                <a:latin typeface="Aptos"/>
              </a:defRPr>
            </a:pPr>
            <a:r>
              <a:t>→</a:t>
            </a:r>
          </a:p>
        </p:txBody>
      </p:sp>
      <p:sp>
        <p:nvSpPr>
          <p:cNvPr id="13" name="Rounded Rectangle 12"/>
          <p:cNvSpPr/>
          <p:nvPr/>
        </p:nvSpPr>
        <p:spPr>
          <a:xfrm>
            <a:off x="4361688" y="1819656"/>
            <a:ext cx="3474720" cy="3200400"/>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eat_microwave.jpg">
            <a:hlinkClick r:id="rId1"/>
          </p:cNvPr>
          <p:cNvPicPr>
            <a:picLocks noChangeAspect="1"/>
          </p:cNvPicPr>
          <p:nvPr/>
        </p:nvPicPr>
        <p:blipFill>
          <a:blip r:embed="rId3"/>
          <a:srcRect l="5960" r="5960"/>
          <a:stretch>
            <a:fillRect/>
          </a:stretch>
        </p:blipFill>
        <p:spPr>
          <a:xfrm>
            <a:off x="4443983" y="1901952"/>
            <a:ext cx="3310128" cy="2112264"/>
          </a:xfrm>
          <a:prstGeom prst="rect">
            <a:avLst/>
          </a:prstGeom>
        </p:spPr>
      </p:pic>
      <p:sp>
        <p:nvSpPr>
          <p:cNvPr id="15" name="TextBox 14"/>
          <p:cNvSpPr txBox="1"/>
          <p:nvPr/>
        </p:nvSpPr>
        <p:spPr>
          <a:xfrm>
            <a:off x="4553712" y="4279392"/>
            <a:ext cx="3108960" cy="365760"/>
          </a:xfrm>
          <a:prstGeom prst="rect">
            <a:avLst/>
          </a:prstGeom>
          <a:noFill/>
        </p:spPr>
        <p:txBody>
          <a:bodyPr wrap="square" lIns="0" tIns="0" rIns="0" bIns="0" anchor="t">
            <a:spAutoFit/>
          </a:bodyPr>
          <a:lstStyle/>
          <a:p>
            <a:pPr>
              <a:spcAft>
                <a:spcPts val="300"/>
              </a:spcAft>
              <a:defRPr sz="1750" b="1">
                <a:solidFill>
                  <a:srgbClr val="19283D"/>
                </a:solidFill>
                <a:latin typeface="Aptos"/>
              </a:defRPr>
            </a:pPr>
            <a:r>
              <a:t>Heat in microwave</a:t>
            </a:r>
          </a:p>
        </p:txBody>
      </p:sp>
      <p:sp>
        <p:nvSpPr>
          <p:cNvPr id="16" name="TextBox 15"/>
          <p:cNvSpPr txBox="1"/>
          <p:nvPr/>
        </p:nvSpPr>
        <p:spPr>
          <a:xfrm>
            <a:off x="7891271" y="2788920"/>
            <a:ext cx="256032" cy="374904"/>
          </a:xfrm>
          <a:prstGeom prst="rect">
            <a:avLst/>
          </a:prstGeom>
          <a:noFill/>
        </p:spPr>
        <p:txBody>
          <a:bodyPr wrap="square" lIns="0" tIns="0" rIns="0" bIns="0" anchor="t">
            <a:spAutoFit/>
          </a:bodyPr>
          <a:lstStyle/>
          <a:p>
            <a:pPr>
              <a:spcAft>
                <a:spcPts val="300"/>
              </a:spcAft>
              <a:defRPr sz="2400" b="1">
                <a:solidFill>
                  <a:srgbClr val="2468BC"/>
                </a:solidFill>
                <a:latin typeface="Aptos"/>
              </a:defRPr>
            </a:pPr>
            <a:r>
              <a:t>→</a:t>
            </a:r>
          </a:p>
        </p:txBody>
      </p:sp>
      <p:sp>
        <p:nvSpPr>
          <p:cNvPr id="17" name="Rounded Rectangle 16"/>
          <p:cNvSpPr/>
          <p:nvPr/>
        </p:nvSpPr>
        <p:spPr>
          <a:xfrm>
            <a:off x="8183879" y="1819656"/>
            <a:ext cx="3474720" cy="3200400"/>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t_table.jpg">
            <a:hlinkClick r:id="rId1"/>
          </p:cNvPr>
          <p:cNvPicPr>
            <a:picLocks noChangeAspect="1"/>
          </p:cNvPicPr>
          <p:nvPr/>
        </p:nvPicPr>
        <p:blipFill>
          <a:blip r:embed="rId4"/>
          <a:srcRect l="5960" r="5960"/>
          <a:stretch>
            <a:fillRect/>
          </a:stretch>
        </p:blipFill>
        <p:spPr>
          <a:xfrm>
            <a:off x="8266175" y="1901952"/>
            <a:ext cx="3310128" cy="2112264"/>
          </a:xfrm>
          <a:prstGeom prst="rect">
            <a:avLst/>
          </a:prstGeom>
        </p:spPr>
      </p:pic>
      <p:sp>
        <p:nvSpPr>
          <p:cNvPr id="19" name="TextBox 18"/>
          <p:cNvSpPr txBox="1"/>
          <p:nvPr/>
        </p:nvSpPr>
        <p:spPr>
          <a:xfrm>
            <a:off x="8375904" y="4279392"/>
            <a:ext cx="3108960" cy="365760"/>
          </a:xfrm>
          <a:prstGeom prst="rect">
            <a:avLst/>
          </a:prstGeom>
          <a:noFill/>
        </p:spPr>
        <p:txBody>
          <a:bodyPr wrap="square" lIns="0" tIns="0" rIns="0" bIns="0" anchor="t">
            <a:spAutoFit/>
          </a:bodyPr>
          <a:lstStyle/>
          <a:p>
            <a:pPr>
              <a:spcAft>
                <a:spcPts val="300"/>
              </a:spcAft>
              <a:defRPr sz="1750" b="1">
                <a:solidFill>
                  <a:srgbClr val="19283D"/>
                </a:solidFill>
                <a:latin typeface="Aptos"/>
              </a:defRPr>
            </a:pPr>
            <a:r>
              <a:t>Serve at table</a:t>
            </a:r>
          </a:p>
        </p:txBody>
      </p:sp>
      <p:sp>
        <p:nvSpPr>
          <p:cNvPr id="20" name="Rounded Rectangle 19"/>
          <p:cNvSpPr/>
          <p:nvPr/>
        </p:nvSpPr>
        <p:spPr>
          <a:xfrm>
            <a:off x="603504" y="5330952"/>
            <a:ext cx="10981944" cy="530352"/>
          </a:xfrm>
          <a:prstGeom prst="roundRect">
            <a:avLst/>
          </a:prstGeom>
          <a:solidFill>
            <a:srgbClr val="E7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477256"/>
            <a:ext cx="10533888" cy="283464"/>
          </a:xfrm>
          <a:prstGeom prst="rect">
            <a:avLst/>
          </a:prstGeom>
          <a:noFill/>
        </p:spPr>
        <p:txBody>
          <a:bodyPr wrap="square" lIns="0" tIns="0" rIns="0" bIns="0" anchor="t">
            <a:spAutoFit/>
          </a:bodyPr>
          <a:lstStyle/>
          <a:p>
            <a:pPr>
              <a:spcAft>
                <a:spcPts val="300"/>
              </a:spcAft>
              <a:defRPr sz="1500" b="1">
                <a:solidFill>
                  <a:srgbClr val="269365"/>
                </a:solidFill>
                <a:latin typeface="Aptos"/>
              </a:defRPr>
            </a:pPr>
            <a:r>
              <a:t>Recorded run: all task goals met; oatmeal served warm, doors closed, no object dropped.</a:t>
            </a:r>
          </a:p>
        </p:txBody>
      </p:sp>
      <p:sp>
        <p:nvSpPr>
          <p:cNvPr id="22" name="TextBox 21"/>
          <p:cNvSpPr txBox="1"/>
          <p:nvPr/>
        </p:nvSpPr>
        <p:spPr>
          <a:xfrm>
            <a:off x="630936" y="6035040"/>
            <a:ext cx="10899648" cy="228600"/>
          </a:xfrm>
          <a:prstGeom prst="rect">
            <a:avLst/>
          </a:prstGeom>
          <a:noFill/>
        </p:spPr>
        <p:txBody>
          <a:bodyPr wrap="square" lIns="0" tIns="0" rIns="0" bIns="0" anchor="t">
            <a:spAutoFit/>
          </a:bodyPr>
          <a:lstStyle/>
          <a:p>
            <a:pPr>
              <a:spcAft>
                <a:spcPts val="300"/>
              </a:spcAft>
              <a:defRPr sz="1080" b="0">
                <a:solidFill>
                  <a:srgbClr val="58697B"/>
                </a:solidFill>
                <a:latin typeface="Aptos"/>
              </a:defRPr>
            </a:pPr>
            <a:r>
              <a:t>One representative rollout; not a multi-seed benchmark result.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210312"/>
          </a:xfrm>
          <a:prstGeom prst="rect">
            <a:avLst/>
          </a:prstGeom>
          <a:noFill/>
        </p:spPr>
        <p:txBody>
          <a:bodyPr wrap="square" lIns="0" tIns="0" rIns="0" bIns="0" anchor="t">
            <a:spAutoFit/>
          </a:bodyPr>
          <a:lstStyle/>
          <a:p>
            <a:pPr>
              <a:spcAft>
                <a:spcPts val="300"/>
              </a:spcAft>
              <a:defRPr sz="1000" b="1">
                <a:solidFill>
                  <a:srgbClr val="008F93"/>
                </a:solidFill>
                <a:latin typeface="Aptos"/>
              </a:defRPr>
            </a:pPr>
            <a:r>
              <a:t>TASK RESULTS</a:t>
            </a:r>
          </a:p>
        </p:txBody>
      </p:sp>
      <p:sp>
        <p:nvSpPr>
          <p:cNvPr id="4" name="TextBox 3"/>
          <p:cNvSpPr txBox="1"/>
          <p:nvPr/>
        </p:nvSpPr>
        <p:spPr>
          <a:xfrm>
            <a:off x="502920" y="585216"/>
            <a:ext cx="11018520" cy="685800"/>
          </a:xfrm>
          <a:prstGeom prst="rect">
            <a:avLst/>
          </a:prstGeom>
          <a:noFill/>
        </p:spPr>
        <p:txBody>
          <a:bodyPr wrap="square" lIns="0" tIns="0" rIns="0" bIns="0" anchor="t">
            <a:spAutoFit/>
          </a:bodyPr>
          <a:lstStyle/>
          <a:p>
            <a:pPr>
              <a:spcAft>
                <a:spcPts val="300"/>
              </a:spcAft>
              <a:defRPr sz="2800" b="1">
                <a:solidFill>
                  <a:srgbClr val="19283D"/>
                </a:solidFill>
                <a:latin typeface="Aptos"/>
              </a:defRPr>
            </a:pPr>
            <a:r>
              <a:t>What whole tasks run today?</a:t>
            </a:r>
          </a:p>
        </p:txBody>
      </p:sp>
      <p:sp>
        <p:nvSpPr>
          <p:cNvPr id="5" name="TextBox 4"/>
          <p:cNvSpPr txBox="1"/>
          <p:nvPr/>
        </p:nvSpPr>
        <p:spPr>
          <a:xfrm>
            <a:off x="521207" y="1261872"/>
            <a:ext cx="10972800" cy="393192"/>
          </a:xfrm>
          <a:prstGeom prst="rect">
            <a:avLst/>
          </a:prstGeom>
          <a:noFill/>
        </p:spPr>
        <p:txBody>
          <a:bodyPr wrap="square" lIns="0" tIns="0" rIns="0" bIns="0" anchor="t">
            <a:spAutoFit/>
          </a:bodyPr>
          <a:lstStyle/>
          <a:p>
            <a:pPr>
              <a:spcAft>
                <a:spcPts val="300"/>
              </a:spcAft>
              <a:defRPr sz="1250" b="0">
                <a:solidFill>
                  <a:srgbClr val="58697B"/>
                </a:solidFill>
                <a:latin typeface="Aptos"/>
              </a:defRPr>
            </a:pPr>
            <a:r>
              <a:t>Eight task definitions; results shown are representative recorded rollouts.</a:t>
            </a:r>
          </a:p>
        </p:txBody>
      </p:sp>
      <p:sp>
        <p:nvSpPr>
          <p:cNvPr id="6" name="Rectangle 5"/>
          <p:cNvSpPr/>
          <p:nvPr/>
        </p:nvSpPr>
        <p:spPr>
          <a:xfrm>
            <a:off x="502920" y="6473952"/>
            <a:ext cx="11183112" cy="10972"/>
          </a:xfrm>
          <a:prstGeom prst="rect">
            <a:avLst/>
          </a:prstGeom>
          <a:solidFill>
            <a:srgbClr val="DB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064" y="6519672"/>
            <a:ext cx="7315200" cy="164592"/>
          </a:xfrm>
          <a:prstGeom prst="rect">
            <a:avLst/>
          </a:prstGeom>
          <a:noFill/>
        </p:spPr>
        <p:txBody>
          <a:bodyPr wrap="square" lIns="0" tIns="0" rIns="0" bIns="0" anchor="t">
            <a:spAutoFit/>
          </a:bodyPr>
          <a:lstStyle/>
          <a:p>
            <a:pPr>
              <a:spcAft>
                <a:spcPts val="300"/>
              </a:spcAft>
              <a:defRPr sz="850" b="0">
                <a:solidFill>
                  <a:srgbClr val="58697B"/>
                </a:solidFill>
                <a:latin typeface="Aptos"/>
              </a:defRPr>
            </a:pPr>
            <a:r>
              <a:t>ZenoBench  ·  CMU Agentic Library</a:t>
            </a:r>
          </a:p>
        </p:txBody>
      </p:sp>
      <p:sp>
        <p:nvSpPr>
          <p:cNvPr id="8" name="TextBox 7"/>
          <p:cNvSpPr txBox="1"/>
          <p:nvPr/>
        </p:nvSpPr>
        <p:spPr>
          <a:xfrm>
            <a:off x="11100816" y="6510528"/>
            <a:ext cx="566928" cy="182880"/>
          </a:xfrm>
          <a:prstGeom prst="rect">
            <a:avLst/>
          </a:prstGeom>
          <a:noFill/>
        </p:spPr>
        <p:txBody>
          <a:bodyPr wrap="square" lIns="0" tIns="0" rIns="0" bIns="0" anchor="t">
            <a:spAutoFit/>
          </a:bodyPr>
          <a:lstStyle/>
          <a:p>
            <a:pPr algn="r">
              <a:spcAft>
                <a:spcPts val="300"/>
              </a:spcAft>
              <a:defRPr sz="850" b="0">
                <a:solidFill>
                  <a:srgbClr val="58697B"/>
                </a:solidFill>
                <a:latin typeface="Aptos"/>
              </a:defRPr>
            </a:pPr>
            <a:r>
              <a:t>09 / 12</a:t>
            </a:r>
          </a:p>
        </p:txBody>
      </p:sp>
      <p:sp>
        <p:nvSpPr>
          <p:cNvPr id="9" name="Rounded Rectangle 8"/>
          <p:cNvSpPr/>
          <p:nvPr/>
        </p:nvSpPr>
        <p:spPr>
          <a:xfrm>
            <a:off x="557784" y="1764792"/>
            <a:ext cx="5422392" cy="79552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1764792"/>
            <a:ext cx="68580" cy="795528"/>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92807"/>
            <a:ext cx="3182112" cy="256032"/>
          </a:xfrm>
          <a:prstGeom prst="rect">
            <a:avLst/>
          </a:prstGeom>
          <a:noFill/>
        </p:spPr>
        <p:txBody>
          <a:bodyPr wrap="square" lIns="0" tIns="0" rIns="0" bIns="0" anchor="t">
            <a:spAutoFit/>
          </a:bodyPr>
          <a:lstStyle/>
          <a:p>
            <a:pPr>
              <a:spcAft>
                <a:spcPts val="300"/>
              </a:spcAft>
              <a:defRPr sz="1360" b="1">
                <a:solidFill>
                  <a:srgbClr val="19283D"/>
                </a:solidFill>
                <a:latin typeface="Aptos"/>
              </a:defRPr>
            </a:pPr>
            <a:r>
              <a:t>collect_fruits</a:t>
            </a:r>
          </a:p>
        </p:txBody>
      </p:sp>
      <p:sp>
        <p:nvSpPr>
          <p:cNvPr id="12" name="TextBox 11"/>
          <p:cNvSpPr txBox="1"/>
          <p:nvPr/>
        </p:nvSpPr>
        <p:spPr>
          <a:xfrm>
            <a:off x="731520" y="2194560"/>
            <a:ext cx="4251960" cy="228600"/>
          </a:xfrm>
          <a:prstGeom prst="rect">
            <a:avLst/>
          </a:prstGeom>
          <a:noFill/>
        </p:spPr>
        <p:txBody>
          <a:bodyPr wrap="square" lIns="0" tIns="0" rIns="0" bIns="0" anchor="t">
            <a:spAutoFit/>
          </a:bodyPr>
          <a:lstStyle/>
          <a:p>
            <a:pPr>
              <a:spcAft>
                <a:spcPts val="300"/>
              </a:spcAft>
              <a:defRPr sz="1120" b="0">
                <a:solidFill>
                  <a:srgbClr val="58697B"/>
                </a:solidFill>
                <a:latin typeface="Aptos"/>
              </a:defRPr>
            </a:pPr>
            <a:r>
              <a:t>Two fruits into one container</a:t>
            </a:r>
          </a:p>
        </p:txBody>
      </p:sp>
      <p:sp>
        <p:nvSpPr>
          <p:cNvPr id="13" name="Rounded Rectangle 12"/>
          <p:cNvSpPr/>
          <p:nvPr/>
        </p:nvSpPr>
        <p:spPr>
          <a:xfrm>
            <a:off x="4974336" y="1929384"/>
            <a:ext cx="813816" cy="329184"/>
          </a:xfrm>
          <a:prstGeom prst="roundRect">
            <a:avLst/>
          </a:prstGeom>
          <a:solidFill>
            <a:srgbClr val="E6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8344" y="2020824"/>
            <a:ext cx="694944" cy="182880"/>
          </a:xfrm>
          <a:prstGeom prst="rect">
            <a:avLst/>
          </a:prstGeom>
          <a:noFill/>
        </p:spPr>
        <p:txBody>
          <a:bodyPr wrap="square" lIns="0" tIns="0" rIns="0" bIns="0" anchor="t">
            <a:spAutoFit/>
          </a:bodyPr>
          <a:lstStyle/>
          <a:p>
            <a:pPr algn="ctr">
              <a:spcAft>
                <a:spcPts val="300"/>
              </a:spcAft>
              <a:defRPr sz="940" b="1">
                <a:solidFill>
                  <a:srgbClr val="269365"/>
                </a:solidFill>
                <a:latin typeface="Aptos"/>
              </a:defRPr>
            </a:pPr>
            <a:r>
              <a:t>SUCCESS</a:t>
            </a:r>
          </a:p>
        </p:txBody>
      </p:sp>
      <p:sp>
        <p:nvSpPr>
          <p:cNvPr id="15" name="Rounded Rectangle 14"/>
          <p:cNvSpPr/>
          <p:nvPr/>
        </p:nvSpPr>
        <p:spPr>
          <a:xfrm>
            <a:off x="557784" y="2706624"/>
            <a:ext cx="5422392" cy="79552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57784" y="2706624"/>
            <a:ext cx="68580" cy="795528"/>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34640"/>
            <a:ext cx="3182112" cy="256032"/>
          </a:xfrm>
          <a:prstGeom prst="rect">
            <a:avLst/>
          </a:prstGeom>
          <a:noFill/>
        </p:spPr>
        <p:txBody>
          <a:bodyPr wrap="square" lIns="0" tIns="0" rIns="0" bIns="0" anchor="t">
            <a:spAutoFit/>
          </a:bodyPr>
          <a:lstStyle/>
          <a:p>
            <a:pPr>
              <a:spcAft>
                <a:spcPts val="300"/>
              </a:spcAft>
              <a:defRPr sz="1360" b="1">
                <a:solidFill>
                  <a:srgbClr val="19283D"/>
                </a:solidFill>
                <a:latin typeface="Aptos"/>
              </a:defRPr>
            </a:pPr>
            <a:r>
              <a:t>tidy_toys</a:t>
            </a:r>
          </a:p>
        </p:txBody>
      </p:sp>
      <p:sp>
        <p:nvSpPr>
          <p:cNvPr id="18" name="TextBox 17"/>
          <p:cNvSpPr txBox="1"/>
          <p:nvPr/>
        </p:nvSpPr>
        <p:spPr>
          <a:xfrm>
            <a:off x="731520" y="3136391"/>
            <a:ext cx="4251960" cy="228600"/>
          </a:xfrm>
          <a:prstGeom prst="rect">
            <a:avLst/>
          </a:prstGeom>
          <a:noFill/>
        </p:spPr>
        <p:txBody>
          <a:bodyPr wrap="square" lIns="0" tIns="0" rIns="0" bIns="0" anchor="t">
            <a:spAutoFit/>
          </a:bodyPr>
          <a:lstStyle/>
          <a:p>
            <a:pPr>
              <a:spcAft>
                <a:spcPts val="300"/>
              </a:spcAft>
              <a:defRPr sz="1120" b="0">
                <a:solidFill>
                  <a:srgbClr val="58697B"/>
                </a:solidFill>
                <a:latin typeface="Aptos"/>
              </a:defRPr>
            </a:pPr>
            <a:r>
              <a:t>Floor toys into toy box / basket</a:t>
            </a:r>
          </a:p>
        </p:txBody>
      </p:sp>
      <p:sp>
        <p:nvSpPr>
          <p:cNvPr id="19" name="Rounded Rectangle 18"/>
          <p:cNvSpPr/>
          <p:nvPr/>
        </p:nvSpPr>
        <p:spPr>
          <a:xfrm>
            <a:off x="4974336" y="2871216"/>
            <a:ext cx="813816" cy="329184"/>
          </a:xfrm>
          <a:prstGeom prst="roundRect">
            <a:avLst/>
          </a:prstGeom>
          <a:solidFill>
            <a:srgbClr val="E6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8344" y="2962656"/>
            <a:ext cx="694944" cy="182880"/>
          </a:xfrm>
          <a:prstGeom prst="rect">
            <a:avLst/>
          </a:prstGeom>
          <a:noFill/>
        </p:spPr>
        <p:txBody>
          <a:bodyPr wrap="square" lIns="0" tIns="0" rIns="0" bIns="0" anchor="t">
            <a:spAutoFit/>
          </a:bodyPr>
          <a:lstStyle/>
          <a:p>
            <a:pPr algn="ctr">
              <a:spcAft>
                <a:spcPts val="300"/>
              </a:spcAft>
              <a:defRPr sz="940" b="1">
                <a:solidFill>
                  <a:srgbClr val="269365"/>
                </a:solidFill>
                <a:latin typeface="Aptos"/>
              </a:defRPr>
            </a:pPr>
            <a:r>
              <a:t>SUCCESS</a:t>
            </a:r>
          </a:p>
        </p:txBody>
      </p:sp>
      <p:sp>
        <p:nvSpPr>
          <p:cNvPr id="21" name="Rounded Rectangle 20"/>
          <p:cNvSpPr/>
          <p:nvPr/>
        </p:nvSpPr>
        <p:spPr>
          <a:xfrm>
            <a:off x="557784" y="3648456"/>
            <a:ext cx="5422392" cy="79552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7784" y="3648456"/>
            <a:ext cx="68580" cy="795528"/>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776472"/>
            <a:ext cx="3182112" cy="256032"/>
          </a:xfrm>
          <a:prstGeom prst="rect">
            <a:avLst/>
          </a:prstGeom>
          <a:noFill/>
        </p:spPr>
        <p:txBody>
          <a:bodyPr wrap="square" lIns="0" tIns="0" rIns="0" bIns="0" anchor="t">
            <a:spAutoFit/>
          </a:bodyPr>
          <a:lstStyle/>
          <a:p>
            <a:pPr>
              <a:spcAft>
                <a:spcPts val="300"/>
              </a:spcAft>
              <a:defRPr sz="1360" b="1">
                <a:solidFill>
                  <a:srgbClr val="19283D"/>
                </a:solidFill>
                <a:latin typeface="Aptos"/>
              </a:defRPr>
            </a:pPr>
            <a:r>
              <a:t>shelve_books</a:t>
            </a:r>
          </a:p>
        </p:txBody>
      </p:sp>
      <p:sp>
        <p:nvSpPr>
          <p:cNvPr id="24" name="TextBox 23"/>
          <p:cNvSpPr txBox="1"/>
          <p:nvPr/>
        </p:nvSpPr>
        <p:spPr>
          <a:xfrm>
            <a:off x="731520" y="4078224"/>
            <a:ext cx="4251960" cy="228600"/>
          </a:xfrm>
          <a:prstGeom prst="rect">
            <a:avLst/>
          </a:prstGeom>
          <a:noFill/>
        </p:spPr>
        <p:txBody>
          <a:bodyPr wrap="square" lIns="0" tIns="0" rIns="0" bIns="0" anchor="t">
            <a:spAutoFit/>
          </a:bodyPr>
          <a:lstStyle/>
          <a:p>
            <a:pPr>
              <a:spcAft>
                <a:spcPts val="300"/>
              </a:spcAft>
              <a:defRPr sz="1120" b="0">
                <a:solidFill>
                  <a:srgbClr val="58697B"/>
                </a:solidFill>
                <a:latin typeface="Aptos"/>
              </a:defRPr>
            </a:pPr>
            <a:r>
              <a:t>Flat books onto a bookcase</a:t>
            </a:r>
          </a:p>
        </p:txBody>
      </p:sp>
      <p:sp>
        <p:nvSpPr>
          <p:cNvPr id="25" name="Rounded Rectangle 24"/>
          <p:cNvSpPr/>
          <p:nvPr/>
        </p:nvSpPr>
        <p:spPr>
          <a:xfrm>
            <a:off x="4974336" y="3813048"/>
            <a:ext cx="813816" cy="329184"/>
          </a:xfrm>
          <a:prstGeom prst="roundRect">
            <a:avLst/>
          </a:prstGeom>
          <a:solidFill>
            <a:srgbClr val="E6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8344" y="3904488"/>
            <a:ext cx="694944" cy="182880"/>
          </a:xfrm>
          <a:prstGeom prst="rect">
            <a:avLst/>
          </a:prstGeom>
          <a:noFill/>
        </p:spPr>
        <p:txBody>
          <a:bodyPr wrap="square" lIns="0" tIns="0" rIns="0" bIns="0" anchor="t">
            <a:spAutoFit/>
          </a:bodyPr>
          <a:lstStyle/>
          <a:p>
            <a:pPr algn="ctr">
              <a:spcAft>
                <a:spcPts val="300"/>
              </a:spcAft>
              <a:defRPr sz="940" b="1">
                <a:solidFill>
                  <a:srgbClr val="269365"/>
                </a:solidFill>
                <a:latin typeface="Aptos"/>
              </a:defRPr>
            </a:pPr>
            <a:r>
              <a:t>SUCCESS</a:t>
            </a:r>
          </a:p>
        </p:txBody>
      </p:sp>
      <p:sp>
        <p:nvSpPr>
          <p:cNvPr id="27" name="Rounded Rectangle 26"/>
          <p:cNvSpPr/>
          <p:nvPr/>
        </p:nvSpPr>
        <p:spPr>
          <a:xfrm>
            <a:off x="557784" y="4590288"/>
            <a:ext cx="5422392" cy="79552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7784" y="4590288"/>
            <a:ext cx="68580" cy="795528"/>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718303"/>
            <a:ext cx="3182112" cy="256032"/>
          </a:xfrm>
          <a:prstGeom prst="rect">
            <a:avLst/>
          </a:prstGeom>
          <a:noFill/>
        </p:spPr>
        <p:txBody>
          <a:bodyPr wrap="square" lIns="0" tIns="0" rIns="0" bIns="0" anchor="t">
            <a:spAutoFit/>
          </a:bodyPr>
          <a:lstStyle/>
          <a:p>
            <a:pPr>
              <a:spcAft>
                <a:spcPts val="300"/>
              </a:spcAft>
              <a:defRPr sz="1360" b="1">
                <a:solidFill>
                  <a:srgbClr val="19283D"/>
                </a:solidFill>
                <a:latin typeface="Aptos"/>
              </a:defRPr>
            </a:pPr>
            <a:r>
              <a:t>desk_prep</a:t>
            </a:r>
          </a:p>
        </p:txBody>
      </p:sp>
      <p:sp>
        <p:nvSpPr>
          <p:cNvPr id="30" name="TextBox 29"/>
          <p:cNvSpPr txBox="1"/>
          <p:nvPr/>
        </p:nvSpPr>
        <p:spPr>
          <a:xfrm>
            <a:off x="731520" y="5020055"/>
            <a:ext cx="4251960" cy="228600"/>
          </a:xfrm>
          <a:prstGeom prst="rect">
            <a:avLst/>
          </a:prstGeom>
          <a:noFill/>
        </p:spPr>
        <p:txBody>
          <a:bodyPr wrap="square" lIns="0" tIns="0" rIns="0" bIns="0" anchor="t">
            <a:spAutoFit/>
          </a:bodyPr>
          <a:lstStyle/>
          <a:p>
            <a:pPr>
              <a:spcAft>
                <a:spcPts val="300"/>
              </a:spcAft>
              <a:defRPr sz="1120" b="0">
                <a:solidFill>
                  <a:srgbClr val="58697B"/>
                </a:solidFill>
                <a:latin typeface="Aptos"/>
              </a:defRPr>
            </a:pPr>
            <a:r>
              <a:t>Notebook, pen and mug on desk</a:t>
            </a:r>
          </a:p>
        </p:txBody>
      </p:sp>
      <p:sp>
        <p:nvSpPr>
          <p:cNvPr id="31" name="Rounded Rectangle 30"/>
          <p:cNvSpPr/>
          <p:nvPr/>
        </p:nvSpPr>
        <p:spPr>
          <a:xfrm>
            <a:off x="4974336" y="4754879"/>
            <a:ext cx="813816" cy="329184"/>
          </a:xfrm>
          <a:prstGeom prst="roundRect">
            <a:avLst/>
          </a:prstGeom>
          <a:solidFill>
            <a:srgbClr val="E6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8344" y="4846320"/>
            <a:ext cx="694944" cy="182880"/>
          </a:xfrm>
          <a:prstGeom prst="rect">
            <a:avLst/>
          </a:prstGeom>
          <a:noFill/>
        </p:spPr>
        <p:txBody>
          <a:bodyPr wrap="square" lIns="0" tIns="0" rIns="0" bIns="0" anchor="t">
            <a:spAutoFit/>
          </a:bodyPr>
          <a:lstStyle/>
          <a:p>
            <a:pPr algn="ctr">
              <a:spcAft>
                <a:spcPts val="300"/>
              </a:spcAft>
              <a:defRPr sz="940" b="1">
                <a:solidFill>
                  <a:srgbClr val="269365"/>
                </a:solidFill>
                <a:latin typeface="Aptos"/>
              </a:defRPr>
            </a:pPr>
            <a:r>
              <a:t>SUCCESS</a:t>
            </a:r>
          </a:p>
        </p:txBody>
      </p:sp>
      <p:sp>
        <p:nvSpPr>
          <p:cNvPr id="33" name="Rounded Rectangle 32"/>
          <p:cNvSpPr/>
          <p:nvPr/>
        </p:nvSpPr>
        <p:spPr>
          <a:xfrm>
            <a:off x="6291072" y="1764792"/>
            <a:ext cx="5422392" cy="79552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91072" y="1764792"/>
            <a:ext cx="68580" cy="795528"/>
          </a:xfrm>
          <a:prstGeom prst="rect">
            <a:avLst/>
          </a:prstGeom>
          <a:solidFill>
            <a:srgbClr val="EFA3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4808" y="1892807"/>
            <a:ext cx="3182112" cy="256032"/>
          </a:xfrm>
          <a:prstGeom prst="rect">
            <a:avLst/>
          </a:prstGeom>
          <a:noFill/>
        </p:spPr>
        <p:txBody>
          <a:bodyPr wrap="square" lIns="0" tIns="0" rIns="0" bIns="0" anchor="t">
            <a:spAutoFit/>
          </a:bodyPr>
          <a:lstStyle/>
          <a:p>
            <a:pPr>
              <a:spcAft>
                <a:spcPts val="300"/>
              </a:spcAft>
              <a:defRPr sz="1360" b="1">
                <a:solidFill>
                  <a:srgbClr val="19283D"/>
                </a:solidFill>
                <a:latin typeface="Aptos"/>
              </a:defRPr>
            </a:pPr>
            <a:r>
              <a:t>breakfast_setup</a:t>
            </a:r>
          </a:p>
        </p:txBody>
      </p:sp>
      <p:sp>
        <p:nvSpPr>
          <p:cNvPr id="36" name="TextBox 35"/>
          <p:cNvSpPr txBox="1"/>
          <p:nvPr/>
        </p:nvSpPr>
        <p:spPr>
          <a:xfrm>
            <a:off x="6464808" y="2194560"/>
            <a:ext cx="4251960" cy="228600"/>
          </a:xfrm>
          <a:prstGeom prst="rect">
            <a:avLst/>
          </a:prstGeom>
          <a:noFill/>
        </p:spPr>
        <p:txBody>
          <a:bodyPr wrap="square" lIns="0" tIns="0" rIns="0" bIns="0" anchor="t">
            <a:spAutoFit/>
          </a:bodyPr>
          <a:lstStyle/>
          <a:p>
            <a:pPr>
              <a:spcAft>
                <a:spcPts val="300"/>
              </a:spcAft>
              <a:defRPr sz="1120" b="0">
                <a:solidFill>
                  <a:srgbClr val="58697B"/>
                </a:solidFill>
                <a:latin typeface="Aptos"/>
              </a:defRPr>
            </a:pPr>
            <a:r>
              <a:t>Dining table place setting</a:t>
            </a:r>
          </a:p>
        </p:txBody>
      </p:sp>
      <p:sp>
        <p:nvSpPr>
          <p:cNvPr id="37" name="Rounded Rectangle 36"/>
          <p:cNvSpPr/>
          <p:nvPr/>
        </p:nvSpPr>
        <p:spPr>
          <a:xfrm>
            <a:off x="10707624" y="1929384"/>
            <a:ext cx="813816" cy="329184"/>
          </a:xfrm>
          <a:prstGeom prst="roundRect">
            <a:avLst/>
          </a:prstGeom>
          <a:solidFill>
            <a:srgbClr val="FCE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771632" y="2020824"/>
            <a:ext cx="694944" cy="182880"/>
          </a:xfrm>
          <a:prstGeom prst="rect">
            <a:avLst/>
          </a:prstGeom>
          <a:noFill/>
        </p:spPr>
        <p:txBody>
          <a:bodyPr wrap="square" lIns="0" tIns="0" rIns="0" bIns="0" anchor="t">
            <a:spAutoFit/>
          </a:bodyPr>
          <a:lstStyle/>
          <a:p>
            <a:pPr algn="ctr">
              <a:spcAft>
                <a:spcPts val="300"/>
              </a:spcAft>
              <a:defRPr sz="940" b="1">
                <a:solidFill>
                  <a:srgbClr val="EFA33C"/>
                </a:solidFill>
                <a:latin typeface="Aptos"/>
              </a:defRPr>
            </a:pPr>
            <a:r>
              <a:t>67%</a:t>
            </a:r>
          </a:p>
        </p:txBody>
      </p:sp>
      <p:sp>
        <p:nvSpPr>
          <p:cNvPr id="39" name="Rounded Rectangle 38"/>
          <p:cNvSpPr/>
          <p:nvPr/>
        </p:nvSpPr>
        <p:spPr>
          <a:xfrm>
            <a:off x="6291072" y="2706624"/>
            <a:ext cx="5422392" cy="79552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91072" y="2706624"/>
            <a:ext cx="68580" cy="795528"/>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4808" y="2834640"/>
            <a:ext cx="3182112" cy="256032"/>
          </a:xfrm>
          <a:prstGeom prst="rect">
            <a:avLst/>
          </a:prstGeom>
          <a:noFill/>
        </p:spPr>
        <p:txBody>
          <a:bodyPr wrap="square" lIns="0" tIns="0" rIns="0" bIns="0" anchor="t">
            <a:spAutoFit/>
          </a:bodyPr>
          <a:lstStyle/>
          <a:p>
            <a:pPr>
              <a:spcAft>
                <a:spcPts val="300"/>
              </a:spcAft>
              <a:defRPr sz="1360" b="1">
                <a:solidFill>
                  <a:srgbClr val="19283D"/>
                </a:solidFill>
                <a:latin typeface="Aptos"/>
              </a:defRPr>
            </a:pPr>
            <a:r>
              <a:t>heat_breakfast_preloaded</a:t>
            </a:r>
          </a:p>
        </p:txBody>
      </p:sp>
      <p:sp>
        <p:nvSpPr>
          <p:cNvPr id="42" name="TextBox 41"/>
          <p:cNvSpPr txBox="1"/>
          <p:nvPr/>
        </p:nvSpPr>
        <p:spPr>
          <a:xfrm>
            <a:off x="6464808" y="3136391"/>
            <a:ext cx="4251960" cy="228600"/>
          </a:xfrm>
          <a:prstGeom prst="rect">
            <a:avLst/>
          </a:prstGeom>
          <a:noFill/>
        </p:spPr>
        <p:txBody>
          <a:bodyPr wrap="square" lIns="0" tIns="0" rIns="0" bIns="0" anchor="t">
            <a:spAutoFit/>
          </a:bodyPr>
          <a:lstStyle/>
          <a:p>
            <a:pPr>
              <a:spcAft>
                <a:spcPts val="300"/>
              </a:spcAft>
              <a:defRPr sz="1120" b="0">
                <a:solidFill>
                  <a:srgbClr val="58697B"/>
                </a:solidFill>
                <a:latin typeface="Aptos"/>
              </a:defRPr>
            </a:pPr>
            <a:r>
              <a:t>Microwave heating from preloaded food</a:t>
            </a:r>
          </a:p>
        </p:txBody>
      </p:sp>
      <p:sp>
        <p:nvSpPr>
          <p:cNvPr id="43" name="Rounded Rectangle 42"/>
          <p:cNvSpPr/>
          <p:nvPr/>
        </p:nvSpPr>
        <p:spPr>
          <a:xfrm>
            <a:off x="10707624" y="2871216"/>
            <a:ext cx="813816" cy="329184"/>
          </a:xfrm>
          <a:prstGeom prst="roundRect">
            <a:avLst/>
          </a:prstGeom>
          <a:solidFill>
            <a:srgbClr val="E6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771632" y="2962656"/>
            <a:ext cx="694944" cy="182880"/>
          </a:xfrm>
          <a:prstGeom prst="rect">
            <a:avLst/>
          </a:prstGeom>
          <a:noFill/>
        </p:spPr>
        <p:txBody>
          <a:bodyPr wrap="square" lIns="0" tIns="0" rIns="0" bIns="0" anchor="t">
            <a:spAutoFit/>
          </a:bodyPr>
          <a:lstStyle/>
          <a:p>
            <a:pPr algn="ctr">
              <a:spcAft>
                <a:spcPts val="300"/>
              </a:spcAft>
              <a:defRPr sz="940" b="1">
                <a:solidFill>
                  <a:srgbClr val="269365"/>
                </a:solidFill>
                <a:latin typeface="Aptos"/>
              </a:defRPr>
            </a:pPr>
            <a:r>
              <a:t>SUCCESS</a:t>
            </a:r>
          </a:p>
        </p:txBody>
      </p:sp>
      <p:sp>
        <p:nvSpPr>
          <p:cNvPr id="45" name="Rounded Rectangle 44"/>
          <p:cNvSpPr/>
          <p:nvPr/>
        </p:nvSpPr>
        <p:spPr>
          <a:xfrm>
            <a:off x="6291072" y="3648456"/>
            <a:ext cx="5422392" cy="79552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91072" y="3648456"/>
            <a:ext cx="68580" cy="795528"/>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64808" y="3776472"/>
            <a:ext cx="3182112" cy="256032"/>
          </a:xfrm>
          <a:prstGeom prst="rect">
            <a:avLst/>
          </a:prstGeom>
          <a:noFill/>
        </p:spPr>
        <p:txBody>
          <a:bodyPr wrap="square" lIns="0" tIns="0" rIns="0" bIns="0" anchor="t">
            <a:spAutoFit/>
          </a:bodyPr>
          <a:lstStyle/>
          <a:p>
            <a:pPr>
              <a:spcAft>
                <a:spcPts val="300"/>
              </a:spcAft>
              <a:defRPr sz="1360" b="1">
                <a:solidFill>
                  <a:srgbClr val="19283D"/>
                </a:solidFill>
                <a:latin typeface="Aptos"/>
              </a:defRPr>
            </a:pPr>
            <a:r>
              <a:t>heat_breakfast_combo</a:t>
            </a:r>
          </a:p>
        </p:txBody>
      </p:sp>
      <p:sp>
        <p:nvSpPr>
          <p:cNvPr id="48" name="TextBox 47"/>
          <p:cNvSpPr txBox="1"/>
          <p:nvPr/>
        </p:nvSpPr>
        <p:spPr>
          <a:xfrm>
            <a:off x="6464808" y="4078224"/>
            <a:ext cx="4251960" cy="228600"/>
          </a:xfrm>
          <a:prstGeom prst="rect">
            <a:avLst/>
          </a:prstGeom>
          <a:noFill/>
        </p:spPr>
        <p:txBody>
          <a:bodyPr wrap="square" lIns="0" tIns="0" rIns="0" bIns="0" anchor="t">
            <a:spAutoFit/>
          </a:bodyPr>
          <a:lstStyle/>
          <a:p>
            <a:pPr>
              <a:spcAft>
                <a:spcPts val="300"/>
              </a:spcAft>
              <a:defRPr sz="1120" b="0">
                <a:solidFill>
                  <a:srgbClr val="58697B"/>
                </a:solidFill>
                <a:latin typeface="Aptos"/>
              </a:defRPr>
            </a:pPr>
            <a:r>
              <a:t>Microwave cycle plus chilled milk</a:t>
            </a:r>
          </a:p>
        </p:txBody>
      </p:sp>
      <p:sp>
        <p:nvSpPr>
          <p:cNvPr id="49" name="Rounded Rectangle 48"/>
          <p:cNvSpPr/>
          <p:nvPr/>
        </p:nvSpPr>
        <p:spPr>
          <a:xfrm>
            <a:off x="10707624" y="3813048"/>
            <a:ext cx="813816" cy="329184"/>
          </a:xfrm>
          <a:prstGeom prst="roundRect">
            <a:avLst/>
          </a:prstGeom>
          <a:solidFill>
            <a:srgbClr val="E6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771632" y="3904488"/>
            <a:ext cx="694944" cy="182880"/>
          </a:xfrm>
          <a:prstGeom prst="rect">
            <a:avLst/>
          </a:prstGeom>
          <a:noFill/>
        </p:spPr>
        <p:txBody>
          <a:bodyPr wrap="square" lIns="0" tIns="0" rIns="0" bIns="0" anchor="t">
            <a:spAutoFit/>
          </a:bodyPr>
          <a:lstStyle/>
          <a:p>
            <a:pPr algn="ctr">
              <a:spcAft>
                <a:spcPts val="300"/>
              </a:spcAft>
              <a:defRPr sz="940" b="1">
                <a:solidFill>
                  <a:srgbClr val="269365"/>
                </a:solidFill>
                <a:latin typeface="Aptos"/>
              </a:defRPr>
            </a:pPr>
            <a:r>
              <a:t>SUCCESS</a:t>
            </a:r>
          </a:p>
        </p:txBody>
      </p:sp>
      <p:sp>
        <p:nvSpPr>
          <p:cNvPr id="51" name="Rounded Rectangle 50"/>
          <p:cNvSpPr/>
          <p:nvPr/>
        </p:nvSpPr>
        <p:spPr>
          <a:xfrm>
            <a:off x="6291072" y="4590288"/>
            <a:ext cx="5422392" cy="795528"/>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91072" y="4590288"/>
            <a:ext cx="68580" cy="795528"/>
          </a:xfrm>
          <a:prstGeom prst="rect">
            <a:avLst/>
          </a:prstGeom>
          <a:solidFill>
            <a:srgbClr val="2693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64808" y="4718303"/>
            <a:ext cx="3182112" cy="256032"/>
          </a:xfrm>
          <a:prstGeom prst="rect">
            <a:avLst/>
          </a:prstGeom>
          <a:noFill/>
        </p:spPr>
        <p:txBody>
          <a:bodyPr wrap="square" lIns="0" tIns="0" rIns="0" bIns="0" anchor="t">
            <a:spAutoFit/>
          </a:bodyPr>
          <a:lstStyle/>
          <a:p>
            <a:pPr>
              <a:spcAft>
                <a:spcPts val="300"/>
              </a:spcAft>
              <a:defRPr sz="1360" b="1">
                <a:solidFill>
                  <a:srgbClr val="19283D"/>
                </a:solidFill>
                <a:latin typeface="Aptos"/>
              </a:defRPr>
            </a:pPr>
            <a:r>
              <a:t>heat_breakfast</a:t>
            </a:r>
          </a:p>
        </p:txBody>
      </p:sp>
      <p:sp>
        <p:nvSpPr>
          <p:cNvPr id="54" name="TextBox 53"/>
          <p:cNvSpPr txBox="1"/>
          <p:nvPr/>
        </p:nvSpPr>
        <p:spPr>
          <a:xfrm>
            <a:off x="6464808" y="5020055"/>
            <a:ext cx="4251960" cy="228600"/>
          </a:xfrm>
          <a:prstGeom prst="rect">
            <a:avLst/>
          </a:prstGeom>
          <a:noFill/>
        </p:spPr>
        <p:txBody>
          <a:bodyPr wrap="square" lIns="0" tIns="0" rIns="0" bIns="0" anchor="t">
            <a:spAutoFit/>
          </a:bodyPr>
          <a:lstStyle/>
          <a:p>
            <a:pPr>
              <a:spcAft>
                <a:spcPts val="300"/>
              </a:spcAft>
              <a:defRPr sz="1120" b="0">
                <a:solidFill>
                  <a:srgbClr val="58697B"/>
                </a:solidFill>
                <a:latin typeface="Aptos"/>
              </a:defRPr>
            </a:pPr>
            <a:r>
              <a:t>Fridge → microwave → dining table</a:t>
            </a:r>
          </a:p>
        </p:txBody>
      </p:sp>
      <p:sp>
        <p:nvSpPr>
          <p:cNvPr id="55" name="Rounded Rectangle 54"/>
          <p:cNvSpPr/>
          <p:nvPr/>
        </p:nvSpPr>
        <p:spPr>
          <a:xfrm>
            <a:off x="10707624" y="4754879"/>
            <a:ext cx="813816" cy="329184"/>
          </a:xfrm>
          <a:prstGeom prst="roundRect">
            <a:avLst/>
          </a:prstGeom>
          <a:solidFill>
            <a:srgbClr val="E6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771632" y="4846320"/>
            <a:ext cx="694944" cy="182880"/>
          </a:xfrm>
          <a:prstGeom prst="rect">
            <a:avLst/>
          </a:prstGeom>
          <a:noFill/>
        </p:spPr>
        <p:txBody>
          <a:bodyPr wrap="square" lIns="0" tIns="0" rIns="0" bIns="0" anchor="t">
            <a:spAutoFit/>
          </a:bodyPr>
          <a:lstStyle/>
          <a:p>
            <a:pPr algn="ctr">
              <a:spcAft>
                <a:spcPts val="300"/>
              </a:spcAft>
              <a:defRPr sz="940" b="1">
                <a:solidFill>
                  <a:srgbClr val="269365"/>
                </a:solidFill>
                <a:latin typeface="Aptos"/>
              </a:defRPr>
            </a:pPr>
            <a:r>
              <a:t>SUCCESS</a:t>
            </a:r>
          </a:p>
        </p:txBody>
      </p:sp>
      <p:sp>
        <p:nvSpPr>
          <p:cNvPr id="57" name="Rounded Rectangle 56"/>
          <p:cNvSpPr/>
          <p:nvPr/>
        </p:nvSpPr>
        <p:spPr>
          <a:xfrm>
            <a:off x="603504" y="5696712"/>
            <a:ext cx="10972800" cy="466344"/>
          </a:xfrm>
          <a:prstGeom prst="roundRect">
            <a:avLst/>
          </a:prstGeom>
          <a:solidFill>
            <a:srgbClr val="EC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2960" y="5833872"/>
            <a:ext cx="10506456" cy="246888"/>
          </a:xfrm>
          <a:prstGeom prst="rect">
            <a:avLst/>
          </a:prstGeom>
          <a:noFill/>
        </p:spPr>
        <p:txBody>
          <a:bodyPr wrap="square" lIns="0" tIns="0" rIns="0" bIns="0" anchor="t">
            <a:spAutoFit/>
          </a:bodyPr>
          <a:lstStyle/>
          <a:p>
            <a:pPr>
              <a:spcAft>
                <a:spcPts val="300"/>
              </a:spcAft>
              <a:defRPr sz="1450" b="1">
                <a:solidFill>
                  <a:srgbClr val="101F34"/>
                </a:solidFill>
                <a:latin typeface="Aptos"/>
              </a:defRPr>
            </a:pPr>
            <a:r>
              <a:t>7 successful representative runs; breakfast_setup remains partial after a mug drop.</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210312"/>
          </a:xfrm>
          <a:prstGeom prst="rect">
            <a:avLst/>
          </a:prstGeom>
          <a:noFill/>
        </p:spPr>
        <p:txBody>
          <a:bodyPr wrap="square" lIns="0" tIns="0" rIns="0" bIns="0" anchor="t">
            <a:spAutoFit/>
          </a:bodyPr>
          <a:lstStyle/>
          <a:p>
            <a:pPr>
              <a:spcAft>
                <a:spcPts val="300"/>
              </a:spcAft>
              <a:defRPr sz="1000" b="1">
                <a:solidFill>
                  <a:srgbClr val="008F93"/>
                </a:solidFill>
                <a:latin typeface="Aptos"/>
              </a:defRPr>
            </a:pPr>
            <a:r>
              <a:t>RESEARCH VALUE</a:t>
            </a:r>
          </a:p>
        </p:txBody>
      </p:sp>
      <p:sp>
        <p:nvSpPr>
          <p:cNvPr id="4" name="TextBox 3"/>
          <p:cNvSpPr txBox="1"/>
          <p:nvPr/>
        </p:nvSpPr>
        <p:spPr>
          <a:xfrm>
            <a:off x="502920" y="585216"/>
            <a:ext cx="11018520" cy="685800"/>
          </a:xfrm>
          <a:prstGeom prst="rect">
            <a:avLst/>
          </a:prstGeom>
          <a:noFill/>
        </p:spPr>
        <p:txBody>
          <a:bodyPr wrap="square" lIns="0" tIns="0" rIns="0" bIns="0" anchor="t">
            <a:spAutoFit/>
          </a:bodyPr>
          <a:lstStyle/>
          <a:p>
            <a:pPr>
              <a:spcAft>
                <a:spcPts val="300"/>
              </a:spcAft>
              <a:defRPr sz="2800" b="1">
                <a:solidFill>
                  <a:srgbClr val="19283D"/>
                </a:solidFill>
                <a:latin typeface="Aptos"/>
              </a:defRPr>
            </a:pPr>
            <a:r>
              <a:t>Why this matters for our setting</a:t>
            </a:r>
          </a:p>
        </p:txBody>
      </p:sp>
      <p:sp>
        <p:nvSpPr>
          <p:cNvPr id="5" name="TextBox 4"/>
          <p:cNvSpPr txBox="1"/>
          <p:nvPr/>
        </p:nvSpPr>
        <p:spPr>
          <a:xfrm>
            <a:off x="521207" y="1261872"/>
            <a:ext cx="10972800" cy="393192"/>
          </a:xfrm>
          <a:prstGeom prst="rect">
            <a:avLst/>
          </a:prstGeom>
          <a:noFill/>
        </p:spPr>
        <p:txBody>
          <a:bodyPr wrap="square" lIns="0" tIns="0" rIns="0" bIns="0" anchor="t">
            <a:spAutoFit/>
          </a:bodyPr>
          <a:lstStyle/>
          <a:p>
            <a:pPr>
              <a:spcAft>
                <a:spcPts val="300"/>
              </a:spcAft>
              <a:defRPr sz="1250" b="0">
                <a:solidFill>
                  <a:srgbClr val="58697B"/>
                </a:solidFill>
                <a:latin typeface="Aptos"/>
              </a:defRPr>
            </a:pPr>
            <a:r>
              <a:t>These tasks give an upper-level planner a meaningful environment to reason, act and recover in.</a:t>
            </a:r>
          </a:p>
        </p:txBody>
      </p:sp>
      <p:sp>
        <p:nvSpPr>
          <p:cNvPr id="6" name="Rectangle 5"/>
          <p:cNvSpPr/>
          <p:nvPr/>
        </p:nvSpPr>
        <p:spPr>
          <a:xfrm>
            <a:off x="502920" y="6473952"/>
            <a:ext cx="11183112" cy="10972"/>
          </a:xfrm>
          <a:prstGeom prst="rect">
            <a:avLst/>
          </a:prstGeom>
          <a:solidFill>
            <a:srgbClr val="DBE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064" y="6519672"/>
            <a:ext cx="7315200" cy="164592"/>
          </a:xfrm>
          <a:prstGeom prst="rect">
            <a:avLst/>
          </a:prstGeom>
          <a:noFill/>
        </p:spPr>
        <p:txBody>
          <a:bodyPr wrap="square" lIns="0" tIns="0" rIns="0" bIns="0" anchor="t">
            <a:spAutoFit/>
          </a:bodyPr>
          <a:lstStyle/>
          <a:p>
            <a:pPr>
              <a:spcAft>
                <a:spcPts val="300"/>
              </a:spcAft>
              <a:defRPr sz="850" b="0">
                <a:solidFill>
                  <a:srgbClr val="58697B"/>
                </a:solidFill>
                <a:latin typeface="Aptos"/>
              </a:defRPr>
            </a:pPr>
            <a:r>
              <a:t>ZenoBench  ·  CMU Agentic Library</a:t>
            </a:r>
          </a:p>
        </p:txBody>
      </p:sp>
      <p:sp>
        <p:nvSpPr>
          <p:cNvPr id="8" name="TextBox 7"/>
          <p:cNvSpPr txBox="1"/>
          <p:nvPr/>
        </p:nvSpPr>
        <p:spPr>
          <a:xfrm>
            <a:off x="11100816" y="6510528"/>
            <a:ext cx="566928" cy="182880"/>
          </a:xfrm>
          <a:prstGeom prst="rect">
            <a:avLst/>
          </a:prstGeom>
          <a:noFill/>
        </p:spPr>
        <p:txBody>
          <a:bodyPr wrap="square" lIns="0" tIns="0" rIns="0" bIns="0" anchor="t">
            <a:spAutoFit/>
          </a:bodyPr>
          <a:lstStyle/>
          <a:p>
            <a:pPr algn="r">
              <a:spcAft>
                <a:spcPts val="300"/>
              </a:spcAft>
              <a:defRPr sz="850" b="0">
                <a:solidFill>
                  <a:srgbClr val="58697B"/>
                </a:solidFill>
                <a:latin typeface="Aptos"/>
              </a:defRPr>
            </a:pPr>
            <a:r>
              <a:t>10 / 12</a:t>
            </a:r>
          </a:p>
        </p:txBody>
      </p:sp>
      <p:sp>
        <p:nvSpPr>
          <p:cNvPr id="9" name="Rounded Rectangle 8"/>
          <p:cNvSpPr/>
          <p:nvPr/>
        </p:nvSpPr>
        <p:spPr>
          <a:xfrm>
            <a:off x="557784" y="1947672"/>
            <a:ext cx="3465576" cy="3063240"/>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1947672"/>
            <a:ext cx="3465576" cy="11887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2267712"/>
            <a:ext cx="521207" cy="365760"/>
          </a:xfrm>
          <a:prstGeom prst="rect">
            <a:avLst/>
          </a:prstGeom>
          <a:noFill/>
        </p:spPr>
        <p:txBody>
          <a:bodyPr wrap="square" lIns="0" tIns="0" rIns="0" bIns="0" anchor="t">
            <a:spAutoFit/>
          </a:bodyPr>
          <a:lstStyle/>
          <a:p>
            <a:pPr>
              <a:spcAft>
                <a:spcPts val="300"/>
              </a:spcAft>
              <a:defRPr sz="1900" b="1">
                <a:solidFill>
                  <a:srgbClr val="008F93"/>
                </a:solidFill>
                <a:latin typeface="Aptos"/>
              </a:defRPr>
            </a:pPr>
            <a:r>
              <a:t>01</a:t>
            </a:r>
          </a:p>
        </p:txBody>
      </p:sp>
      <p:sp>
        <p:nvSpPr>
          <p:cNvPr id="12" name="TextBox 11"/>
          <p:cNvSpPr txBox="1"/>
          <p:nvPr/>
        </p:nvSpPr>
        <p:spPr>
          <a:xfrm>
            <a:off x="758952" y="2852928"/>
            <a:ext cx="3017520" cy="448056"/>
          </a:xfrm>
          <a:prstGeom prst="rect">
            <a:avLst/>
          </a:prstGeom>
          <a:noFill/>
        </p:spPr>
        <p:txBody>
          <a:bodyPr wrap="square" lIns="0" tIns="0" rIns="0" bIns="0" anchor="t">
            <a:spAutoFit/>
          </a:bodyPr>
          <a:lstStyle/>
          <a:p>
            <a:pPr>
              <a:spcAft>
                <a:spcPts val="300"/>
              </a:spcAft>
              <a:defRPr sz="2200" b="1">
                <a:solidFill>
                  <a:srgbClr val="19283D"/>
                </a:solidFill>
                <a:latin typeface="Aptos"/>
              </a:defRPr>
            </a:pPr>
            <a:r>
              <a:t>Plan</a:t>
            </a:r>
          </a:p>
        </p:txBody>
      </p:sp>
      <p:sp>
        <p:nvSpPr>
          <p:cNvPr id="13" name="TextBox 12"/>
          <p:cNvSpPr txBox="1"/>
          <p:nvPr/>
        </p:nvSpPr>
        <p:spPr>
          <a:xfrm>
            <a:off x="758952" y="3474720"/>
            <a:ext cx="3026664" cy="1078992"/>
          </a:xfrm>
          <a:prstGeom prst="rect">
            <a:avLst/>
          </a:prstGeom>
          <a:noFill/>
        </p:spPr>
        <p:txBody>
          <a:bodyPr wrap="square" lIns="0" tIns="0" rIns="0" bIns="0" anchor="t">
            <a:spAutoFit/>
          </a:bodyPr>
          <a:lstStyle/>
          <a:p>
            <a:pPr>
              <a:spcAft>
                <a:spcPts val="300"/>
              </a:spcAft>
              <a:defRPr sz="1500" b="0">
                <a:solidFill>
                  <a:srgbClr val="58697B"/>
                </a:solidFill>
                <a:latin typeface="Aptos"/>
              </a:defRPr>
            </a:pPr>
            <a:r>
              <a:t>Choose a sequence of skills for a household goal</a:t>
            </a:r>
          </a:p>
        </p:txBody>
      </p:sp>
      <p:sp>
        <p:nvSpPr>
          <p:cNvPr id="14" name="Rounded Rectangle 13"/>
          <p:cNvSpPr/>
          <p:nvPr/>
        </p:nvSpPr>
        <p:spPr>
          <a:xfrm>
            <a:off x="4379976" y="1947672"/>
            <a:ext cx="3465576" cy="3063240"/>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9976" y="1947672"/>
            <a:ext cx="3465576" cy="118872"/>
          </a:xfrm>
          <a:prstGeom prst="rect">
            <a:avLst/>
          </a:prstGeom>
          <a:solidFill>
            <a:srgbClr val="2468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267712"/>
            <a:ext cx="521207" cy="365760"/>
          </a:xfrm>
          <a:prstGeom prst="rect">
            <a:avLst/>
          </a:prstGeom>
          <a:noFill/>
        </p:spPr>
        <p:txBody>
          <a:bodyPr wrap="square" lIns="0" tIns="0" rIns="0" bIns="0" anchor="t">
            <a:spAutoFit/>
          </a:bodyPr>
          <a:lstStyle/>
          <a:p>
            <a:pPr>
              <a:spcAft>
                <a:spcPts val="300"/>
              </a:spcAft>
              <a:defRPr sz="1900" b="1">
                <a:solidFill>
                  <a:srgbClr val="2468BC"/>
                </a:solidFill>
                <a:latin typeface="Aptos"/>
              </a:defRPr>
            </a:pPr>
            <a:r>
              <a:t>02</a:t>
            </a:r>
          </a:p>
        </p:txBody>
      </p:sp>
      <p:sp>
        <p:nvSpPr>
          <p:cNvPr id="17" name="TextBox 16"/>
          <p:cNvSpPr txBox="1"/>
          <p:nvPr/>
        </p:nvSpPr>
        <p:spPr>
          <a:xfrm>
            <a:off x="4581144" y="2852928"/>
            <a:ext cx="3017520" cy="448056"/>
          </a:xfrm>
          <a:prstGeom prst="rect">
            <a:avLst/>
          </a:prstGeom>
          <a:noFill/>
        </p:spPr>
        <p:txBody>
          <a:bodyPr wrap="square" lIns="0" tIns="0" rIns="0" bIns="0" anchor="t">
            <a:spAutoFit/>
          </a:bodyPr>
          <a:lstStyle/>
          <a:p>
            <a:pPr>
              <a:spcAft>
                <a:spcPts val="300"/>
              </a:spcAft>
              <a:defRPr sz="2200" b="1">
                <a:solidFill>
                  <a:srgbClr val="19283D"/>
                </a:solidFill>
                <a:latin typeface="Aptos"/>
              </a:defRPr>
            </a:pPr>
            <a:r>
              <a:t>Ground</a:t>
            </a:r>
          </a:p>
        </p:txBody>
      </p:sp>
      <p:sp>
        <p:nvSpPr>
          <p:cNvPr id="18" name="TextBox 17"/>
          <p:cNvSpPr txBox="1"/>
          <p:nvPr/>
        </p:nvSpPr>
        <p:spPr>
          <a:xfrm>
            <a:off x="4581144" y="3474720"/>
            <a:ext cx="3026664" cy="1078992"/>
          </a:xfrm>
          <a:prstGeom prst="rect">
            <a:avLst/>
          </a:prstGeom>
          <a:noFill/>
        </p:spPr>
        <p:txBody>
          <a:bodyPr wrap="square" lIns="0" tIns="0" rIns="0" bIns="0" anchor="t">
            <a:spAutoFit/>
          </a:bodyPr>
          <a:lstStyle/>
          <a:p>
            <a:pPr>
              <a:spcAft>
                <a:spcPts val="300"/>
              </a:spcAft>
              <a:defRPr sz="1500" b="0">
                <a:solidFill>
                  <a:srgbClr val="58697B"/>
                </a:solidFill>
                <a:latin typeface="Aptos"/>
              </a:defRPr>
            </a:pPr>
            <a:r>
              <a:t>Bind each skill to objects, rooms and executable actions</a:t>
            </a:r>
          </a:p>
        </p:txBody>
      </p:sp>
      <p:sp>
        <p:nvSpPr>
          <p:cNvPr id="19" name="Rounded Rectangle 18"/>
          <p:cNvSpPr/>
          <p:nvPr/>
        </p:nvSpPr>
        <p:spPr>
          <a:xfrm>
            <a:off x="8202167" y="1947672"/>
            <a:ext cx="3465576" cy="3063240"/>
          </a:xfrm>
          <a:prstGeom prst="roundRect">
            <a:avLst/>
          </a:prstGeom>
          <a:solidFill>
            <a:srgbClr val="F1F6FB"/>
          </a:solidFill>
          <a:ln>
            <a:solidFill>
              <a:srgbClr val="DB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02167" y="1947672"/>
            <a:ext cx="3465576" cy="118872"/>
          </a:xfrm>
          <a:prstGeom prst="rect">
            <a:avLst/>
          </a:prstGeom>
          <a:solidFill>
            <a:srgbClr val="EFA3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3336" y="2267712"/>
            <a:ext cx="521207" cy="365760"/>
          </a:xfrm>
          <a:prstGeom prst="rect">
            <a:avLst/>
          </a:prstGeom>
          <a:noFill/>
        </p:spPr>
        <p:txBody>
          <a:bodyPr wrap="square" lIns="0" tIns="0" rIns="0" bIns="0" anchor="t">
            <a:spAutoFit/>
          </a:bodyPr>
          <a:lstStyle/>
          <a:p>
            <a:pPr>
              <a:spcAft>
                <a:spcPts val="300"/>
              </a:spcAft>
              <a:defRPr sz="1900" b="1">
                <a:solidFill>
                  <a:srgbClr val="EFA33C"/>
                </a:solidFill>
                <a:latin typeface="Aptos"/>
              </a:defRPr>
            </a:pPr>
            <a:r>
              <a:t>03</a:t>
            </a:r>
          </a:p>
        </p:txBody>
      </p:sp>
      <p:sp>
        <p:nvSpPr>
          <p:cNvPr id="22" name="TextBox 21"/>
          <p:cNvSpPr txBox="1"/>
          <p:nvPr/>
        </p:nvSpPr>
        <p:spPr>
          <a:xfrm>
            <a:off x="8403336" y="2852928"/>
            <a:ext cx="3017520" cy="448056"/>
          </a:xfrm>
          <a:prstGeom prst="rect">
            <a:avLst/>
          </a:prstGeom>
          <a:noFill/>
        </p:spPr>
        <p:txBody>
          <a:bodyPr wrap="square" lIns="0" tIns="0" rIns="0" bIns="0" anchor="t">
            <a:spAutoFit/>
          </a:bodyPr>
          <a:lstStyle/>
          <a:p>
            <a:pPr>
              <a:spcAft>
                <a:spcPts val="300"/>
              </a:spcAft>
              <a:defRPr sz="2200" b="1">
                <a:solidFill>
                  <a:srgbClr val="19283D"/>
                </a:solidFill>
                <a:latin typeface="Aptos"/>
              </a:defRPr>
            </a:pPr>
            <a:r>
              <a:t>Verify &amp; replan</a:t>
            </a:r>
          </a:p>
        </p:txBody>
      </p:sp>
      <p:sp>
        <p:nvSpPr>
          <p:cNvPr id="23" name="TextBox 22"/>
          <p:cNvSpPr txBox="1"/>
          <p:nvPr/>
        </p:nvSpPr>
        <p:spPr>
          <a:xfrm>
            <a:off x="8403336" y="3474720"/>
            <a:ext cx="3026664" cy="1078992"/>
          </a:xfrm>
          <a:prstGeom prst="rect">
            <a:avLst/>
          </a:prstGeom>
          <a:noFill/>
        </p:spPr>
        <p:txBody>
          <a:bodyPr wrap="square" lIns="0" tIns="0" rIns="0" bIns="0" anchor="t">
            <a:spAutoFit/>
          </a:bodyPr>
          <a:lstStyle/>
          <a:p>
            <a:pPr>
              <a:spcAft>
                <a:spcPts val="300"/>
              </a:spcAft>
              <a:defRPr sz="1500" b="0">
                <a:solidFill>
                  <a:srgbClr val="58697B"/>
                </a:solidFill>
                <a:latin typeface="Aptos"/>
              </a:defRPr>
            </a:pPr>
            <a:r>
              <a:t>Observe the outcome, detect failure and revise the next step</a:t>
            </a:r>
          </a:p>
        </p:txBody>
      </p:sp>
      <p:sp>
        <p:nvSpPr>
          <p:cNvPr id="24" name="TextBox 23"/>
          <p:cNvSpPr txBox="1"/>
          <p:nvPr/>
        </p:nvSpPr>
        <p:spPr>
          <a:xfrm>
            <a:off x="621792" y="5504688"/>
            <a:ext cx="10954512" cy="484632"/>
          </a:xfrm>
          <a:prstGeom prst="rect">
            <a:avLst/>
          </a:prstGeom>
          <a:noFill/>
        </p:spPr>
        <p:txBody>
          <a:bodyPr wrap="square" lIns="0" tIns="0" rIns="0" bIns="0" anchor="t">
            <a:spAutoFit/>
          </a:bodyPr>
          <a:lstStyle/>
          <a:p>
            <a:pPr>
              <a:spcAft>
                <a:spcPts val="300"/>
              </a:spcAft>
              <a:defRPr sz="1800" b="1">
                <a:solidFill>
                  <a:srgbClr val="101F34"/>
                </a:solidFill>
                <a:latin typeface="Aptos"/>
              </a:defRPr>
            </a:pPr>
            <a:r>
              <a:t>ZenoBench is the execution and evaluation substrate for the upper-level Skill Graph design.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pper_figure_1_skill_graph.png"/>
          <p:cNvPicPr>
            <a:picLocks noChangeAspect="1"/>
          </p:cNvPicPr>
          <p:nvPr/>
        </p:nvPicPr>
        <p:blipFill>
          <a:blip r:embed="rId1"/>
          <a:stretch>
            <a:fillRect/>
          </a:stretch>
        </p:blipFill>
        <p:spPr>
          <a:xfrm>
            <a:off x="0" y="431874"/>
            <a:ext cx="12191695" cy="59942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pper_figure_2_skill_library.png"/>
          <p:cNvPicPr>
            <a:picLocks noChangeAspect="1"/>
          </p:cNvPicPr>
          <p:nvPr/>
        </p:nvPicPr>
        <p:blipFill>
          <a:blip r:embed="rId1"/>
          <a:stretch>
            <a:fillRect/>
          </a:stretch>
        </p:blipFill>
        <p:spPr>
          <a:xfrm>
            <a:off x="300354" y="0"/>
            <a:ext cx="1159098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4458</Words>
  <Application>WPS Presentation</Application>
  <PresentationFormat>On-screen Show (4:3)</PresentationFormat>
  <Paragraphs>298</Paragraphs>
  <Slides>12</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12</vt:i4>
      </vt:variant>
    </vt:vector>
  </HeadingPairs>
  <TitlesOfParts>
    <vt:vector size="24" baseType="lpstr">
      <vt:lpstr>Arial</vt:lpstr>
      <vt:lpstr>SimSun</vt:lpstr>
      <vt:lpstr>Wingdings</vt:lpstr>
      <vt:lpstr>Arial</vt:lpstr>
      <vt:lpstr>DejaVu Sans</vt:lpstr>
      <vt:lpstr>Aptos</vt:lpstr>
      <vt:lpstr>C059</vt:lpstr>
      <vt:lpstr>Calibri</vt:lpstr>
      <vt:lpstr>Microsoft YaHei</vt:lpstr>
      <vt:lpstr>Droid Sans Fallback</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ZenoBench: Generated Worlds to Household Tasks</dc:title>
  <dc:creator/>
  <cp:keywords>ZenoBench; EmbodiedGen V2; atomic policy; Skill Graph</cp:keywords>
  <dc:description>generated using python-pptx</dc:description>
  <dc:subject>Group meeting overview, current atomic policies, task demos and upper-level handoff</dc:subject>
  <cp:lastModifiedBy>all</cp:lastModifiedBy>
  <cp:revision>2</cp:revision>
  <dcterms:created xsi:type="dcterms:W3CDTF">2026-10-04T18:33:23Z</dcterms:created>
  <dcterms:modified xsi:type="dcterms:W3CDTF">2026-10-04T18:33:23Z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
  </property>
  <property fmtid="{D5CDD505-2E9C-101B-9397-08002B2CF9AE}" pid="3" name="KSOProductBuildVer">
    <vt:lpwstr>1033-11.1.0.11723</vt:lpwstr>
  </property>
</Properties>
</file>