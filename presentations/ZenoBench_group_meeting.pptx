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talk is a high-level overview: upstream EmbodiedGen V2, what ZenoBench contains, task demos, and the proposed upper-level skill-graph interface.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EmbodiedGen V2 is upstream. It documents text/image-to-3D assets, multi-room scenes and task-driven world composition: https://github.com/HorizonRobotics/EmbodiedGen/blob/master/README.md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house is an Infinigen layout, and the task objects are EmbodiedGen V2-generated. The repo prepares assets, room interactions, task scenes and scoring. This slide is intentionally a simple inventory, not an implementation pipeline.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Keep this high-level. These are things the system can demonstrate; do not explain trajectory controllers here. Recorded videos show whole scripted-policy runs and state-based evaluation.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planner sees SkillNodes only. A Contract checks GT preconditions before execution, chooses a policy path by noun, and checks GT postconditions afterwards; a failure returns an error code and the measured predicates. Numbers: 70 SkillNodes / 70 Contracts / 120 policy paths over 114 policies (README). Regression on benchmark-v1: 27/35 scenarios pass. 6 failed before at the same step (sort, empty, fridge place, microwave oatmeal place, pour, two-hand box). k_separate and k_restore_swap fail identically on a clean 15d948e, so they are baseline failures, not new ones. Do not say all 70 skills are stable.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All eight names come from task_specs. There are five organization/preparation tasks and three appliance tasks. The README includes representative runs; the task list is not a claim of robust success across all seeds.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If time is limited, play only one clip. These stills come from the recorded collect_fruits, tidy_toys and shelve_books videos. Video paths are listed in SPEAKER_NOTES.md.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heat_breakfast seed-0 rollout achieved 100% of its four goals. The repo video shows the full sequence. Heating is modeled at task level, not with PhysX thermal simulation. Avoid quoting this as general success rate.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These are recorded examples, not a statistical benchmark result. The repo has six successful videos in the main task table, a separate successful preloaded microwave smoke run, and one partial breakfast_setup run at 67% after a mug drop. The full heat_breakfast task has a seed-0 successful rollout.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Transition to the planning benchmark. The task suite above shows what the skills can do; the benchmark asks whether a planner picks the right skills when things go wrong.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Built on benchmark-v1. No new skills or policies: a planner differs only in which calls it makes. The observation is LimitedSession.observe(); the planner never sees GT. Success is decided from Isaac Sim GT, 60 ticks after the last call.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gate keeps the planner honest: it cannot act on an object it never saw, so search/explore are real decisions. Planner interface: reset(task_instruction, skills) and next_call(observation) -&gt; {skill, args} or None. None ends the episode (planner_done); max_calls ends it with budget; an exception makes it incomplete.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Medium = the fallback or alternative condition holds. Hard = that condition plus a second one, e.g. starting in another room or facing away. T05 has no easy tier because the pen slips out of the hand 4/4; its pen route is diagnostic. Probes P01-P22 (21, no P10) cover SkillNodes that do not fit the ten tasks.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Real images from benchmark/runs/retest (seed 0). The pick failure is a real physics failure, not injected: without an overhang the edge pinch cannot close on the book. The planner has to read the feedback and choose expose. The hard tier starts in the dining room, so it must search first.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Head-camera frames from the declared scripted routes in benchmark/runs/final (seed 0). T02 and T09 are fallbacks (repair, then the same action); T07 is an alternative (another appliance).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fixed, retry and the VLM share the gate, low-level settings and budget, so they are comparable. The oracle uses full GT state and nested repair, so it is an upper bound and reported separately; the fixed-oracle gap is not a VLM gain. Empty denominators show N/A, not 0%. The eval grid is defined in benchmark/batches/eval.json and has not been run yet.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Route episodes are scripted replays of the declared routes: feasibility evidence, not planner results. Flaky: T01 hard (book slips on seed 1) and the two T02 separate routes. Baseline numbers are from one episode per task, mostly medium. 105 of 113 route episodes ran on 15d948e+dc4ae8f; only T01 was rerun on the current code.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Order matters: connecting a real VLM is most likely to expose interface issues, so it comes before the expensive grid.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Handoff to the upper-layer presenter: Figure 1 shows one Skill Subgraph per subgoal, validation, execution, verification and replanning.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Handoff to the upper-layer presenter: Figure 2 shows public SkillNodes, per-skill Contracts, the invocation adapter and heterogeneous low-level policies.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7.xml"/><Relationship Id="rId4" Type="http://schemas.openxmlformats.org/officeDocument/2006/relationships/image" Target="../media/image3.jpeg"/><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hyperlink" Target="https://github.com/CMU-Agentic-Library/ZenoBench/blob/main/media/tasks/shelve_books.mp4" TargetMode="External"/><Relationship Id="rId4" Type="http://schemas.openxmlformats.org/officeDocument/2006/relationships/image" Target="../media/image6.jpeg"/><Relationship Id="rId3" Type="http://schemas.openxmlformats.org/officeDocument/2006/relationships/hyperlink" Target="https://github.com/CMU-Agentic-Library/ZenoBench/blob/main/media/tasks/tidy_toys.mp4" TargetMode="External"/><Relationship Id="rId2" Type="http://schemas.openxmlformats.org/officeDocument/2006/relationships/image" Target="../media/image4.jpeg"/><Relationship Id="rId1" Type="http://schemas.openxmlformats.org/officeDocument/2006/relationships/hyperlink" Target="https://github.com/CMU-Agentic-Library/ZenoBench/blob/main/media/tasks/collect_fruits.mp4" TargetMode="Externa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7.xml"/><Relationship Id="rId4" Type="http://schemas.openxmlformats.org/officeDocument/2006/relationships/image" Target="../media/image3.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hyperlink" Target="https://github.com/CMU-Agentic-Library/ZenoBench/blob/main/media/tasks/heat_breakfast.mp4"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7.xml"/><Relationship Id="rId4" Type="http://schemas.openxmlformats.org/officeDocument/2006/relationships/image" Target="../media/image13.jpeg"/><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10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ouse_topdown.jpg"/>
          <p:cNvPicPr>
            <a:picLocks noChangeAspect="1"/>
          </p:cNvPicPr>
          <p:nvPr/>
        </p:nvPicPr>
        <p:blipFill>
          <a:blip r:embed="rId1"/>
          <a:srcRect l="22409" r="22409"/>
          <a:stretch>
            <a:fillRect/>
          </a:stretch>
        </p:blipFill>
        <p:spPr>
          <a:xfrm>
            <a:off x="5669280" y="292608"/>
            <a:ext cx="6144768" cy="6263640"/>
          </a:xfrm>
          <a:prstGeom prst="rect">
            <a:avLst/>
          </a:prstGeom>
        </p:spPr>
      </p:pic>
      <p:sp>
        <p:nvSpPr>
          <p:cNvPr id="4" name="Rectangle 3"/>
          <p:cNvSpPr/>
          <p:nvPr/>
        </p:nvSpPr>
        <p:spPr>
          <a:xfrm>
            <a:off x="5559552" y="292608"/>
            <a:ext cx="82296" cy="626364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060704"/>
            <a:ext cx="4681728" cy="685800"/>
          </a:xfrm>
          <a:prstGeom prst="rect">
            <a:avLst/>
          </a:prstGeom>
          <a:noFill/>
        </p:spPr>
        <p:txBody>
          <a:bodyPr wrap="square" lIns="0" tIns="0" rIns="0" bIns="0" anchor="t">
            <a:spAutoFit/>
          </a:bodyPr>
          <a:lstStyle/>
          <a:p>
            <a:pPr>
              <a:spcAft>
                <a:spcPts val="300"/>
              </a:spcAft>
              <a:defRPr sz="3600" b="1">
                <a:solidFill>
                  <a:srgbClr val="FFFFFF"/>
                </a:solidFill>
                <a:latin typeface="Aptos"/>
              </a:defRPr>
            </a:pPr>
            <a:r>
              <a:t>ZenoBench</a:t>
            </a:r>
          </a:p>
        </p:txBody>
      </p:sp>
      <p:sp>
        <p:nvSpPr>
          <p:cNvPr id="6" name="TextBox 5"/>
          <p:cNvSpPr txBox="1"/>
          <p:nvPr/>
        </p:nvSpPr>
        <p:spPr>
          <a:xfrm>
            <a:off x="594360" y="1938528"/>
            <a:ext cx="4727448" cy="1216152"/>
          </a:xfrm>
          <a:prstGeom prst="rect">
            <a:avLst/>
          </a:prstGeom>
          <a:noFill/>
        </p:spPr>
        <p:txBody>
          <a:bodyPr wrap="square" lIns="0" tIns="0" rIns="0" bIns="0" anchor="t">
            <a:spAutoFit/>
          </a:bodyPr>
          <a:lstStyle/>
          <a:p>
            <a:pPr>
              <a:spcAft>
                <a:spcPts val="300"/>
              </a:spcAft>
              <a:defRPr sz="2500" b="1">
                <a:solidFill>
                  <a:srgbClr val="FFFFFF"/>
                </a:solidFill>
                <a:latin typeface="Aptos"/>
              </a:defRPr>
            </a:pPr>
            <a:r>
              <a:t>From generated worlds to household tasks</a:t>
            </a:r>
          </a:p>
        </p:txBody>
      </p:sp>
      <p:sp>
        <p:nvSpPr>
          <p:cNvPr id="7" name="TextBox 6"/>
          <p:cNvSpPr txBox="1"/>
          <p:nvPr/>
        </p:nvSpPr>
        <p:spPr>
          <a:xfrm>
            <a:off x="603504" y="3666744"/>
            <a:ext cx="4754880" cy="649224"/>
          </a:xfrm>
          <a:prstGeom prst="rect">
            <a:avLst/>
          </a:prstGeom>
          <a:noFill/>
        </p:spPr>
        <p:txBody>
          <a:bodyPr wrap="square" lIns="0" tIns="0" rIns="0" bIns="0" anchor="t">
            <a:spAutoFit/>
          </a:bodyPr>
          <a:lstStyle/>
          <a:p>
            <a:pPr>
              <a:spcAft>
                <a:spcPts val="300"/>
              </a:spcAft>
              <a:defRPr sz="1600" b="0">
                <a:solidFill>
                  <a:srgbClr val="C2D8EA"/>
                </a:solidFill>
                <a:latin typeface="Aptos"/>
              </a:defRPr>
            </a:pPr>
            <a:r>
              <a:t>What we have · What it can do · A benchmark for the planner</a:t>
            </a:r>
          </a:p>
        </p:txBody>
      </p:sp>
      <p:sp>
        <p:nvSpPr>
          <p:cNvPr id="8" name="Rounded Rectangle 7"/>
          <p:cNvSpPr/>
          <p:nvPr/>
        </p:nvSpPr>
        <p:spPr>
          <a:xfrm>
            <a:off x="594360" y="5111496"/>
            <a:ext cx="4553712" cy="612648"/>
          </a:xfrm>
          <a:prstGeom prst="roundRect">
            <a:avLst/>
          </a:prstGeom>
          <a:solidFill>
            <a:srgbClr val="1B3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5276088"/>
            <a:ext cx="4096512" cy="292608"/>
          </a:xfrm>
          <a:prstGeom prst="rect">
            <a:avLst/>
          </a:prstGeom>
          <a:noFill/>
        </p:spPr>
        <p:txBody>
          <a:bodyPr wrap="square" lIns="0" tIns="0" rIns="0" bIns="0" anchor="t">
            <a:spAutoFit/>
          </a:bodyPr>
          <a:lstStyle/>
          <a:p>
            <a:pPr>
              <a:spcAft>
                <a:spcPts val="300"/>
              </a:spcAft>
              <a:defRPr sz="1400" b="1">
                <a:solidFill>
                  <a:srgbClr val="FFFFFF"/>
                </a:solidFill>
                <a:latin typeface="Aptos"/>
              </a:defRPr>
            </a:pPr>
            <a:r>
              <a:t>Group meeting  |  October 2026</a:t>
            </a:r>
          </a:p>
        </p:txBody>
      </p:sp>
      <p:sp>
        <p:nvSpPr>
          <p:cNvPr id="10" name="TextBox 9"/>
          <p:cNvSpPr txBox="1"/>
          <p:nvPr/>
        </p:nvSpPr>
        <p:spPr>
          <a:xfrm>
            <a:off x="612648" y="6245352"/>
            <a:ext cx="5157216" cy="228600"/>
          </a:xfrm>
          <a:prstGeom prst="rect">
            <a:avLst/>
          </a:prstGeom>
          <a:noFill/>
        </p:spPr>
        <p:txBody>
          <a:bodyPr wrap="square" lIns="0" tIns="0" rIns="0" bIns="0" anchor="t">
            <a:spAutoFit/>
          </a:bodyPr>
          <a:lstStyle/>
          <a:p>
            <a:pPr>
              <a:spcAft>
                <a:spcPts val="300"/>
              </a:spcAft>
              <a:defRPr sz="1080" b="0">
                <a:solidFill>
                  <a:srgbClr val="BCD3E4"/>
                </a:solidFill>
                <a:latin typeface="Aptos"/>
              </a:defRPr>
            </a:pPr>
            <a:r>
              <a:t>github.com/CMU-Agentic-Library/ZenoBench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210312"/>
          </a:xfrm>
          <a:prstGeom prst="rect">
            <a:avLst/>
          </a:prstGeom>
          <a:noFill/>
        </p:spPr>
        <p:txBody>
          <a:bodyPr wrap="square" lIns="0" tIns="0" rIns="0" bIns="0" anchor="t">
            <a:spAutoFit/>
          </a:bodyPr>
          <a:lstStyle/>
          <a:p>
            <a:pPr>
              <a:spcAft>
                <a:spcPts val="300"/>
              </a:spcAft>
              <a:defRPr sz="1000" b="1">
                <a:solidFill>
                  <a:srgbClr val="008F93"/>
                </a:solidFill>
                <a:latin typeface="Aptos"/>
              </a:defRPr>
            </a:pPr>
            <a:r>
              <a:t>BACKGROUND</a:t>
            </a:r>
          </a:p>
        </p:txBody>
      </p:sp>
      <p:sp>
        <p:nvSpPr>
          <p:cNvPr id="4" name="TextBox 3"/>
          <p:cNvSpPr txBox="1"/>
          <p:nvPr/>
        </p:nvSpPr>
        <p:spPr>
          <a:xfrm>
            <a:off x="502920" y="585216"/>
            <a:ext cx="11018520" cy="685800"/>
          </a:xfrm>
          <a:prstGeom prst="rect">
            <a:avLst/>
          </a:prstGeom>
          <a:noFill/>
        </p:spPr>
        <p:txBody>
          <a:bodyPr wrap="square" lIns="0" tIns="0" rIns="0" bIns="0" anchor="t">
            <a:spAutoFit/>
          </a:bodyPr>
          <a:lstStyle/>
          <a:p>
            <a:pPr>
              <a:spcAft>
                <a:spcPts val="300"/>
              </a:spcAft>
              <a:defRPr sz="2800" b="1">
                <a:solidFill>
                  <a:srgbClr val="19283D"/>
                </a:solidFill>
                <a:latin typeface="Aptos"/>
              </a:defRPr>
            </a:pPr>
            <a:r>
              <a:t>EmbodiedGen V2 generates simulation-ready worlds</a:t>
            </a:r>
          </a:p>
        </p:txBody>
      </p:sp>
      <p:sp>
        <p:nvSpPr>
          <p:cNvPr id="5" name="TextBox 4"/>
          <p:cNvSpPr txBox="1"/>
          <p:nvPr/>
        </p:nvSpPr>
        <p:spPr>
          <a:xfrm>
            <a:off x="521207" y="1261872"/>
            <a:ext cx="10972800" cy="393192"/>
          </a:xfrm>
          <a:prstGeom prst="rect">
            <a:avLst/>
          </a:prstGeom>
          <a:noFill/>
        </p:spPr>
        <p:txBody>
          <a:bodyPr wrap="square" lIns="0" tIns="0" rIns="0" bIns="0" anchor="t">
            <a:spAutoFit/>
          </a:bodyPr>
          <a:lstStyle/>
          <a:p>
            <a:pPr>
              <a:spcAft>
                <a:spcPts val="300"/>
              </a:spcAft>
              <a:defRPr sz="1250" b="0">
                <a:solidFill>
                  <a:srgbClr val="58697B"/>
                </a:solidFill>
                <a:latin typeface="Aptos"/>
              </a:defRPr>
            </a:pPr>
            <a:r>
              <a:t>The upstream system turns language or images into assets, rooms and task layouts.</a:t>
            </a:r>
          </a:p>
        </p:txBody>
      </p:sp>
      <p:sp>
        <p:nvSpPr>
          <p:cNvPr id="6" name="Rectangle 5"/>
          <p:cNvSpPr/>
          <p:nvPr/>
        </p:nvSpPr>
        <p:spPr>
          <a:xfrm>
            <a:off x="502920" y="6473952"/>
            <a:ext cx="11183112" cy="10972"/>
          </a:xfrm>
          <a:prstGeom prst="rect">
            <a:avLst/>
          </a:prstGeom>
          <a:solidFill>
            <a:srgbClr val="DB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6519672"/>
            <a:ext cx="7315200" cy="164592"/>
          </a:xfrm>
          <a:prstGeom prst="rect">
            <a:avLst/>
          </a:prstGeom>
          <a:noFill/>
        </p:spPr>
        <p:txBody>
          <a:bodyPr wrap="square" lIns="0" tIns="0" rIns="0" bIns="0" anchor="t">
            <a:spAutoFit/>
          </a:bodyPr>
          <a:lstStyle/>
          <a:p>
            <a:pPr>
              <a:spcAft>
                <a:spcPts val="300"/>
              </a:spcAft>
              <a:defRPr sz="850" b="0">
                <a:solidFill>
                  <a:srgbClr val="58697B"/>
                </a:solidFill>
                <a:latin typeface="Aptos"/>
              </a:defRPr>
            </a:pPr>
            <a:r>
              <a:t>ZenoBench  ·  CMU Agentic Library</a:t>
            </a:r>
          </a:p>
        </p:txBody>
      </p:sp>
      <p:sp>
        <p:nvSpPr>
          <p:cNvPr id="8" name="TextBox 7"/>
          <p:cNvSpPr txBox="1"/>
          <p:nvPr/>
        </p:nvSpPr>
        <p:spPr>
          <a:xfrm>
            <a:off x="11100816" y="6510528"/>
            <a:ext cx="566928" cy="182880"/>
          </a:xfrm>
          <a:prstGeom prst="rect">
            <a:avLst/>
          </a:prstGeom>
          <a:noFill/>
        </p:spPr>
        <p:txBody>
          <a:bodyPr wrap="square" lIns="0" tIns="0" rIns="0" bIns="0" anchor="t">
            <a:spAutoFit/>
          </a:bodyPr>
          <a:lstStyle/>
          <a:p>
            <a:pPr algn="r">
              <a:spcAft>
                <a:spcPts val="300"/>
              </a:spcAft>
              <a:defRPr sz="850" b="0">
                <a:solidFill>
                  <a:srgbClr val="58697B"/>
                </a:solidFill>
                <a:latin typeface="Aptos"/>
              </a:defRPr>
            </a:pPr>
            <a:r>
              <a:t>02 / 20</a:t>
            </a:r>
          </a:p>
        </p:txBody>
      </p:sp>
      <p:sp>
        <p:nvSpPr>
          <p:cNvPr id="9" name="Rounded Rectangle 8"/>
          <p:cNvSpPr/>
          <p:nvPr/>
        </p:nvSpPr>
        <p:spPr>
          <a:xfrm>
            <a:off x="594360" y="1911095"/>
            <a:ext cx="3410712" cy="2276856"/>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911095"/>
            <a:ext cx="3410712" cy="11887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276856"/>
            <a:ext cx="2999232" cy="429768"/>
          </a:xfrm>
          <a:prstGeom prst="rect">
            <a:avLst/>
          </a:prstGeom>
          <a:noFill/>
        </p:spPr>
        <p:txBody>
          <a:bodyPr wrap="square" lIns="0" tIns="0" rIns="0" bIns="0" anchor="t">
            <a:spAutoFit/>
          </a:bodyPr>
          <a:lstStyle/>
          <a:p>
            <a:pPr>
              <a:spcAft>
                <a:spcPts val="300"/>
              </a:spcAft>
              <a:defRPr sz="2300" b="1">
                <a:solidFill>
                  <a:srgbClr val="19283D"/>
                </a:solidFill>
                <a:latin typeface="Aptos"/>
              </a:defRPr>
            </a:pPr>
            <a:r>
              <a:t>Assets</a:t>
            </a:r>
          </a:p>
        </p:txBody>
      </p:sp>
      <p:sp>
        <p:nvSpPr>
          <p:cNvPr id="12" name="TextBox 11"/>
          <p:cNvSpPr txBox="1"/>
          <p:nvPr/>
        </p:nvSpPr>
        <p:spPr>
          <a:xfrm>
            <a:off x="795528" y="2898648"/>
            <a:ext cx="2990088" cy="941832"/>
          </a:xfrm>
          <a:prstGeom prst="rect">
            <a:avLst/>
          </a:prstGeom>
          <a:noFill/>
        </p:spPr>
        <p:txBody>
          <a:bodyPr wrap="square" lIns="0" tIns="0" rIns="0" bIns="0" anchor="t">
            <a:spAutoFit/>
          </a:bodyPr>
          <a:lstStyle/>
          <a:p>
            <a:pPr>
              <a:spcAft>
                <a:spcPts val="300"/>
              </a:spcAft>
              <a:defRPr sz="1500" b="0">
                <a:solidFill>
                  <a:srgbClr val="58697B"/>
                </a:solidFill>
                <a:latin typeface="Aptos"/>
              </a:defRPr>
            </a:pPr>
            <a:r>
              <a:t>3D objects with geometry, appearance and physical properties</a:t>
            </a:r>
          </a:p>
        </p:txBody>
      </p:sp>
      <p:sp>
        <p:nvSpPr>
          <p:cNvPr id="13" name="TextBox 12"/>
          <p:cNvSpPr txBox="1"/>
          <p:nvPr/>
        </p:nvSpPr>
        <p:spPr>
          <a:xfrm>
            <a:off x="4050791" y="2807208"/>
            <a:ext cx="256032" cy="356616"/>
          </a:xfrm>
          <a:prstGeom prst="rect">
            <a:avLst/>
          </a:prstGeom>
          <a:noFill/>
        </p:spPr>
        <p:txBody>
          <a:bodyPr wrap="square" lIns="0" tIns="0" rIns="0" bIns="0" anchor="t">
            <a:spAutoFit/>
          </a:bodyPr>
          <a:lstStyle/>
          <a:p>
            <a:pPr>
              <a:spcAft>
                <a:spcPts val="300"/>
              </a:spcAft>
              <a:defRPr sz="2400" b="1">
                <a:solidFill>
                  <a:srgbClr val="2468BC"/>
                </a:solidFill>
                <a:latin typeface="Aptos"/>
              </a:defRPr>
            </a:pPr>
            <a:r>
              <a:t>→</a:t>
            </a:r>
          </a:p>
        </p:txBody>
      </p:sp>
      <p:sp>
        <p:nvSpPr>
          <p:cNvPr id="14" name="Rounded Rectangle 13"/>
          <p:cNvSpPr/>
          <p:nvPr/>
        </p:nvSpPr>
        <p:spPr>
          <a:xfrm>
            <a:off x="4425696" y="1911095"/>
            <a:ext cx="3410712" cy="2276856"/>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25696" y="1911095"/>
            <a:ext cx="3410712" cy="118872"/>
          </a:xfrm>
          <a:prstGeom prst="rect">
            <a:avLst/>
          </a:prstGeom>
          <a:solidFill>
            <a:srgbClr val="2468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2276856"/>
            <a:ext cx="2999232" cy="429768"/>
          </a:xfrm>
          <a:prstGeom prst="rect">
            <a:avLst/>
          </a:prstGeom>
          <a:noFill/>
        </p:spPr>
        <p:txBody>
          <a:bodyPr wrap="square" lIns="0" tIns="0" rIns="0" bIns="0" anchor="t">
            <a:spAutoFit/>
          </a:bodyPr>
          <a:lstStyle/>
          <a:p>
            <a:pPr>
              <a:spcAft>
                <a:spcPts val="300"/>
              </a:spcAft>
              <a:defRPr sz="2300" b="1">
                <a:solidFill>
                  <a:srgbClr val="19283D"/>
                </a:solidFill>
                <a:latin typeface="Aptos"/>
              </a:defRPr>
            </a:pPr>
            <a:r>
              <a:t>Scenes</a:t>
            </a:r>
          </a:p>
        </p:txBody>
      </p:sp>
      <p:sp>
        <p:nvSpPr>
          <p:cNvPr id="17" name="TextBox 16"/>
          <p:cNvSpPr txBox="1"/>
          <p:nvPr/>
        </p:nvSpPr>
        <p:spPr>
          <a:xfrm>
            <a:off x="4626864" y="2898648"/>
            <a:ext cx="2990088" cy="941832"/>
          </a:xfrm>
          <a:prstGeom prst="rect">
            <a:avLst/>
          </a:prstGeom>
          <a:noFill/>
        </p:spPr>
        <p:txBody>
          <a:bodyPr wrap="square" lIns="0" tIns="0" rIns="0" bIns="0" anchor="t">
            <a:spAutoFit/>
          </a:bodyPr>
          <a:lstStyle/>
          <a:p>
            <a:pPr>
              <a:spcAft>
                <a:spcPts val="300"/>
              </a:spcAft>
              <a:defRPr sz="1500" b="0">
                <a:solidFill>
                  <a:srgbClr val="58697B"/>
                </a:solidFill>
                <a:latin typeface="Aptos"/>
              </a:defRPr>
            </a:pPr>
            <a:r>
              <a:t>Navigable multi-room environments</a:t>
            </a:r>
          </a:p>
        </p:txBody>
      </p:sp>
      <p:sp>
        <p:nvSpPr>
          <p:cNvPr id="18" name="TextBox 17"/>
          <p:cNvSpPr txBox="1"/>
          <p:nvPr/>
        </p:nvSpPr>
        <p:spPr>
          <a:xfrm>
            <a:off x="7882128" y="2807208"/>
            <a:ext cx="256032" cy="356616"/>
          </a:xfrm>
          <a:prstGeom prst="rect">
            <a:avLst/>
          </a:prstGeom>
          <a:noFill/>
        </p:spPr>
        <p:txBody>
          <a:bodyPr wrap="square" lIns="0" tIns="0" rIns="0" bIns="0" anchor="t">
            <a:spAutoFit/>
          </a:bodyPr>
          <a:lstStyle/>
          <a:p>
            <a:pPr>
              <a:spcAft>
                <a:spcPts val="300"/>
              </a:spcAft>
              <a:defRPr sz="2400" b="1">
                <a:solidFill>
                  <a:srgbClr val="2468BC"/>
                </a:solidFill>
                <a:latin typeface="Aptos"/>
              </a:defRPr>
            </a:pPr>
            <a:r>
              <a:t>→</a:t>
            </a:r>
          </a:p>
        </p:txBody>
      </p:sp>
      <p:sp>
        <p:nvSpPr>
          <p:cNvPr id="19" name="Rounded Rectangle 18"/>
          <p:cNvSpPr/>
          <p:nvPr/>
        </p:nvSpPr>
        <p:spPr>
          <a:xfrm>
            <a:off x="8257032" y="1911095"/>
            <a:ext cx="3410712" cy="2276856"/>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7032" y="1911095"/>
            <a:ext cx="3410712" cy="118872"/>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2276856"/>
            <a:ext cx="2999232" cy="429768"/>
          </a:xfrm>
          <a:prstGeom prst="rect">
            <a:avLst/>
          </a:prstGeom>
          <a:noFill/>
        </p:spPr>
        <p:txBody>
          <a:bodyPr wrap="square" lIns="0" tIns="0" rIns="0" bIns="0" anchor="t">
            <a:spAutoFit/>
          </a:bodyPr>
          <a:lstStyle/>
          <a:p>
            <a:pPr>
              <a:spcAft>
                <a:spcPts val="300"/>
              </a:spcAft>
              <a:defRPr sz="2300" b="1">
                <a:solidFill>
                  <a:srgbClr val="19283D"/>
                </a:solidFill>
                <a:latin typeface="Aptos"/>
              </a:defRPr>
            </a:pPr>
            <a:r>
              <a:t>Task worlds</a:t>
            </a:r>
          </a:p>
        </p:txBody>
      </p:sp>
      <p:sp>
        <p:nvSpPr>
          <p:cNvPr id="22" name="TextBox 21"/>
          <p:cNvSpPr txBox="1"/>
          <p:nvPr/>
        </p:nvSpPr>
        <p:spPr>
          <a:xfrm>
            <a:off x="8458200" y="2898648"/>
            <a:ext cx="2990088" cy="941832"/>
          </a:xfrm>
          <a:prstGeom prst="rect">
            <a:avLst/>
          </a:prstGeom>
          <a:noFill/>
        </p:spPr>
        <p:txBody>
          <a:bodyPr wrap="square" lIns="0" tIns="0" rIns="0" bIns="0" anchor="t">
            <a:spAutoFit/>
          </a:bodyPr>
          <a:lstStyle/>
          <a:p>
            <a:pPr>
              <a:spcAft>
                <a:spcPts val="300"/>
              </a:spcAft>
              <a:defRPr sz="1500" b="0">
                <a:solidFill>
                  <a:srgbClr val="58697B"/>
                </a:solidFill>
                <a:latin typeface="Aptos"/>
              </a:defRPr>
            </a:pPr>
            <a:r>
              <a:t>Objects arranged for interactive robot tasks</a:t>
            </a:r>
          </a:p>
        </p:txBody>
      </p:sp>
      <p:sp>
        <p:nvSpPr>
          <p:cNvPr id="23" name="Rounded Rectangle 22"/>
          <p:cNvSpPr/>
          <p:nvPr/>
        </p:nvSpPr>
        <p:spPr>
          <a:xfrm>
            <a:off x="594360" y="4681728"/>
            <a:ext cx="11036808" cy="758952"/>
          </a:xfrm>
          <a:prstGeom prst="roundRect">
            <a:avLst/>
          </a:prstGeom>
          <a:solidFill>
            <a:srgbClr val="E5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6" y="4882896"/>
            <a:ext cx="10597896" cy="365760"/>
          </a:xfrm>
          <a:prstGeom prst="rect">
            <a:avLst/>
          </a:prstGeom>
          <a:noFill/>
        </p:spPr>
        <p:txBody>
          <a:bodyPr wrap="square" lIns="0" tIns="0" rIns="0" bIns="0" anchor="t">
            <a:spAutoFit/>
          </a:bodyPr>
          <a:lstStyle/>
          <a:p>
            <a:pPr>
              <a:spcAft>
                <a:spcPts val="300"/>
              </a:spcAft>
              <a:defRPr sz="1700" b="1">
                <a:solidFill>
                  <a:srgbClr val="101F34"/>
                </a:solidFill>
                <a:latin typeface="Aptos"/>
              </a:defRPr>
            </a:pPr>
            <a:r>
              <a:t>ZenoBench uses these generated objects in a reusable house and turns them into runnable, measurable tasks.</a:t>
            </a:r>
          </a:p>
        </p:txBody>
      </p:sp>
      <p:sp>
        <p:nvSpPr>
          <p:cNvPr id="25" name="TextBox 24"/>
          <p:cNvSpPr txBox="1"/>
          <p:nvPr/>
        </p:nvSpPr>
        <p:spPr>
          <a:xfrm>
            <a:off x="621792" y="5879592"/>
            <a:ext cx="10469880" cy="201168"/>
          </a:xfrm>
          <a:prstGeom prst="rect">
            <a:avLst/>
          </a:prstGeom>
          <a:noFill/>
        </p:spPr>
        <p:txBody>
          <a:bodyPr wrap="square" lIns="0" tIns="0" rIns="0" bIns="0" anchor="t">
            <a:spAutoFit/>
          </a:bodyPr>
          <a:lstStyle/>
          <a:p>
            <a:pPr>
              <a:spcAft>
                <a:spcPts val="300"/>
              </a:spcAft>
              <a:defRPr sz="1000" b="0">
                <a:solidFill>
                  <a:srgbClr val="58697B"/>
                </a:solidFill>
                <a:latin typeface="Aptos"/>
              </a:defRPr>
            </a:pPr>
            <a:r>
              <a:t>Source: HorizonRobotics / EmbodiedGen V2 README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210312"/>
          </a:xfrm>
          <a:prstGeom prst="rect">
            <a:avLst/>
          </a:prstGeom>
          <a:noFill/>
        </p:spPr>
        <p:txBody>
          <a:bodyPr wrap="square" lIns="0" tIns="0" rIns="0" bIns="0" anchor="t">
            <a:spAutoFit/>
          </a:bodyPr>
          <a:lstStyle/>
          <a:p>
            <a:pPr>
              <a:spcAft>
                <a:spcPts val="300"/>
              </a:spcAft>
              <a:defRPr sz="1000" b="1">
                <a:solidFill>
                  <a:srgbClr val="008F93"/>
                </a:solidFill>
                <a:latin typeface="Aptos"/>
              </a:defRPr>
            </a:pPr>
            <a:r>
              <a:t>WHAT I BUILT</a:t>
            </a:r>
          </a:p>
        </p:txBody>
      </p:sp>
      <p:sp>
        <p:nvSpPr>
          <p:cNvPr id="4" name="TextBox 3"/>
          <p:cNvSpPr txBox="1"/>
          <p:nvPr/>
        </p:nvSpPr>
        <p:spPr>
          <a:xfrm>
            <a:off x="502920" y="585216"/>
            <a:ext cx="11018520" cy="685800"/>
          </a:xfrm>
          <a:prstGeom prst="rect">
            <a:avLst/>
          </a:prstGeom>
          <a:noFill/>
        </p:spPr>
        <p:txBody>
          <a:bodyPr wrap="square" lIns="0" tIns="0" rIns="0" bIns="0" anchor="t">
            <a:spAutoFit/>
          </a:bodyPr>
          <a:lstStyle/>
          <a:p>
            <a:pPr>
              <a:spcAft>
                <a:spcPts val="300"/>
              </a:spcAft>
              <a:defRPr sz="2800" b="1">
                <a:solidFill>
                  <a:srgbClr val="19283D"/>
                </a:solidFill>
                <a:latin typeface="Aptos"/>
              </a:defRPr>
            </a:pPr>
            <a:r>
              <a:t>ZenoBench at a glance</a:t>
            </a:r>
          </a:p>
        </p:txBody>
      </p:sp>
      <p:sp>
        <p:nvSpPr>
          <p:cNvPr id="5" name="TextBox 4"/>
          <p:cNvSpPr txBox="1"/>
          <p:nvPr/>
        </p:nvSpPr>
        <p:spPr>
          <a:xfrm>
            <a:off x="521207" y="1261872"/>
            <a:ext cx="10972800" cy="393192"/>
          </a:xfrm>
          <a:prstGeom prst="rect">
            <a:avLst/>
          </a:prstGeom>
          <a:noFill/>
        </p:spPr>
        <p:txBody>
          <a:bodyPr wrap="square" lIns="0" tIns="0" rIns="0" bIns="0" anchor="t">
            <a:spAutoFit/>
          </a:bodyPr>
          <a:lstStyle/>
          <a:p>
            <a:pPr>
              <a:spcAft>
                <a:spcPts val="300"/>
              </a:spcAft>
              <a:defRPr sz="1250" b="0">
                <a:solidFill>
                  <a:srgbClr val="58697B"/>
                </a:solidFill>
                <a:latin typeface="Aptos"/>
              </a:defRPr>
            </a:pPr>
            <a:r>
              <a:t>One reusable home, generated task objects, and a suite of executable household goals.</a:t>
            </a:r>
          </a:p>
        </p:txBody>
      </p:sp>
      <p:sp>
        <p:nvSpPr>
          <p:cNvPr id="6" name="Rectangle 5"/>
          <p:cNvSpPr/>
          <p:nvPr/>
        </p:nvSpPr>
        <p:spPr>
          <a:xfrm>
            <a:off x="502920" y="6473952"/>
            <a:ext cx="11183112" cy="10972"/>
          </a:xfrm>
          <a:prstGeom prst="rect">
            <a:avLst/>
          </a:prstGeom>
          <a:solidFill>
            <a:srgbClr val="DB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6519672"/>
            <a:ext cx="7315200" cy="164592"/>
          </a:xfrm>
          <a:prstGeom prst="rect">
            <a:avLst/>
          </a:prstGeom>
          <a:noFill/>
        </p:spPr>
        <p:txBody>
          <a:bodyPr wrap="square" lIns="0" tIns="0" rIns="0" bIns="0" anchor="t">
            <a:spAutoFit/>
          </a:bodyPr>
          <a:lstStyle/>
          <a:p>
            <a:pPr>
              <a:spcAft>
                <a:spcPts val="300"/>
              </a:spcAft>
              <a:defRPr sz="850" b="0">
                <a:solidFill>
                  <a:srgbClr val="58697B"/>
                </a:solidFill>
                <a:latin typeface="Aptos"/>
              </a:defRPr>
            </a:pPr>
            <a:r>
              <a:t>ZenoBench  ·  CMU Agentic Library</a:t>
            </a:r>
          </a:p>
        </p:txBody>
      </p:sp>
      <p:sp>
        <p:nvSpPr>
          <p:cNvPr id="8" name="TextBox 7"/>
          <p:cNvSpPr txBox="1"/>
          <p:nvPr/>
        </p:nvSpPr>
        <p:spPr>
          <a:xfrm>
            <a:off x="11100816" y="6510528"/>
            <a:ext cx="566928" cy="182880"/>
          </a:xfrm>
          <a:prstGeom prst="rect">
            <a:avLst/>
          </a:prstGeom>
          <a:noFill/>
        </p:spPr>
        <p:txBody>
          <a:bodyPr wrap="square" lIns="0" tIns="0" rIns="0" bIns="0" anchor="t">
            <a:spAutoFit/>
          </a:bodyPr>
          <a:lstStyle/>
          <a:p>
            <a:pPr algn="r">
              <a:spcAft>
                <a:spcPts val="300"/>
              </a:spcAft>
              <a:defRPr sz="850" b="0">
                <a:solidFill>
                  <a:srgbClr val="58697B"/>
                </a:solidFill>
                <a:latin typeface="Aptos"/>
              </a:defRPr>
            </a:pPr>
            <a:r>
              <a:t>03 / 20</a:t>
            </a:r>
          </a:p>
        </p:txBody>
      </p:sp>
      <p:sp>
        <p:nvSpPr>
          <p:cNvPr id="9" name="Rounded Rectangle 8"/>
          <p:cNvSpPr/>
          <p:nvPr/>
        </p:nvSpPr>
        <p:spPr>
          <a:xfrm>
            <a:off x="557784" y="1773936"/>
            <a:ext cx="3465576" cy="4087368"/>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ssets_gallery.jpg"/>
          <p:cNvPicPr>
            <a:picLocks noChangeAspect="1"/>
          </p:cNvPicPr>
          <p:nvPr/>
        </p:nvPicPr>
        <p:blipFill>
          <a:blip r:embed="rId1"/>
          <a:stretch>
            <a:fillRect/>
          </a:stretch>
        </p:blipFill>
        <p:spPr>
          <a:xfrm>
            <a:off x="1397072" y="1865376"/>
            <a:ext cx="1786998" cy="2084831"/>
          </a:xfrm>
          <a:prstGeom prst="rect">
            <a:avLst/>
          </a:prstGeom>
        </p:spPr>
      </p:pic>
      <p:sp>
        <p:nvSpPr>
          <p:cNvPr id="11" name="Rectangle 10"/>
          <p:cNvSpPr/>
          <p:nvPr/>
        </p:nvSpPr>
        <p:spPr>
          <a:xfrm>
            <a:off x="649224" y="4023360"/>
            <a:ext cx="3282696" cy="7315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325112"/>
            <a:ext cx="3054096" cy="393192"/>
          </a:xfrm>
          <a:prstGeom prst="rect">
            <a:avLst/>
          </a:prstGeom>
          <a:noFill/>
        </p:spPr>
        <p:txBody>
          <a:bodyPr wrap="square" lIns="0" tIns="0" rIns="0" bIns="0" anchor="t">
            <a:spAutoFit/>
          </a:bodyPr>
          <a:lstStyle/>
          <a:p>
            <a:pPr>
              <a:spcAft>
                <a:spcPts val="300"/>
              </a:spcAft>
              <a:defRPr sz="2000" b="1">
                <a:solidFill>
                  <a:srgbClr val="19283D"/>
                </a:solidFill>
                <a:latin typeface="Aptos"/>
              </a:defRPr>
            </a:pPr>
            <a:r>
              <a:t>Assets</a:t>
            </a:r>
          </a:p>
        </p:txBody>
      </p:sp>
      <p:sp>
        <p:nvSpPr>
          <p:cNvPr id="13" name="TextBox 12"/>
          <p:cNvSpPr txBox="1"/>
          <p:nvPr/>
        </p:nvSpPr>
        <p:spPr>
          <a:xfrm>
            <a:off x="758952" y="4828032"/>
            <a:ext cx="3026664" cy="740664"/>
          </a:xfrm>
          <a:prstGeom prst="rect">
            <a:avLst/>
          </a:prstGeom>
          <a:noFill/>
        </p:spPr>
        <p:txBody>
          <a:bodyPr wrap="square" lIns="0" tIns="0" rIns="0" bIns="0" anchor="t">
            <a:spAutoFit/>
          </a:bodyPr>
          <a:lstStyle/>
          <a:p>
            <a:pPr>
              <a:spcAft>
                <a:spcPts val="300"/>
              </a:spcAft>
              <a:defRPr sz="1360" b="0">
                <a:solidFill>
                  <a:srgbClr val="58697B"/>
                </a:solidFill>
                <a:latin typeface="Aptos"/>
              </a:defRPr>
            </a:pPr>
            <a:r>
              <a:t>EmbodiedGen V2 task objects prepared for physical interaction</a:t>
            </a:r>
          </a:p>
        </p:txBody>
      </p:sp>
      <p:sp>
        <p:nvSpPr>
          <p:cNvPr id="14" name="Rounded Rectangle 13"/>
          <p:cNvSpPr/>
          <p:nvPr/>
        </p:nvSpPr>
        <p:spPr>
          <a:xfrm>
            <a:off x="4389120" y="1773936"/>
            <a:ext cx="3465576" cy="4087368"/>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house_topdown.jpg"/>
          <p:cNvPicPr>
            <a:picLocks noChangeAspect="1"/>
          </p:cNvPicPr>
          <p:nvPr/>
        </p:nvPicPr>
        <p:blipFill>
          <a:blip r:embed="rId2"/>
          <a:srcRect l="5715" r="5715"/>
          <a:stretch>
            <a:fillRect/>
          </a:stretch>
        </p:blipFill>
        <p:spPr>
          <a:xfrm>
            <a:off x="4480560" y="1865376"/>
            <a:ext cx="3282696" cy="2084831"/>
          </a:xfrm>
          <a:prstGeom prst="rect">
            <a:avLst/>
          </a:prstGeom>
        </p:spPr>
      </p:pic>
      <p:sp>
        <p:nvSpPr>
          <p:cNvPr id="16" name="Rectangle 15"/>
          <p:cNvSpPr/>
          <p:nvPr/>
        </p:nvSpPr>
        <p:spPr>
          <a:xfrm>
            <a:off x="4480560" y="4023360"/>
            <a:ext cx="3282696" cy="73152"/>
          </a:xfrm>
          <a:prstGeom prst="rect">
            <a:avLst/>
          </a:prstGeom>
          <a:solidFill>
            <a:srgbClr val="2468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0288" y="4325112"/>
            <a:ext cx="3054096" cy="393192"/>
          </a:xfrm>
          <a:prstGeom prst="rect">
            <a:avLst/>
          </a:prstGeom>
          <a:noFill/>
        </p:spPr>
        <p:txBody>
          <a:bodyPr wrap="square" lIns="0" tIns="0" rIns="0" bIns="0" anchor="t">
            <a:spAutoFit/>
          </a:bodyPr>
          <a:lstStyle/>
          <a:p>
            <a:pPr>
              <a:spcAft>
                <a:spcPts val="300"/>
              </a:spcAft>
              <a:defRPr sz="2000" b="1">
                <a:solidFill>
                  <a:srgbClr val="19283D"/>
                </a:solidFill>
                <a:latin typeface="Aptos"/>
              </a:defRPr>
            </a:pPr>
            <a:r>
              <a:t>Rooms</a:t>
            </a:r>
          </a:p>
        </p:txBody>
      </p:sp>
      <p:sp>
        <p:nvSpPr>
          <p:cNvPr id="18" name="TextBox 17"/>
          <p:cNvSpPr txBox="1"/>
          <p:nvPr/>
        </p:nvSpPr>
        <p:spPr>
          <a:xfrm>
            <a:off x="4590288" y="4828032"/>
            <a:ext cx="3026664" cy="740664"/>
          </a:xfrm>
          <a:prstGeom prst="rect">
            <a:avLst/>
          </a:prstGeom>
          <a:noFill/>
        </p:spPr>
        <p:txBody>
          <a:bodyPr wrap="square" lIns="0" tIns="0" rIns="0" bIns="0" anchor="t">
            <a:spAutoFit/>
          </a:bodyPr>
          <a:lstStyle/>
          <a:p>
            <a:pPr>
              <a:spcAft>
                <a:spcPts val="300"/>
              </a:spcAft>
              <a:defRPr sz="1360" b="0">
                <a:solidFill>
                  <a:srgbClr val="58697B"/>
                </a:solidFill>
                <a:latin typeface="Aptos"/>
              </a:defRPr>
            </a:pPr>
            <a:r>
              <a:t>10-room Infinigen house with furniture and articulated storage</a:t>
            </a:r>
          </a:p>
        </p:txBody>
      </p:sp>
      <p:sp>
        <p:nvSpPr>
          <p:cNvPr id="19" name="Rounded Rectangle 18"/>
          <p:cNvSpPr/>
          <p:nvPr/>
        </p:nvSpPr>
        <p:spPr>
          <a:xfrm>
            <a:off x="8220456" y="1773936"/>
            <a:ext cx="3465576" cy="4087368"/>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heat_table.jpg"/>
          <p:cNvPicPr>
            <a:picLocks noChangeAspect="1"/>
          </p:cNvPicPr>
          <p:nvPr/>
        </p:nvPicPr>
        <p:blipFill>
          <a:blip r:embed="rId3"/>
          <a:srcRect l="5750" r="5750"/>
          <a:stretch>
            <a:fillRect/>
          </a:stretch>
        </p:blipFill>
        <p:spPr>
          <a:xfrm>
            <a:off x="8311896" y="1865376"/>
            <a:ext cx="3282696" cy="2084831"/>
          </a:xfrm>
          <a:prstGeom prst="rect">
            <a:avLst/>
          </a:prstGeom>
        </p:spPr>
      </p:pic>
      <p:sp>
        <p:nvSpPr>
          <p:cNvPr id="21" name="Rectangle 20"/>
          <p:cNvSpPr/>
          <p:nvPr/>
        </p:nvSpPr>
        <p:spPr>
          <a:xfrm>
            <a:off x="8311896" y="4023360"/>
            <a:ext cx="3282696" cy="73152"/>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21624" y="4325112"/>
            <a:ext cx="3054096" cy="393192"/>
          </a:xfrm>
          <a:prstGeom prst="rect">
            <a:avLst/>
          </a:prstGeom>
          <a:noFill/>
        </p:spPr>
        <p:txBody>
          <a:bodyPr wrap="square" lIns="0" tIns="0" rIns="0" bIns="0" anchor="t">
            <a:spAutoFit/>
          </a:bodyPr>
          <a:lstStyle/>
          <a:p>
            <a:pPr>
              <a:spcAft>
                <a:spcPts val="300"/>
              </a:spcAft>
              <a:defRPr sz="2000" b="1">
                <a:solidFill>
                  <a:srgbClr val="19283D"/>
                </a:solidFill>
                <a:latin typeface="Aptos"/>
              </a:defRPr>
            </a:pPr>
            <a:r>
              <a:t>Tasks</a:t>
            </a:r>
          </a:p>
        </p:txBody>
      </p:sp>
      <p:sp>
        <p:nvSpPr>
          <p:cNvPr id="23" name="TextBox 22"/>
          <p:cNvSpPr txBox="1"/>
          <p:nvPr/>
        </p:nvSpPr>
        <p:spPr>
          <a:xfrm>
            <a:off x="8421624" y="4828032"/>
            <a:ext cx="3026664" cy="740664"/>
          </a:xfrm>
          <a:prstGeom prst="rect">
            <a:avLst/>
          </a:prstGeom>
          <a:noFill/>
        </p:spPr>
        <p:txBody>
          <a:bodyPr wrap="square" lIns="0" tIns="0" rIns="0" bIns="0" anchor="t">
            <a:spAutoFit/>
          </a:bodyPr>
          <a:lstStyle/>
          <a:p>
            <a:pPr>
              <a:spcAft>
                <a:spcPts val="300"/>
              </a:spcAft>
              <a:defRPr sz="1360" b="0">
                <a:solidFill>
                  <a:srgbClr val="58697B"/>
                </a:solidFill>
                <a:latin typeface="Aptos"/>
              </a:defRPr>
            </a:pPr>
            <a:r>
              <a:t>8 whole-task definitions, plus a 10-task benchmark for an upper-level planner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210312"/>
          </a:xfrm>
          <a:prstGeom prst="rect">
            <a:avLst/>
          </a:prstGeom>
          <a:noFill/>
        </p:spPr>
        <p:txBody>
          <a:bodyPr wrap="square" lIns="0" tIns="0" rIns="0" bIns="0" anchor="t">
            <a:spAutoFit/>
          </a:bodyPr>
          <a:lstStyle/>
          <a:p>
            <a:pPr>
              <a:spcAft>
                <a:spcPts val="300"/>
              </a:spcAft>
              <a:defRPr sz="1000" b="1">
                <a:solidFill>
                  <a:srgbClr val="008F93"/>
                </a:solidFill>
                <a:latin typeface="Aptos"/>
              </a:defRPr>
            </a:pPr>
            <a:r>
              <a:t>CAPABILITIES</a:t>
            </a:r>
          </a:p>
        </p:txBody>
      </p:sp>
      <p:sp>
        <p:nvSpPr>
          <p:cNvPr id="4" name="TextBox 3"/>
          <p:cNvSpPr txBox="1"/>
          <p:nvPr/>
        </p:nvSpPr>
        <p:spPr>
          <a:xfrm>
            <a:off x="502920" y="585216"/>
            <a:ext cx="11018520" cy="685800"/>
          </a:xfrm>
          <a:prstGeom prst="rect">
            <a:avLst/>
          </a:prstGeom>
          <a:noFill/>
        </p:spPr>
        <p:txBody>
          <a:bodyPr wrap="square" lIns="0" tIns="0" rIns="0" bIns="0" anchor="t">
            <a:spAutoFit/>
          </a:bodyPr>
          <a:lstStyle/>
          <a:p>
            <a:pPr>
              <a:spcAft>
                <a:spcPts val="300"/>
              </a:spcAft>
              <a:defRPr sz="2800" b="1">
                <a:solidFill>
                  <a:srgbClr val="19283D"/>
                </a:solidFill>
                <a:latin typeface="Aptos"/>
              </a:defRPr>
            </a:pPr>
            <a:r>
              <a:t>What can the robot do here?</a:t>
            </a:r>
          </a:p>
        </p:txBody>
      </p:sp>
      <p:sp>
        <p:nvSpPr>
          <p:cNvPr id="5" name="TextBox 4"/>
          <p:cNvSpPr txBox="1"/>
          <p:nvPr/>
        </p:nvSpPr>
        <p:spPr>
          <a:xfrm>
            <a:off x="521207" y="1261872"/>
            <a:ext cx="10972800" cy="393192"/>
          </a:xfrm>
          <a:prstGeom prst="rect">
            <a:avLst/>
          </a:prstGeom>
          <a:noFill/>
        </p:spPr>
        <p:txBody>
          <a:bodyPr wrap="square" lIns="0" tIns="0" rIns="0" bIns="0" anchor="t">
            <a:spAutoFit/>
          </a:bodyPr>
          <a:lstStyle/>
          <a:p>
            <a:pPr>
              <a:spcAft>
                <a:spcPts val="300"/>
              </a:spcAft>
              <a:defRPr sz="1250" b="0">
                <a:solidFill>
                  <a:srgbClr val="58697B"/>
                </a:solidFill>
                <a:latin typeface="Aptos"/>
              </a:defRPr>
            </a:pPr>
            <a:r>
              <a:t>Zeno Malo can execute connected household actions in the same environment.</a:t>
            </a:r>
          </a:p>
        </p:txBody>
      </p:sp>
      <p:sp>
        <p:nvSpPr>
          <p:cNvPr id="6" name="Rectangle 5"/>
          <p:cNvSpPr/>
          <p:nvPr/>
        </p:nvSpPr>
        <p:spPr>
          <a:xfrm>
            <a:off x="502920" y="6473952"/>
            <a:ext cx="11183112" cy="10972"/>
          </a:xfrm>
          <a:prstGeom prst="rect">
            <a:avLst/>
          </a:prstGeom>
          <a:solidFill>
            <a:srgbClr val="DB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6519672"/>
            <a:ext cx="7315200" cy="164592"/>
          </a:xfrm>
          <a:prstGeom prst="rect">
            <a:avLst/>
          </a:prstGeom>
          <a:noFill/>
        </p:spPr>
        <p:txBody>
          <a:bodyPr wrap="square" lIns="0" tIns="0" rIns="0" bIns="0" anchor="t">
            <a:spAutoFit/>
          </a:bodyPr>
          <a:lstStyle/>
          <a:p>
            <a:pPr>
              <a:spcAft>
                <a:spcPts val="300"/>
              </a:spcAft>
              <a:defRPr sz="850" b="0">
                <a:solidFill>
                  <a:srgbClr val="58697B"/>
                </a:solidFill>
                <a:latin typeface="Aptos"/>
              </a:defRPr>
            </a:pPr>
            <a:r>
              <a:t>ZenoBench  ·  CMU Agentic Library</a:t>
            </a:r>
          </a:p>
        </p:txBody>
      </p:sp>
      <p:sp>
        <p:nvSpPr>
          <p:cNvPr id="8" name="TextBox 7"/>
          <p:cNvSpPr txBox="1"/>
          <p:nvPr/>
        </p:nvSpPr>
        <p:spPr>
          <a:xfrm>
            <a:off x="11100816" y="6510528"/>
            <a:ext cx="566928" cy="182880"/>
          </a:xfrm>
          <a:prstGeom prst="rect">
            <a:avLst/>
          </a:prstGeom>
          <a:noFill/>
        </p:spPr>
        <p:txBody>
          <a:bodyPr wrap="square" lIns="0" tIns="0" rIns="0" bIns="0" anchor="t">
            <a:spAutoFit/>
          </a:bodyPr>
          <a:lstStyle/>
          <a:p>
            <a:pPr algn="r">
              <a:spcAft>
                <a:spcPts val="300"/>
              </a:spcAft>
              <a:defRPr sz="850" b="0">
                <a:solidFill>
                  <a:srgbClr val="58697B"/>
                </a:solidFill>
                <a:latin typeface="Aptos"/>
              </a:defRPr>
            </a:pPr>
            <a:r>
              <a:t>04 / 20</a:t>
            </a:r>
          </a:p>
        </p:txBody>
      </p:sp>
      <p:sp>
        <p:nvSpPr>
          <p:cNvPr id="9" name="Rounded Rectangle 8"/>
          <p:cNvSpPr/>
          <p:nvPr/>
        </p:nvSpPr>
        <p:spPr>
          <a:xfrm>
            <a:off x="557784" y="1801368"/>
            <a:ext cx="5431536" cy="1874519"/>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ouse_topdown.jpg"/>
          <p:cNvPicPr>
            <a:picLocks noChangeAspect="1"/>
          </p:cNvPicPr>
          <p:nvPr/>
        </p:nvPicPr>
        <p:blipFill>
          <a:blip r:embed="rId1"/>
          <a:srcRect l="14806" r="14806"/>
          <a:stretch>
            <a:fillRect/>
          </a:stretch>
        </p:blipFill>
        <p:spPr>
          <a:xfrm>
            <a:off x="640080" y="1883664"/>
            <a:ext cx="2139696" cy="1709928"/>
          </a:xfrm>
          <a:prstGeom prst="rect">
            <a:avLst/>
          </a:prstGeom>
        </p:spPr>
      </p:pic>
      <p:sp>
        <p:nvSpPr>
          <p:cNvPr id="11" name="Rectangle 10"/>
          <p:cNvSpPr/>
          <p:nvPr/>
        </p:nvSpPr>
        <p:spPr>
          <a:xfrm>
            <a:off x="2889503" y="2084831"/>
            <a:ext cx="64008" cy="1335024"/>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18103" y="2066543"/>
            <a:ext cx="2651760" cy="365760"/>
          </a:xfrm>
          <a:prstGeom prst="rect">
            <a:avLst/>
          </a:prstGeom>
          <a:noFill/>
        </p:spPr>
        <p:txBody>
          <a:bodyPr wrap="square" lIns="0" tIns="0" rIns="0" bIns="0" anchor="t">
            <a:spAutoFit/>
          </a:bodyPr>
          <a:lstStyle/>
          <a:p>
            <a:pPr>
              <a:spcAft>
                <a:spcPts val="300"/>
              </a:spcAft>
              <a:defRPr sz="1820" b="1">
                <a:solidFill>
                  <a:srgbClr val="19283D"/>
                </a:solidFill>
                <a:latin typeface="Aptos"/>
              </a:defRPr>
            </a:pPr>
            <a:r>
              <a:t>Move</a:t>
            </a:r>
          </a:p>
        </p:txBody>
      </p:sp>
      <p:sp>
        <p:nvSpPr>
          <p:cNvPr id="13" name="TextBox 12"/>
          <p:cNvSpPr txBox="1"/>
          <p:nvPr/>
        </p:nvSpPr>
        <p:spPr>
          <a:xfrm>
            <a:off x="3118103" y="2542032"/>
            <a:ext cx="2660904" cy="868680"/>
          </a:xfrm>
          <a:prstGeom prst="rect">
            <a:avLst/>
          </a:prstGeom>
          <a:noFill/>
        </p:spPr>
        <p:txBody>
          <a:bodyPr wrap="square" lIns="0" tIns="0" rIns="0" bIns="0" anchor="t">
            <a:spAutoFit/>
          </a:bodyPr>
          <a:lstStyle/>
          <a:p>
            <a:pPr>
              <a:spcAft>
                <a:spcPts val="300"/>
              </a:spcAft>
              <a:defRPr sz="1270" b="0">
                <a:solidFill>
                  <a:srgbClr val="58697B"/>
                </a:solidFill>
                <a:latin typeface="Aptos"/>
              </a:defRPr>
            </a:pPr>
            <a:r>
              <a:t>Travel between rooms and approach workspaces</a:t>
            </a:r>
          </a:p>
        </p:txBody>
      </p:sp>
      <p:sp>
        <p:nvSpPr>
          <p:cNvPr id="14" name="Rounded Rectangle 13"/>
          <p:cNvSpPr/>
          <p:nvPr/>
        </p:nvSpPr>
        <p:spPr>
          <a:xfrm>
            <a:off x="6291072" y="1801368"/>
            <a:ext cx="5431536" cy="1874519"/>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ollect_fruits.jpg"/>
          <p:cNvPicPr>
            <a:picLocks noChangeAspect="1"/>
          </p:cNvPicPr>
          <p:nvPr/>
        </p:nvPicPr>
        <p:blipFill>
          <a:blip r:embed="rId2"/>
          <a:srcRect l="14834" r="14834"/>
          <a:stretch>
            <a:fillRect/>
          </a:stretch>
        </p:blipFill>
        <p:spPr>
          <a:xfrm>
            <a:off x="6373368" y="1883664"/>
            <a:ext cx="2139696" cy="1709928"/>
          </a:xfrm>
          <a:prstGeom prst="rect">
            <a:avLst/>
          </a:prstGeom>
        </p:spPr>
      </p:pic>
      <p:sp>
        <p:nvSpPr>
          <p:cNvPr id="16" name="Rectangle 15"/>
          <p:cNvSpPr/>
          <p:nvPr/>
        </p:nvSpPr>
        <p:spPr>
          <a:xfrm>
            <a:off x="8622792" y="2084831"/>
            <a:ext cx="64008" cy="1335024"/>
          </a:xfrm>
          <a:prstGeom prst="rect">
            <a:avLst/>
          </a:prstGeom>
          <a:solidFill>
            <a:srgbClr val="2468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51392" y="2066543"/>
            <a:ext cx="2651760" cy="365760"/>
          </a:xfrm>
          <a:prstGeom prst="rect">
            <a:avLst/>
          </a:prstGeom>
          <a:noFill/>
        </p:spPr>
        <p:txBody>
          <a:bodyPr wrap="square" lIns="0" tIns="0" rIns="0" bIns="0" anchor="t">
            <a:spAutoFit/>
          </a:bodyPr>
          <a:lstStyle/>
          <a:p>
            <a:pPr>
              <a:spcAft>
                <a:spcPts val="300"/>
              </a:spcAft>
              <a:defRPr sz="1820" b="1">
                <a:solidFill>
                  <a:srgbClr val="19283D"/>
                </a:solidFill>
                <a:latin typeface="Aptos"/>
              </a:defRPr>
            </a:pPr>
            <a:r>
              <a:t>Handle objects</a:t>
            </a:r>
          </a:p>
        </p:txBody>
      </p:sp>
      <p:sp>
        <p:nvSpPr>
          <p:cNvPr id="18" name="TextBox 17"/>
          <p:cNvSpPr txBox="1"/>
          <p:nvPr/>
        </p:nvSpPr>
        <p:spPr>
          <a:xfrm>
            <a:off x="8851392" y="2542032"/>
            <a:ext cx="2660904" cy="868680"/>
          </a:xfrm>
          <a:prstGeom prst="rect">
            <a:avLst/>
          </a:prstGeom>
          <a:noFill/>
        </p:spPr>
        <p:txBody>
          <a:bodyPr wrap="square" lIns="0" tIns="0" rIns="0" bIns="0" anchor="t">
            <a:spAutoFit/>
          </a:bodyPr>
          <a:lstStyle/>
          <a:p>
            <a:pPr>
              <a:spcAft>
                <a:spcPts val="300"/>
              </a:spcAft>
              <a:defRPr sz="1270" b="0">
                <a:solidFill>
                  <a:srgbClr val="58697B"/>
                </a:solidFill>
                <a:latin typeface="Aptos"/>
              </a:defRPr>
            </a:pPr>
            <a:r>
              <a:t>Pick, carry, place and sort different object shapes</a:t>
            </a:r>
          </a:p>
        </p:txBody>
      </p:sp>
      <p:sp>
        <p:nvSpPr>
          <p:cNvPr id="19" name="Rounded Rectangle 18"/>
          <p:cNvSpPr/>
          <p:nvPr/>
        </p:nvSpPr>
        <p:spPr>
          <a:xfrm>
            <a:off x="557784" y="3913632"/>
            <a:ext cx="5431536" cy="1874519"/>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microwave_framed.png"/>
          <p:cNvPicPr>
            <a:picLocks noChangeAspect="1"/>
          </p:cNvPicPr>
          <p:nvPr/>
        </p:nvPicPr>
        <p:blipFill>
          <a:blip r:embed="rId3"/>
          <a:srcRect l="14806" r="14806"/>
          <a:stretch>
            <a:fillRect/>
          </a:stretch>
        </p:blipFill>
        <p:spPr>
          <a:xfrm>
            <a:off x="640080" y="3995928"/>
            <a:ext cx="2139696" cy="1709928"/>
          </a:xfrm>
          <a:prstGeom prst="rect">
            <a:avLst/>
          </a:prstGeom>
        </p:spPr>
      </p:pic>
      <p:sp>
        <p:nvSpPr>
          <p:cNvPr id="21" name="Rectangle 20"/>
          <p:cNvSpPr/>
          <p:nvPr/>
        </p:nvSpPr>
        <p:spPr>
          <a:xfrm>
            <a:off x="2889503" y="4197096"/>
            <a:ext cx="64008" cy="1335024"/>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18103" y="4178808"/>
            <a:ext cx="2651760" cy="365760"/>
          </a:xfrm>
          <a:prstGeom prst="rect">
            <a:avLst/>
          </a:prstGeom>
          <a:noFill/>
        </p:spPr>
        <p:txBody>
          <a:bodyPr wrap="square" lIns="0" tIns="0" rIns="0" bIns="0" anchor="t">
            <a:spAutoFit/>
          </a:bodyPr>
          <a:lstStyle/>
          <a:p>
            <a:pPr>
              <a:spcAft>
                <a:spcPts val="300"/>
              </a:spcAft>
              <a:defRPr sz="1820" b="1">
                <a:solidFill>
                  <a:srgbClr val="19283D"/>
                </a:solidFill>
                <a:latin typeface="Aptos"/>
              </a:defRPr>
            </a:pPr>
            <a:r>
              <a:t>Interact</a:t>
            </a:r>
          </a:p>
        </p:txBody>
      </p:sp>
      <p:sp>
        <p:nvSpPr>
          <p:cNvPr id="23" name="TextBox 22"/>
          <p:cNvSpPr txBox="1"/>
          <p:nvPr/>
        </p:nvSpPr>
        <p:spPr>
          <a:xfrm>
            <a:off x="3118103" y="4654296"/>
            <a:ext cx="2660904" cy="868680"/>
          </a:xfrm>
          <a:prstGeom prst="rect">
            <a:avLst/>
          </a:prstGeom>
          <a:noFill/>
        </p:spPr>
        <p:txBody>
          <a:bodyPr wrap="square" lIns="0" tIns="0" rIns="0" bIns="0" anchor="t">
            <a:spAutoFit/>
          </a:bodyPr>
          <a:lstStyle/>
          <a:p>
            <a:pPr>
              <a:spcAft>
                <a:spcPts val="300"/>
              </a:spcAft>
              <a:defRPr sz="1270" b="0">
                <a:solidFill>
                  <a:srgbClr val="58697B"/>
                </a:solidFill>
                <a:latin typeface="Aptos"/>
              </a:defRPr>
            </a:pPr>
            <a:r>
              <a:t>Open/close storage and operate appliance controls</a:t>
            </a:r>
          </a:p>
        </p:txBody>
      </p:sp>
      <p:sp>
        <p:nvSpPr>
          <p:cNvPr id="24" name="Rounded Rectangle 23"/>
          <p:cNvSpPr/>
          <p:nvPr/>
        </p:nvSpPr>
        <p:spPr>
          <a:xfrm>
            <a:off x="6291072" y="3913632"/>
            <a:ext cx="5431536" cy="1874519"/>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heat_table.jpg"/>
          <p:cNvPicPr>
            <a:picLocks noChangeAspect="1"/>
          </p:cNvPicPr>
          <p:nvPr/>
        </p:nvPicPr>
        <p:blipFill>
          <a:blip r:embed="rId4"/>
          <a:srcRect l="14834" r="14834"/>
          <a:stretch>
            <a:fillRect/>
          </a:stretch>
        </p:blipFill>
        <p:spPr>
          <a:xfrm>
            <a:off x="6373368" y="3995928"/>
            <a:ext cx="2139696" cy="1709928"/>
          </a:xfrm>
          <a:prstGeom prst="rect">
            <a:avLst/>
          </a:prstGeom>
        </p:spPr>
      </p:pic>
      <p:sp>
        <p:nvSpPr>
          <p:cNvPr id="26" name="Rectangle 25"/>
          <p:cNvSpPr/>
          <p:nvPr/>
        </p:nvSpPr>
        <p:spPr>
          <a:xfrm>
            <a:off x="8622792" y="4197096"/>
            <a:ext cx="64008" cy="1335024"/>
          </a:xfrm>
          <a:prstGeom prst="rect">
            <a:avLst/>
          </a:prstGeom>
          <a:solidFill>
            <a:srgbClr val="2693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51392" y="4178808"/>
            <a:ext cx="2651760" cy="365760"/>
          </a:xfrm>
          <a:prstGeom prst="rect">
            <a:avLst/>
          </a:prstGeom>
          <a:noFill/>
        </p:spPr>
        <p:txBody>
          <a:bodyPr wrap="square" lIns="0" tIns="0" rIns="0" bIns="0" anchor="t">
            <a:spAutoFit/>
          </a:bodyPr>
          <a:lstStyle/>
          <a:p>
            <a:pPr>
              <a:spcAft>
                <a:spcPts val="300"/>
              </a:spcAft>
              <a:defRPr sz="1820" b="1">
                <a:solidFill>
                  <a:srgbClr val="19283D"/>
                </a:solidFill>
                <a:latin typeface="Aptos"/>
              </a:defRPr>
            </a:pPr>
            <a:r>
              <a:t>Complete tasks</a:t>
            </a:r>
          </a:p>
        </p:txBody>
      </p:sp>
      <p:sp>
        <p:nvSpPr>
          <p:cNvPr id="28" name="TextBox 27"/>
          <p:cNvSpPr txBox="1"/>
          <p:nvPr/>
        </p:nvSpPr>
        <p:spPr>
          <a:xfrm>
            <a:off x="8851392" y="4654296"/>
            <a:ext cx="2660904" cy="868680"/>
          </a:xfrm>
          <a:prstGeom prst="rect">
            <a:avLst/>
          </a:prstGeom>
          <a:noFill/>
        </p:spPr>
        <p:txBody>
          <a:bodyPr wrap="square" lIns="0" tIns="0" rIns="0" bIns="0" anchor="t">
            <a:spAutoFit/>
          </a:bodyPr>
          <a:lstStyle/>
          <a:p>
            <a:pPr>
              <a:spcAft>
                <a:spcPts val="300"/>
              </a:spcAft>
              <a:defRPr sz="1270" b="0">
                <a:solidFill>
                  <a:srgbClr val="58697B"/>
                </a:solidFill>
                <a:latin typeface="Aptos"/>
              </a:defRPr>
            </a:pPr>
            <a:r>
              <a:t>Combine actions toward a goal checked from simulator state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210312"/>
          </a:xfrm>
          <a:prstGeom prst="rect">
            <a:avLst/>
          </a:prstGeom>
          <a:noFill/>
        </p:spPr>
        <p:txBody>
          <a:bodyPr wrap="square" lIns="0" tIns="0" rIns="0" bIns="0" anchor="t">
            <a:spAutoFit/>
          </a:bodyPr>
          <a:lstStyle/>
          <a:p>
            <a:pPr>
              <a:spcAft>
                <a:spcPts val="300"/>
              </a:spcAft>
              <a:defRPr sz="1000" b="1">
                <a:solidFill>
                  <a:srgbClr val="008F93"/>
                </a:solidFill>
                <a:latin typeface="Aptos"/>
              </a:defRPr>
            </a:pPr>
            <a:r>
              <a:t>CURRENT CAPABILITIES</a:t>
            </a:r>
          </a:p>
        </p:txBody>
      </p:sp>
      <p:sp>
        <p:nvSpPr>
          <p:cNvPr id="4" name="TextBox 3"/>
          <p:cNvSpPr txBox="1"/>
          <p:nvPr/>
        </p:nvSpPr>
        <p:spPr>
          <a:xfrm>
            <a:off x="502920" y="585216"/>
            <a:ext cx="11018520" cy="685800"/>
          </a:xfrm>
          <a:prstGeom prst="rect">
            <a:avLst/>
          </a:prstGeom>
          <a:noFill/>
        </p:spPr>
        <p:txBody>
          <a:bodyPr wrap="square" lIns="0" tIns="0" rIns="0" bIns="0" anchor="t">
            <a:spAutoFit/>
          </a:bodyPr>
          <a:lstStyle/>
          <a:p>
            <a:pPr>
              <a:spcAft>
                <a:spcPts val="300"/>
              </a:spcAft>
              <a:defRPr sz="2800" b="1">
                <a:solidFill>
                  <a:srgbClr val="19283D"/>
                </a:solidFill>
                <a:latin typeface="Aptos"/>
              </a:defRPr>
            </a:pPr>
            <a:r>
              <a:t>Skill library: 70 verb SkillNodes over low-level policies</a:t>
            </a:r>
          </a:p>
        </p:txBody>
      </p:sp>
      <p:sp>
        <p:nvSpPr>
          <p:cNvPr id="5" name="TextBox 4"/>
          <p:cNvSpPr txBox="1"/>
          <p:nvPr/>
        </p:nvSpPr>
        <p:spPr>
          <a:xfrm>
            <a:off x="521207" y="1261872"/>
            <a:ext cx="10972800" cy="393192"/>
          </a:xfrm>
          <a:prstGeom prst="rect">
            <a:avLst/>
          </a:prstGeom>
          <a:noFill/>
        </p:spPr>
        <p:txBody>
          <a:bodyPr wrap="square" lIns="0" tIns="0" rIns="0" bIns="0" anchor="t">
            <a:spAutoFit/>
          </a:bodyPr>
          <a:lstStyle/>
          <a:p>
            <a:pPr>
              <a:spcAft>
                <a:spcPts val="300"/>
              </a:spcAft>
              <a:defRPr sz="1250" b="0">
                <a:solidFill>
                  <a:srgbClr val="58697B"/>
                </a:solidFill>
                <a:latin typeface="Aptos"/>
              </a:defRPr>
            </a:pPr>
            <a:r>
              <a:t>Each SkillNode is one verb + one noun. Its Contract checks GT preconditions, picks a policy path, then checks GT postconditions.</a:t>
            </a:r>
          </a:p>
        </p:txBody>
      </p:sp>
      <p:sp>
        <p:nvSpPr>
          <p:cNvPr id="6" name="Rectangle 5"/>
          <p:cNvSpPr/>
          <p:nvPr/>
        </p:nvSpPr>
        <p:spPr>
          <a:xfrm>
            <a:off x="502920" y="6473952"/>
            <a:ext cx="11183112" cy="10972"/>
          </a:xfrm>
          <a:prstGeom prst="rect">
            <a:avLst/>
          </a:prstGeom>
          <a:solidFill>
            <a:srgbClr val="DB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6519672"/>
            <a:ext cx="7315200" cy="164592"/>
          </a:xfrm>
          <a:prstGeom prst="rect">
            <a:avLst/>
          </a:prstGeom>
          <a:noFill/>
        </p:spPr>
        <p:txBody>
          <a:bodyPr wrap="square" lIns="0" tIns="0" rIns="0" bIns="0" anchor="t">
            <a:spAutoFit/>
          </a:bodyPr>
          <a:lstStyle/>
          <a:p>
            <a:pPr>
              <a:spcAft>
                <a:spcPts val="300"/>
              </a:spcAft>
              <a:defRPr sz="850" b="0">
                <a:solidFill>
                  <a:srgbClr val="58697B"/>
                </a:solidFill>
                <a:latin typeface="Aptos"/>
              </a:defRPr>
            </a:pPr>
            <a:r>
              <a:t>ZenoBench  ·  CMU Agentic Library</a:t>
            </a:r>
          </a:p>
        </p:txBody>
      </p:sp>
      <p:sp>
        <p:nvSpPr>
          <p:cNvPr id="8" name="TextBox 7"/>
          <p:cNvSpPr txBox="1"/>
          <p:nvPr/>
        </p:nvSpPr>
        <p:spPr>
          <a:xfrm>
            <a:off x="11100816" y="6510528"/>
            <a:ext cx="566928" cy="182880"/>
          </a:xfrm>
          <a:prstGeom prst="rect">
            <a:avLst/>
          </a:prstGeom>
          <a:noFill/>
        </p:spPr>
        <p:txBody>
          <a:bodyPr wrap="square" lIns="0" tIns="0" rIns="0" bIns="0" anchor="t">
            <a:spAutoFit/>
          </a:bodyPr>
          <a:lstStyle/>
          <a:p>
            <a:pPr algn="r">
              <a:spcAft>
                <a:spcPts val="300"/>
              </a:spcAft>
              <a:defRPr sz="850" b="0">
                <a:solidFill>
                  <a:srgbClr val="58697B"/>
                </a:solidFill>
                <a:latin typeface="Aptos"/>
              </a:defRPr>
            </a:pPr>
            <a:r>
              <a:t>05 / 20</a:t>
            </a:r>
          </a:p>
        </p:txBody>
      </p:sp>
      <p:sp>
        <p:nvSpPr>
          <p:cNvPr id="9" name="Rounded Rectangle 8"/>
          <p:cNvSpPr/>
          <p:nvPr/>
        </p:nvSpPr>
        <p:spPr>
          <a:xfrm>
            <a:off x="557784" y="1810512"/>
            <a:ext cx="3465576" cy="2395728"/>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1810512"/>
            <a:ext cx="3465576" cy="100584"/>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103120"/>
            <a:ext cx="3063240" cy="384048"/>
          </a:xfrm>
          <a:prstGeom prst="rect">
            <a:avLst/>
          </a:prstGeom>
          <a:noFill/>
        </p:spPr>
        <p:txBody>
          <a:bodyPr wrap="square" lIns="0" tIns="0" rIns="0" bIns="0" anchor="t">
            <a:spAutoFit/>
          </a:bodyPr>
          <a:lstStyle/>
          <a:p>
            <a:pPr>
              <a:spcAft>
                <a:spcPts val="300"/>
              </a:spcAft>
              <a:defRPr sz="2100" b="1">
                <a:solidFill>
                  <a:srgbClr val="19283D"/>
                </a:solidFill>
                <a:latin typeface="Aptos"/>
              </a:defRPr>
            </a:pPr>
            <a:r>
              <a:t>70 SkillNodes</a:t>
            </a:r>
          </a:p>
        </p:txBody>
      </p:sp>
      <p:sp>
        <p:nvSpPr>
          <p:cNvPr id="12" name="TextBox 11"/>
          <p:cNvSpPr txBox="1"/>
          <p:nvPr/>
        </p:nvSpPr>
        <p:spPr>
          <a:xfrm>
            <a:off x="758952" y="2651760"/>
            <a:ext cx="3081528" cy="1371600"/>
          </a:xfrm>
          <a:prstGeom prst="rect">
            <a:avLst/>
          </a:prstGeom>
          <a:noFill/>
        </p:spPr>
        <p:txBody>
          <a:bodyPr wrap="square" lIns="0" tIns="0" rIns="0" bIns="0" anchor="t">
            <a:spAutoFit/>
          </a:bodyPr>
          <a:lstStyle/>
          <a:p>
            <a:pPr>
              <a:spcAft>
                <a:spcPts val="300"/>
              </a:spcAft>
              <a:defRPr sz="1320" b="0">
                <a:solidFill>
                  <a:srgbClr val="58697B"/>
                </a:solidFill>
                <a:latin typeface="Aptos"/>
              </a:defRPr>
            </a:pPr>
            <a:r>
              <a:t>What the planner calls</a:t>
            </a:r>
          </a:p>
          <a:p>
            <a:pPr>
              <a:spcAft>
                <a:spcPts val="300"/>
              </a:spcAft>
              <a:defRPr sz="1320" b="0">
                <a:solidFill>
                  <a:srgbClr val="58697B"/>
                </a:solidFill>
                <a:latin typeface="Aptos"/>
              </a:defRPr>
            </a:pPr>
            <a:r>
              <a:t>navigate · pick · place · expose · push</a:t>
            </a:r>
          </a:p>
          <a:p>
            <a:pPr>
              <a:spcAft>
                <a:spcPts val="300"/>
              </a:spcAft>
              <a:defRPr sz="1320" b="0">
                <a:solidFill>
                  <a:srgbClr val="58697B"/>
                </a:solidFill>
                <a:latin typeface="Aptos"/>
              </a:defRPr>
            </a:pPr>
            <a:r>
              <a:t>open · heat · uncover · search · wipe ...</a:t>
            </a:r>
          </a:p>
        </p:txBody>
      </p:sp>
      <p:sp>
        <p:nvSpPr>
          <p:cNvPr id="13" name="TextBox 12"/>
          <p:cNvSpPr txBox="1"/>
          <p:nvPr/>
        </p:nvSpPr>
        <p:spPr>
          <a:xfrm>
            <a:off x="4059936" y="2724912"/>
            <a:ext cx="256032" cy="356616"/>
          </a:xfrm>
          <a:prstGeom prst="rect">
            <a:avLst/>
          </a:prstGeom>
          <a:noFill/>
        </p:spPr>
        <p:txBody>
          <a:bodyPr wrap="square" lIns="0" tIns="0" rIns="0" bIns="0" anchor="t">
            <a:spAutoFit/>
          </a:bodyPr>
          <a:lstStyle/>
          <a:p>
            <a:pPr>
              <a:spcAft>
                <a:spcPts val="300"/>
              </a:spcAft>
              <a:defRPr sz="2400" b="1">
                <a:solidFill>
                  <a:srgbClr val="2468BC"/>
                </a:solidFill>
                <a:latin typeface="Aptos"/>
              </a:defRPr>
            </a:pPr>
            <a:r>
              <a:t>→</a:t>
            </a:r>
          </a:p>
        </p:txBody>
      </p:sp>
      <p:sp>
        <p:nvSpPr>
          <p:cNvPr id="14" name="Rounded Rectangle 13"/>
          <p:cNvSpPr/>
          <p:nvPr/>
        </p:nvSpPr>
        <p:spPr>
          <a:xfrm>
            <a:off x="4389120" y="1810512"/>
            <a:ext cx="3465576" cy="2395728"/>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810512"/>
            <a:ext cx="3465576" cy="100584"/>
          </a:xfrm>
          <a:prstGeom prst="rect">
            <a:avLst/>
          </a:prstGeom>
          <a:solidFill>
            <a:srgbClr val="2468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0288" y="2103120"/>
            <a:ext cx="3063240" cy="384048"/>
          </a:xfrm>
          <a:prstGeom prst="rect">
            <a:avLst/>
          </a:prstGeom>
          <a:noFill/>
        </p:spPr>
        <p:txBody>
          <a:bodyPr wrap="square" lIns="0" tIns="0" rIns="0" bIns="0" anchor="t">
            <a:spAutoFit/>
          </a:bodyPr>
          <a:lstStyle/>
          <a:p>
            <a:pPr>
              <a:spcAft>
                <a:spcPts val="300"/>
              </a:spcAft>
              <a:defRPr sz="2100" b="1">
                <a:solidFill>
                  <a:srgbClr val="19283D"/>
                </a:solidFill>
                <a:latin typeface="Aptos"/>
              </a:defRPr>
            </a:pPr>
            <a:r>
              <a:t>70 Contracts</a:t>
            </a:r>
          </a:p>
        </p:txBody>
      </p:sp>
      <p:sp>
        <p:nvSpPr>
          <p:cNvPr id="17" name="TextBox 16"/>
          <p:cNvSpPr txBox="1"/>
          <p:nvPr/>
        </p:nvSpPr>
        <p:spPr>
          <a:xfrm>
            <a:off x="4590288" y="2651760"/>
            <a:ext cx="3081528" cy="1371600"/>
          </a:xfrm>
          <a:prstGeom prst="rect">
            <a:avLst/>
          </a:prstGeom>
          <a:noFill/>
        </p:spPr>
        <p:txBody>
          <a:bodyPr wrap="square" lIns="0" tIns="0" rIns="0" bIns="0" anchor="t">
            <a:spAutoFit/>
          </a:bodyPr>
          <a:lstStyle/>
          <a:p>
            <a:pPr>
              <a:spcAft>
                <a:spcPts val="300"/>
              </a:spcAft>
              <a:defRPr sz="1320" b="0">
                <a:solidFill>
                  <a:srgbClr val="58697B"/>
                </a:solidFill>
                <a:latin typeface="Aptos"/>
              </a:defRPr>
            </a:pPr>
            <a:r>
              <a:t>requires / ensures from 71 GT predicates</a:t>
            </a:r>
          </a:p>
          <a:p>
            <a:pPr>
              <a:spcAft>
                <a:spcPts val="300"/>
              </a:spcAft>
              <a:defRPr sz="1320" b="0">
                <a:solidFill>
                  <a:srgbClr val="58697B"/>
                </a:solidFill>
                <a:latin typeface="Aptos"/>
              </a:defRPr>
            </a:pPr>
            <a:r>
              <a:t>failure codes + fallback candidates</a:t>
            </a:r>
          </a:p>
        </p:txBody>
      </p:sp>
      <p:sp>
        <p:nvSpPr>
          <p:cNvPr id="18" name="TextBox 17"/>
          <p:cNvSpPr txBox="1"/>
          <p:nvPr/>
        </p:nvSpPr>
        <p:spPr>
          <a:xfrm>
            <a:off x="7891272" y="2724912"/>
            <a:ext cx="256032" cy="356616"/>
          </a:xfrm>
          <a:prstGeom prst="rect">
            <a:avLst/>
          </a:prstGeom>
          <a:noFill/>
        </p:spPr>
        <p:txBody>
          <a:bodyPr wrap="square" lIns="0" tIns="0" rIns="0" bIns="0" anchor="t">
            <a:spAutoFit/>
          </a:bodyPr>
          <a:lstStyle/>
          <a:p>
            <a:pPr>
              <a:spcAft>
                <a:spcPts val="300"/>
              </a:spcAft>
              <a:defRPr sz="2400" b="1">
                <a:solidFill>
                  <a:srgbClr val="2468BC"/>
                </a:solidFill>
                <a:latin typeface="Aptos"/>
              </a:defRPr>
            </a:pPr>
            <a:r>
              <a:t>→</a:t>
            </a:r>
          </a:p>
        </p:txBody>
      </p:sp>
      <p:sp>
        <p:nvSpPr>
          <p:cNvPr id="19" name="Rounded Rectangle 18"/>
          <p:cNvSpPr/>
          <p:nvPr/>
        </p:nvSpPr>
        <p:spPr>
          <a:xfrm>
            <a:off x="8220456" y="1810512"/>
            <a:ext cx="3465576" cy="2395728"/>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0456" y="1810512"/>
            <a:ext cx="3465576" cy="100584"/>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21624" y="2103120"/>
            <a:ext cx="3063240" cy="384048"/>
          </a:xfrm>
          <a:prstGeom prst="rect">
            <a:avLst/>
          </a:prstGeom>
          <a:noFill/>
        </p:spPr>
        <p:txBody>
          <a:bodyPr wrap="square" lIns="0" tIns="0" rIns="0" bIns="0" anchor="t">
            <a:spAutoFit/>
          </a:bodyPr>
          <a:lstStyle/>
          <a:p>
            <a:pPr>
              <a:spcAft>
                <a:spcPts val="300"/>
              </a:spcAft>
              <a:defRPr sz="2100" b="1">
                <a:solidFill>
                  <a:srgbClr val="19283D"/>
                </a:solidFill>
                <a:latin typeface="Aptos"/>
              </a:defRPr>
            </a:pPr>
            <a:r>
              <a:t>120 policy paths</a:t>
            </a:r>
          </a:p>
        </p:txBody>
      </p:sp>
      <p:sp>
        <p:nvSpPr>
          <p:cNvPr id="22" name="TextBox 21"/>
          <p:cNvSpPr txBox="1"/>
          <p:nvPr/>
        </p:nvSpPr>
        <p:spPr>
          <a:xfrm>
            <a:off x="8421624" y="2651760"/>
            <a:ext cx="3081528" cy="1371600"/>
          </a:xfrm>
          <a:prstGeom prst="rect">
            <a:avLst/>
          </a:prstGeom>
          <a:noFill/>
        </p:spPr>
        <p:txBody>
          <a:bodyPr wrap="square" lIns="0" tIns="0" rIns="0" bIns="0" anchor="t">
            <a:spAutoFit/>
          </a:bodyPr>
          <a:lstStyle/>
          <a:p>
            <a:pPr>
              <a:spcAft>
                <a:spcPts val="300"/>
              </a:spcAft>
              <a:defRPr sz="1320" b="0">
                <a:solidFill>
                  <a:srgbClr val="58697B"/>
                </a:solidFill>
                <a:latin typeface="Aptos"/>
              </a:defRPr>
            </a:pPr>
            <a:r>
              <a:t>chosen by the noun (book, mug, door ...)</a:t>
            </a:r>
          </a:p>
          <a:p>
            <a:pPr>
              <a:spcAft>
                <a:spcPts val="300"/>
              </a:spcAft>
              <a:defRPr sz="1320" b="0">
                <a:solidFill>
                  <a:srgbClr val="58697B"/>
                </a:solidFill>
                <a:latin typeface="Aptos"/>
              </a:defRPr>
            </a:pPr>
            <a:r>
              <a:t>over 114 low-level policies</a:t>
            </a:r>
          </a:p>
        </p:txBody>
      </p:sp>
      <p:sp>
        <p:nvSpPr>
          <p:cNvPr id="23" name="TextBox 22"/>
          <p:cNvSpPr txBox="1"/>
          <p:nvPr/>
        </p:nvSpPr>
        <p:spPr>
          <a:xfrm>
            <a:off x="557784" y="4407408"/>
            <a:ext cx="1691640" cy="274320"/>
          </a:xfrm>
          <a:prstGeom prst="rect">
            <a:avLst/>
          </a:prstGeom>
          <a:noFill/>
        </p:spPr>
        <p:txBody>
          <a:bodyPr wrap="square" lIns="0" tIns="0" rIns="0" bIns="0" anchor="t">
            <a:spAutoFit/>
          </a:bodyPr>
          <a:lstStyle/>
          <a:p>
            <a:pPr>
              <a:spcAft>
                <a:spcPts val="300"/>
              </a:spcAft>
              <a:defRPr sz="1250" b="1">
                <a:solidFill>
                  <a:srgbClr val="19283D"/>
                </a:solidFill>
                <a:latin typeface="Aptos"/>
              </a:defRPr>
            </a:pPr>
            <a:r>
              <a:t>Move + body</a:t>
            </a:r>
          </a:p>
        </p:txBody>
      </p:sp>
      <p:sp>
        <p:nvSpPr>
          <p:cNvPr id="24" name="TextBox 23"/>
          <p:cNvSpPr txBox="1"/>
          <p:nvPr/>
        </p:nvSpPr>
        <p:spPr>
          <a:xfrm>
            <a:off x="2249424" y="4407408"/>
            <a:ext cx="3931920" cy="274320"/>
          </a:xfrm>
          <a:prstGeom prst="rect">
            <a:avLst/>
          </a:prstGeom>
          <a:noFill/>
        </p:spPr>
        <p:txBody>
          <a:bodyPr wrap="square" lIns="0" tIns="0" rIns="0" bIns="0" anchor="t">
            <a:spAutoFit/>
          </a:bodyPr>
          <a:lstStyle/>
          <a:p>
            <a:pPr>
              <a:spcAft>
                <a:spcPts val="300"/>
              </a:spcAft>
              <a:defRPr sz="1200" b="0">
                <a:solidFill>
                  <a:srgbClr val="58697B"/>
                </a:solidFill>
                <a:latin typeface="Aptos"/>
              </a:defRPr>
            </a:pPr>
            <a:r>
              <a:t>navigate · approach · face · retreat · crouch · bend</a:t>
            </a:r>
          </a:p>
        </p:txBody>
      </p:sp>
      <p:sp>
        <p:nvSpPr>
          <p:cNvPr id="25" name="TextBox 24"/>
          <p:cNvSpPr txBox="1"/>
          <p:nvPr/>
        </p:nvSpPr>
        <p:spPr>
          <a:xfrm>
            <a:off x="6300216" y="4407408"/>
            <a:ext cx="1691640" cy="274320"/>
          </a:xfrm>
          <a:prstGeom prst="rect">
            <a:avLst/>
          </a:prstGeom>
          <a:noFill/>
        </p:spPr>
        <p:txBody>
          <a:bodyPr wrap="square" lIns="0" tIns="0" rIns="0" bIns="0" anchor="t">
            <a:spAutoFit/>
          </a:bodyPr>
          <a:lstStyle/>
          <a:p>
            <a:pPr>
              <a:spcAft>
                <a:spcPts val="300"/>
              </a:spcAft>
              <a:defRPr sz="1250" b="1">
                <a:solidFill>
                  <a:srgbClr val="19283D"/>
                </a:solidFill>
                <a:latin typeface="Aptos"/>
              </a:defRPr>
            </a:pPr>
            <a:r>
              <a:t>Perceive</a:t>
            </a:r>
          </a:p>
        </p:txBody>
      </p:sp>
      <p:sp>
        <p:nvSpPr>
          <p:cNvPr id="26" name="TextBox 25"/>
          <p:cNvSpPr txBox="1"/>
          <p:nvPr/>
        </p:nvSpPr>
        <p:spPr>
          <a:xfrm>
            <a:off x="7991856" y="4407408"/>
            <a:ext cx="3931920" cy="274320"/>
          </a:xfrm>
          <a:prstGeom prst="rect">
            <a:avLst/>
          </a:prstGeom>
          <a:noFill/>
        </p:spPr>
        <p:txBody>
          <a:bodyPr wrap="square" lIns="0" tIns="0" rIns="0" bIns="0" anchor="t">
            <a:spAutoFit/>
          </a:bodyPr>
          <a:lstStyle/>
          <a:p>
            <a:pPr>
              <a:spcAft>
                <a:spcPts val="300"/>
              </a:spcAft>
              <a:defRPr sz="1200" b="0">
                <a:solidFill>
                  <a:srgbClr val="58697B"/>
                </a:solidFill>
                <a:latin typeface="Aptos"/>
              </a:defRPr>
            </a:pPr>
            <a:r>
              <a:t>look · inspect · search · explore · count · measure</a:t>
            </a:r>
          </a:p>
        </p:txBody>
      </p:sp>
      <p:sp>
        <p:nvSpPr>
          <p:cNvPr id="27" name="TextBox 26"/>
          <p:cNvSpPr txBox="1"/>
          <p:nvPr/>
        </p:nvSpPr>
        <p:spPr>
          <a:xfrm>
            <a:off x="557784" y="4974336"/>
            <a:ext cx="1691640" cy="274320"/>
          </a:xfrm>
          <a:prstGeom prst="rect">
            <a:avLst/>
          </a:prstGeom>
          <a:noFill/>
        </p:spPr>
        <p:txBody>
          <a:bodyPr wrap="square" lIns="0" tIns="0" rIns="0" bIns="0" anchor="t">
            <a:spAutoFit/>
          </a:bodyPr>
          <a:lstStyle/>
          <a:p>
            <a:pPr>
              <a:spcAft>
                <a:spcPts val="300"/>
              </a:spcAft>
              <a:defRPr sz="1250" b="1">
                <a:solidFill>
                  <a:srgbClr val="19283D"/>
                </a:solidFill>
                <a:latin typeface="Aptos"/>
              </a:defRPr>
            </a:pPr>
            <a:r>
              <a:t>Manipulate</a:t>
            </a:r>
          </a:p>
        </p:txBody>
      </p:sp>
      <p:sp>
        <p:nvSpPr>
          <p:cNvPr id="28" name="TextBox 27"/>
          <p:cNvSpPr txBox="1"/>
          <p:nvPr/>
        </p:nvSpPr>
        <p:spPr>
          <a:xfrm>
            <a:off x="2249424" y="4974336"/>
            <a:ext cx="3931920" cy="274320"/>
          </a:xfrm>
          <a:prstGeom prst="rect">
            <a:avLst/>
          </a:prstGeom>
          <a:noFill/>
        </p:spPr>
        <p:txBody>
          <a:bodyPr wrap="square" lIns="0" tIns="0" rIns="0" bIns="0" anchor="t">
            <a:spAutoFit/>
          </a:bodyPr>
          <a:lstStyle/>
          <a:p>
            <a:pPr>
              <a:spcAft>
                <a:spcPts val="300"/>
              </a:spcAft>
              <a:defRPr sz="1200" b="0">
                <a:solidFill>
                  <a:srgbClr val="58697B"/>
                </a:solidFill>
                <a:latin typeface="Aptos"/>
              </a:defRPr>
            </a:pPr>
            <a:r>
              <a:t>pick · place · stack · lift · flip · push · expose</a:t>
            </a:r>
          </a:p>
        </p:txBody>
      </p:sp>
      <p:sp>
        <p:nvSpPr>
          <p:cNvPr id="29" name="TextBox 28"/>
          <p:cNvSpPr txBox="1"/>
          <p:nvPr/>
        </p:nvSpPr>
        <p:spPr>
          <a:xfrm>
            <a:off x="6300216" y="4974336"/>
            <a:ext cx="1691640" cy="274320"/>
          </a:xfrm>
          <a:prstGeom prst="rect">
            <a:avLst/>
          </a:prstGeom>
          <a:noFill/>
        </p:spPr>
        <p:txBody>
          <a:bodyPr wrap="square" lIns="0" tIns="0" rIns="0" bIns="0" anchor="t">
            <a:spAutoFit/>
          </a:bodyPr>
          <a:lstStyle/>
          <a:p>
            <a:pPr>
              <a:spcAft>
                <a:spcPts val="300"/>
              </a:spcAft>
              <a:defRPr sz="1250" b="1">
                <a:solidFill>
                  <a:srgbClr val="19283D"/>
                </a:solidFill>
                <a:latin typeface="Aptos"/>
              </a:defRPr>
            </a:pPr>
            <a:r>
              <a:t>Appliance + tasks</a:t>
            </a:r>
          </a:p>
        </p:txBody>
      </p:sp>
      <p:sp>
        <p:nvSpPr>
          <p:cNvPr id="30" name="TextBox 29"/>
          <p:cNvSpPr txBox="1"/>
          <p:nvPr/>
        </p:nvSpPr>
        <p:spPr>
          <a:xfrm>
            <a:off x="7991856" y="4974336"/>
            <a:ext cx="3931920" cy="274320"/>
          </a:xfrm>
          <a:prstGeom prst="rect">
            <a:avLst/>
          </a:prstGeom>
          <a:noFill/>
        </p:spPr>
        <p:txBody>
          <a:bodyPr wrap="square" lIns="0" tIns="0" rIns="0" bIns="0" anchor="t">
            <a:spAutoFit/>
          </a:bodyPr>
          <a:lstStyle/>
          <a:p>
            <a:pPr>
              <a:spcAft>
                <a:spcPts val="300"/>
              </a:spcAft>
              <a:defRPr sz="1200" b="0">
                <a:solidFill>
                  <a:srgbClr val="58697B"/>
                </a:solidFill>
                <a:latin typeface="Aptos"/>
              </a:defRPr>
            </a:pPr>
            <a:r>
              <a:t>open · close · press · heat · cover · wipe · collect</a:t>
            </a:r>
          </a:p>
        </p:txBody>
      </p:sp>
      <p:sp>
        <p:nvSpPr>
          <p:cNvPr id="31" name="Rounded Rectangle 30"/>
          <p:cNvSpPr/>
          <p:nvPr/>
        </p:nvSpPr>
        <p:spPr>
          <a:xfrm>
            <a:off x="585216" y="5650992"/>
            <a:ext cx="10972800" cy="475488"/>
          </a:xfrm>
          <a:prstGeom prst="roundRect">
            <a:avLst/>
          </a:prstGeom>
          <a:solidFill>
            <a:srgbClr val="E8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8" y="5769864"/>
            <a:ext cx="10561320" cy="265176"/>
          </a:xfrm>
          <a:prstGeom prst="rect">
            <a:avLst/>
          </a:prstGeom>
          <a:noFill/>
        </p:spPr>
        <p:txBody>
          <a:bodyPr wrap="square" lIns="0" tIns="0" rIns="0" bIns="0" anchor="t">
            <a:spAutoFit/>
          </a:bodyPr>
          <a:lstStyle/>
          <a:p>
            <a:pPr>
              <a:spcAft>
                <a:spcPts val="300"/>
              </a:spcAft>
              <a:defRPr sz="1460" b="1">
                <a:solidFill>
                  <a:srgbClr val="101F34"/>
                </a:solidFill>
                <a:latin typeface="Aptos"/>
              </a:defRPr>
            </a:pPr>
            <a:r>
              <a:t>Library regression (35 scenarios, 2026-10-18): 27 pass  ·  8 fail (6 before, 2 also on 15d948e)  ·  0 new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210312"/>
          </a:xfrm>
          <a:prstGeom prst="rect">
            <a:avLst/>
          </a:prstGeom>
          <a:noFill/>
        </p:spPr>
        <p:txBody>
          <a:bodyPr wrap="square" lIns="0" tIns="0" rIns="0" bIns="0" anchor="t">
            <a:spAutoFit/>
          </a:bodyPr>
          <a:lstStyle/>
          <a:p>
            <a:pPr>
              <a:spcAft>
                <a:spcPts val="300"/>
              </a:spcAft>
              <a:defRPr sz="1000" b="1">
                <a:solidFill>
                  <a:srgbClr val="008F93"/>
                </a:solidFill>
                <a:latin typeface="Aptos"/>
              </a:defRPr>
            </a:pPr>
            <a:r>
              <a:t>TASK SUITE</a:t>
            </a:r>
          </a:p>
        </p:txBody>
      </p:sp>
      <p:sp>
        <p:nvSpPr>
          <p:cNvPr id="4" name="TextBox 3"/>
          <p:cNvSpPr txBox="1"/>
          <p:nvPr/>
        </p:nvSpPr>
        <p:spPr>
          <a:xfrm>
            <a:off x="502920" y="585216"/>
            <a:ext cx="11018520" cy="685800"/>
          </a:xfrm>
          <a:prstGeom prst="rect">
            <a:avLst/>
          </a:prstGeom>
          <a:noFill/>
        </p:spPr>
        <p:txBody>
          <a:bodyPr wrap="square" lIns="0" tIns="0" rIns="0" bIns="0" anchor="t">
            <a:spAutoFit/>
          </a:bodyPr>
          <a:lstStyle/>
          <a:p>
            <a:pPr>
              <a:spcAft>
                <a:spcPts val="300"/>
              </a:spcAft>
              <a:defRPr sz="2800" b="1">
                <a:solidFill>
                  <a:srgbClr val="19283D"/>
                </a:solidFill>
                <a:latin typeface="Aptos"/>
              </a:defRPr>
            </a:pPr>
            <a:r>
              <a:t>Eight tasks across four household themes</a:t>
            </a:r>
          </a:p>
        </p:txBody>
      </p:sp>
      <p:sp>
        <p:nvSpPr>
          <p:cNvPr id="5" name="TextBox 4"/>
          <p:cNvSpPr txBox="1"/>
          <p:nvPr/>
        </p:nvSpPr>
        <p:spPr>
          <a:xfrm>
            <a:off x="521207" y="1261872"/>
            <a:ext cx="10972800" cy="393192"/>
          </a:xfrm>
          <a:prstGeom prst="rect">
            <a:avLst/>
          </a:prstGeom>
          <a:noFill/>
        </p:spPr>
        <p:txBody>
          <a:bodyPr wrap="square" lIns="0" tIns="0" rIns="0" bIns="0" anchor="t">
            <a:spAutoFit/>
          </a:bodyPr>
          <a:lstStyle/>
          <a:p>
            <a:pPr>
              <a:spcAft>
                <a:spcPts val="300"/>
              </a:spcAft>
              <a:defRPr sz="1250" b="0">
                <a:solidFill>
                  <a:srgbClr val="58697B"/>
                </a:solidFill>
                <a:latin typeface="Aptos"/>
              </a:defRPr>
            </a:pPr>
            <a:r>
              <a:t>The same house supports different goals rather than a single scripted demonstration.</a:t>
            </a:r>
          </a:p>
        </p:txBody>
      </p:sp>
      <p:sp>
        <p:nvSpPr>
          <p:cNvPr id="6" name="Rectangle 5"/>
          <p:cNvSpPr/>
          <p:nvPr/>
        </p:nvSpPr>
        <p:spPr>
          <a:xfrm>
            <a:off x="502920" y="6473952"/>
            <a:ext cx="11183112" cy="10972"/>
          </a:xfrm>
          <a:prstGeom prst="rect">
            <a:avLst/>
          </a:prstGeom>
          <a:solidFill>
            <a:srgbClr val="DB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6519672"/>
            <a:ext cx="7315200" cy="164592"/>
          </a:xfrm>
          <a:prstGeom prst="rect">
            <a:avLst/>
          </a:prstGeom>
          <a:noFill/>
        </p:spPr>
        <p:txBody>
          <a:bodyPr wrap="square" lIns="0" tIns="0" rIns="0" bIns="0" anchor="t">
            <a:spAutoFit/>
          </a:bodyPr>
          <a:lstStyle/>
          <a:p>
            <a:pPr>
              <a:spcAft>
                <a:spcPts val="300"/>
              </a:spcAft>
              <a:defRPr sz="850" b="0">
                <a:solidFill>
                  <a:srgbClr val="58697B"/>
                </a:solidFill>
                <a:latin typeface="Aptos"/>
              </a:defRPr>
            </a:pPr>
            <a:r>
              <a:t>ZenoBench  ·  CMU Agentic Library</a:t>
            </a:r>
          </a:p>
        </p:txBody>
      </p:sp>
      <p:sp>
        <p:nvSpPr>
          <p:cNvPr id="8" name="TextBox 7"/>
          <p:cNvSpPr txBox="1"/>
          <p:nvPr/>
        </p:nvSpPr>
        <p:spPr>
          <a:xfrm>
            <a:off x="11100816" y="6510528"/>
            <a:ext cx="566928" cy="182880"/>
          </a:xfrm>
          <a:prstGeom prst="rect">
            <a:avLst/>
          </a:prstGeom>
          <a:noFill/>
        </p:spPr>
        <p:txBody>
          <a:bodyPr wrap="square" lIns="0" tIns="0" rIns="0" bIns="0" anchor="t">
            <a:spAutoFit/>
          </a:bodyPr>
          <a:lstStyle/>
          <a:p>
            <a:pPr algn="r">
              <a:spcAft>
                <a:spcPts val="300"/>
              </a:spcAft>
              <a:defRPr sz="850" b="0">
                <a:solidFill>
                  <a:srgbClr val="58697B"/>
                </a:solidFill>
                <a:latin typeface="Aptos"/>
              </a:defRPr>
            </a:pPr>
            <a:r>
              <a:t>06 / 20</a:t>
            </a:r>
          </a:p>
        </p:txBody>
      </p:sp>
      <p:sp>
        <p:nvSpPr>
          <p:cNvPr id="9" name="Rounded Rectangle 8"/>
          <p:cNvSpPr/>
          <p:nvPr/>
        </p:nvSpPr>
        <p:spPr>
          <a:xfrm>
            <a:off x="539496" y="1847088"/>
            <a:ext cx="2523744" cy="3593592"/>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9496" y="1847088"/>
            <a:ext cx="2523744" cy="11887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212848"/>
            <a:ext cx="2194560" cy="356616"/>
          </a:xfrm>
          <a:prstGeom prst="rect">
            <a:avLst/>
          </a:prstGeom>
          <a:noFill/>
        </p:spPr>
        <p:txBody>
          <a:bodyPr wrap="square" lIns="0" tIns="0" rIns="0" bIns="0" anchor="t">
            <a:spAutoFit/>
          </a:bodyPr>
          <a:lstStyle/>
          <a:p>
            <a:pPr>
              <a:spcAft>
                <a:spcPts val="300"/>
              </a:spcAft>
              <a:defRPr sz="2000" b="1">
                <a:solidFill>
                  <a:srgbClr val="19283D"/>
                </a:solidFill>
                <a:latin typeface="Aptos"/>
              </a:defRPr>
            </a:pPr>
            <a:r>
              <a:t>Collect</a:t>
            </a:r>
          </a:p>
        </p:txBody>
      </p:sp>
      <p:sp>
        <p:nvSpPr>
          <p:cNvPr id="12" name="TextBox 11"/>
          <p:cNvSpPr txBox="1"/>
          <p:nvPr/>
        </p:nvSpPr>
        <p:spPr>
          <a:xfrm>
            <a:off x="713232" y="2852928"/>
            <a:ext cx="2212848" cy="1069848"/>
          </a:xfrm>
          <a:prstGeom prst="rect">
            <a:avLst/>
          </a:prstGeom>
          <a:noFill/>
        </p:spPr>
        <p:txBody>
          <a:bodyPr wrap="square" lIns="0" tIns="0" rIns="0" bIns="0" anchor="t">
            <a:spAutoFit/>
          </a:bodyPr>
          <a:lstStyle/>
          <a:p>
            <a:pPr>
              <a:spcAft>
                <a:spcPts val="300"/>
              </a:spcAft>
              <a:defRPr sz="1350" b="1">
                <a:solidFill>
                  <a:srgbClr val="008F93"/>
                </a:solidFill>
                <a:latin typeface="Aptos"/>
              </a:defRPr>
            </a:pPr>
            <a:r>
              <a:t>collect_fruits</a:t>
            </a:r>
          </a:p>
        </p:txBody>
      </p:sp>
      <p:sp>
        <p:nvSpPr>
          <p:cNvPr id="13" name="TextBox 12"/>
          <p:cNvSpPr txBox="1"/>
          <p:nvPr/>
        </p:nvSpPr>
        <p:spPr>
          <a:xfrm>
            <a:off x="713232" y="4315968"/>
            <a:ext cx="2185416" cy="859536"/>
          </a:xfrm>
          <a:prstGeom prst="rect">
            <a:avLst/>
          </a:prstGeom>
          <a:noFill/>
        </p:spPr>
        <p:txBody>
          <a:bodyPr wrap="square" lIns="0" tIns="0" rIns="0" bIns="0" anchor="t">
            <a:spAutoFit/>
          </a:bodyPr>
          <a:lstStyle/>
          <a:p>
            <a:pPr>
              <a:spcAft>
                <a:spcPts val="300"/>
              </a:spcAft>
              <a:defRPr sz="1300" b="0">
                <a:solidFill>
                  <a:srgbClr val="58697B"/>
                </a:solidFill>
                <a:latin typeface="Aptos"/>
              </a:defRPr>
            </a:pPr>
            <a:r>
              <a:t>Gather objects into a shared container</a:t>
            </a:r>
          </a:p>
        </p:txBody>
      </p:sp>
      <p:sp>
        <p:nvSpPr>
          <p:cNvPr id="14" name="Rounded Rectangle 13"/>
          <p:cNvSpPr/>
          <p:nvPr/>
        </p:nvSpPr>
        <p:spPr>
          <a:xfrm>
            <a:off x="3410712" y="1847088"/>
            <a:ext cx="2523744" cy="3593592"/>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10712" y="1847088"/>
            <a:ext cx="2523744" cy="118872"/>
          </a:xfrm>
          <a:prstGeom prst="rect">
            <a:avLst/>
          </a:prstGeom>
          <a:solidFill>
            <a:srgbClr val="2468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4448" y="2212848"/>
            <a:ext cx="2194560" cy="356616"/>
          </a:xfrm>
          <a:prstGeom prst="rect">
            <a:avLst/>
          </a:prstGeom>
          <a:noFill/>
        </p:spPr>
        <p:txBody>
          <a:bodyPr wrap="square" lIns="0" tIns="0" rIns="0" bIns="0" anchor="t">
            <a:spAutoFit/>
          </a:bodyPr>
          <a:lstStyle/>
          <a:p>
            <a:pPr>
              <a:spcAft>
                <a:spcPts val="300"/>
              </a:spcAft>
              <a:defRPr sz="2000" b="1">
                <a:solidFill>
                  <a:srgbClr val="19283D"/>
                </a:solidFill>
                <a:latin typeface="Aptos"/>
              </a:defRPr>
            </a:pPr>
            <a:r>
              <a:t>Organize</a:t>
            </a:r>
          </a:p>
        </p:txBody>
      </p:sp>
      <p:sp>
        <p:nvSpPr>
          <p:cNvPr id="17" name="TextBox 16"/>
          <p:cNvSpPr txBox="1"/>
          <p:nvPr/>
        </p:nvSpPr>
        <p:spPr>
          <a:xfrm>
            <a:off x="3584448" y="2852928"/>
            <a:ext cx="2212848" cy="1069848"/>
          </a:xfrm>
          <a:prstGeom prst="rect">
            <a:avLst/>
          </a:prstGeom>
          <a:noFill/>
        </p:spPr>
        <p:txBody>
          <a:bodyPr wrap="square" lIns="0" tIns="0" rIns="0" bIns="0" anchor="t">
            <a:spAutoFit/>
          </a:bodyPr>
          <a:lstStyle/>
          <a:p>
            <a:pPr>
              <a:spcAft>
                <a:spcPts val="300"/>
              </a:spcAft>
              <a:defRPr sz="1350" b="1">
                <a:solidFill>
                  <a:srgbClr val="2468BC"/>
                </a:solidFill>
                <a:latin typeface="Aptos"/>
              </a:defRPr>
            </a:pPr>
            <a:r>
              <a:t>tidy_toys</a:t>
            </a:r>
          </a:p>
          <a:p>
            <a:pPr>
              <a:spcAft>
                <a:spcPts val="300"/>
              </a:spcAft>
              <a:defRPr sz="1350" b="1">
                <a:solidFill>
                  <a:srgbClr val="2468BC"/>
                </a:solidFill>
                <a:latin typeface="Aptos"/>
              </a:defRPr>
            </a:pPr>
            <a:r>
              <a:t>shelve_books</a:t>
            </a:r>
          </a:p>
        </p:txBody>
      </p:sp>
      <p:sp>
        <p:nvSpPr>
          <p:cNvPr id="18" name="TextBox 17"/>
          <p:cNvSpPr txBox="1"/>
          <p:nvPr/>
        </p:nvSpPr>
        <p:spPr>
          <a:xfrm>
            <a:off x="3584448" y="4315968"/>
            <a:ext cx="2185416" cy="859536"/>
          </a:xfrm>
          <a:prstGeom prst="rect">
            <a:avLst/>
          </a:prstGeom>
          <a:noFill/>
        </p:spPr>
        <p:txBody>
          <a:bodyPr wrap="square" lIns="0" tIns="0" rIns="0" bIns="0" anchor="t">
            <a:spAutoFit/>
          </a:bodyPr>
          <a:lstStyle/>
          <a:p>
            <a:pPr>
              <a:spcAft>
                <a:spcPts val="300"/>
              </a:spcAft>
              <a:defRPr sz="1300" b="0">
                <a:solidFill>
                  <a:srgbClr val="58697B"/>
                </a:solidFill>
                <a:latin typeface="Aptos"/>
              </a:defRPr>
            </a:pPr>
            <a:r>
              <a:t>Put floor toys away; place books on shelves</a:t>
            </a:r>
          </a:p>
        </p:txBody>
      </p:sp>
      <p:sp>
        <p:nvSpPr>
          <p:cNvPr id="19" name="Rounded Rectangle 18"/>
          <p:cNvSpPr/>
          <p:nvPr/>
        </p:nvSpPr>
        <p:spPr>
          <a:xfrm>
            <a:off x="6281928" y="1847088"/>
            <a:ext cx="2523744" cy="3593592"/>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81928" y="1847088"/>
            <a:ext cx="2523744" cy="118872"/>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5664" y="2212848"/>
            <a:ext cx="2194560" cy="356616"/>
          </a:xfrm>
          <a:prstGeom prst="rect">
            <a:avLst/>
          </a:prstGeom>
          <a:noFill/>
        </p:spPr>
        <p:txBody>
          <a:bodyPr wrap="square" lIns="0" tIns="0" rIns="0" bIns="0" anchor="t">
            <a:spAutoFit/>
          </a:bodyPr>
          <a:lstStyle/>
          <a:p>
            <a:pPr>
              <a:spcAft>
                <a:spcPts val="300"/>
              </a:spcAft>
              <a:defRPr sz="2000" b="1">
                <a:solidFill>
                  <a:srgbClr val="19283D"/>
                </a:solidFill>
                <a:latin typeface="Aptos"/>
              </a:defRPr>
            </a:pPr>
            <a:r>
              <a:t>Prepare</a:t>
            </a:r>
          </a:p>
        </p:txBody>
      </p:sp>
      <p:sp>
        <p:nvSpPr>
          <p:cNvPr id="22" name="TextBox 21"/>
          <p:cNvSpPr txBox="1"/>
          <p:nvPr/>
        </p:nvSpPr>
        <p:spPr>
          <a:xfrm>
            <a:off x="6455664" y="2852928"/>
            <a:ext cx="2212848" cy="1069848"/>
          </a:xfrm>
          <a:prstGeom prst="rect">
            <a:avLst/>
          </a:prstGeom>
          <a:noFill/>
        </p:spPr>
        <p:txBody>
          <a:bodyPr wrap="square" lIns="0" tIns="0" rIns="0" bIns="0" anchor="t">
            <a:spAutoFit/>
          </a:bodyPr>
          <a:lstStyle/>
          <a:p>
            <a:pPr>
              <a:spcAft>
                <a:spcPts val="300"/>
              </a:spcAft>
              <a:defRPr sz="1350" b="1">
                <a:solidFill>
                  <a:srgbClr val="EFA33C"/>
                </a:solidFill>
                <a:latin typeface="Aptos"/>
              </a:defRPr>
            </a:pPr>
            <a:r>
              <a:t>desk_prep</a:t>
            </a:r>
          </a:p>
          <a:p>
            <a:pPr>
              <a:spcAft>
                <a:spcPts val="300"/>
              </a:spcAft>
              <a:defRPr sz="1350" b="1">
                <a:solidFill>
                  <a:srgbClr val="EFA33C"/>
                </a:solidFill>
                <a:latin typeface="Aptos"/>
              </a:defRPr>
            </a:pPr>
            <a:r>
              <a:t>breakfast_setup</a:t>
            </a:r>
          </a:p>
        </p:txBody>
      </p:sp>
      <p:sp>
        <p:nvSpPr>
          <p:cNvPr id="23" name="TextBox 22"/>
          <p:cNvSpPr txBox="1"/>
          <p:nvPr/>
        </p:nvSpPr>
        <p:spPr>
          <a:xfrm>
            <a:off x="6455664" y="4315968"/>
            <a:ext cx="2185416" cy="859536"/>
          </a:xfrm>
          <a:prstGeom prst="rect">
            <a:avLst/>
          </a:prstGeom>
          <a:noFill/>
        </p:spPr>
        <p:txBody>
          <a:bodyPr wrap="square" lIns="0" tIns="0" rIns="0" bIns="0" anchor="t">
            <a:spAutoFit/>
          </a:bodyPr>
          <a:lstStyle/>
          <a:p>
            <a:pPr>
              <a:spcAft>
                <a:spcPts val="300"/>
              </a:spcAft>
              <a:defRPr sz="1300" b="0">
                <a:solidFill>
                  <a:srgbClr val="58697B"/>
                </a:solidFill>
                <a:latin typeface="Aptos"/>
              </a:defRPr>
            </a:pPr>
            <a:r>
              <a:t>Set up a workspace or a dining table</a:t>
            </a:r>
          </a:p>
        </p:txBody>
      </p:sp>
      <p:sp>
        <p:nvSpPr>
          <p:cNvPr id="24" name="Rounded Rectangle 23"/>
          <p:cNvSpPr/>
          <p:nvPr/>
        </p:nvSpPr>
        <p:spPr>
          <a:xfrm>
            <a:off x="9153144" y="1847088"/>
            <a:ext cx="2523744" cy="3593592"/>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53144" y="1847088"/>
            <a:ext cx="2523744" cy="118872"/>
          </a:xfrm>
          <a:prstGeom prst="rect">
            <a:avLst/>
          </a:prstGeom>
          <a:solidFill>
            <a:srgbClr val="2693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0" y="2212848"/>
            <a:ext cx="2194560" cy="356616"/>
          </a:xfrm>
          <a:prstGeom prst="rect">
            <a:avLst/>
          </a:prstGeom>
          <a:noFill/>
        </p:spPr>
        <p:txBody>
          <a:bodyPr wrap="square" lIns="0" tIns="0" rIns="0" bIns="0" anchor="t">
            <a:spAutoFit/>
          </a:bodyPr>
          <a:lstStyle/>
          <a:p>
            <a:pPr>
              <a:spcAft>
                <a:spcPts val="300"/>
              </a:spcAft>
              <a:defRPr sz="2000" b="1">
                <a:solidFill>
                  <a:srgbClr val="19283D"/>
                </a:solidFill>
                <a:latin typeface="Aptos"/>
              </a:defRPr>
            </a:pPr>
            <a:r>
              <a:t>Appliances</a:t>
            </a:r>
          </a:p>
        </p:txBody>
      </p:sp>
      <p:sp>
        <p:nvSpPr>
          <p:cNvPr id="27" name="TextBox 26"/>
          <p:cNvSpPr txBox="1"/>
          <p:nvPr/>
        </p:nvSpPr>
        <p:spPr>
          <a:xfrm>
            <a:off x="9326880" y="2852928"/>
            <a:ext cx="2212848" cy="1069848"/>
          </a:xfrm>
          <a:prstGeom prst="rect">
            <a:avLst/>
          </a:prstGeom>
          <a:noFill/>
        </p:spPr>
        <p:txBody>
          <a:bodyPr wrap="square" lIns="0" tIns="0" rIns="0" bIns="0" anchor="t">
            <a:spAutoFit/>
          </a:bodyPr>
          <a:lstStyle/>
          <a:p>
            <a:pPr>
              <a:spcAft>
                <a:spcPts val="300"/>
              </a:spcAft>
              <a:defRPr sz="1350" b="1">
                <a:solidFill>
                  <a:srgbClr val="269365"/>
                </a:solidFill>
                <a:latin typeface="Aptos"/>
              </a:defRPr>
            </a:pPr>
            <a:r>
              <a:t>heat_breakfast_preloaded</a:t>
            </a:r>
          </a:p>
          <a:p>
            <a:pPr>
              <a:spcAft>
                <a:spcPts val="300"/>
              </a:spcAft>
              <a:defRPr sz="1350" b="1">
                <a:solidFill>
                  <a:srgbClr val="269365"/>
                </a:solidFill>
                <a:latin typeface="Aptos"/>
              </a:defRPr>
            </a:pPr>
            <a:r>
              <a:t>heat_breakfast_combo</a:t>
            </a:r>
          </a:p>
          <a:p>
            <a:pPr>
              <a:spcAft>
                <a:spcPts val="300"/>
              </a:spcAft>
              <a:defRPr sz="1350" b="1">
                <a:solidFill>
                  <a:srgbClr val="269365"/>
                </a:solidFill>
                <a:latin typeface="Aptos"/>
              </a:defRPr>
            </a:pPr>
            <a:r>
              <a:t>heat_breakfast</a:t>
            </a:r>
          </a:p>
        </p:txBody>
      </p:sp>
      <p:sp>
        <p:nvSpPr>
          <p:cNvPr id="28" name="TextBox 27"/>
          <p:cNvSpPr txBox="1"/>
          <p:nvPr/>
        </p:nvSpPr>
        <p:spPr>
          <a:xfrm>
            <a:off x="9326880" y="4315968"/>
            <a:ext cx="2185416" cy="859536"/>
          </a:xfrm>
          <a:prstGeom prst="rect">
            <a:avLst/>
          </a:prstGeom>
          <a:noFill/>
        </p:spPr>
        <p:txBody>
          <a:bodyPr wrap="square" lIns="0" tIns="0" rIns="0" bIns="0" anchor="t">
            <a:spAutoFit/>
          </a:bodyPr>
          <a:lstStyle/>
          <a:p>
            <a:pPr>
              <a:spcAft>
                <a:spcPts val="300"/>
              </a:spcAft>
              <a:defRPr sz="1300" b="0">
                <a:solidFill>
                  <a:srgbClr val="58697B"/>
                </a:solidFill>
                <a:latin typeface="Aptos"/>
              </a:defRPr>
            </a:pPr>
            <a:r>
              <a:t>Operate fridge/microwave and serve food</a:t>
            </a:r>
          </a:p>
        </p:txBody>
      </p:sp>
      <p:sp>
        <p:nvSpPr>
          <p:cNvPr id="29" name="TextBox 28"/>
          <p:cNvSpPr txBox="1"/>
          <p:nvPr/>
        </p:nvSpPr>
        <p:spPr>
          <a:xfrm>
            <a:off x="603504" y="5861304"/>
            <a:ext cx="10954512" cy="292608"/>
          </a:xfrm>
          <a:prstGeom prst="rect">
            <a:avLst/>
          </a:prstGeom>
          <a:noFill/>
        </p:spPr>
        <p:txBody>
          <a:bodyPr wrap="square" lIns="0" tIns="0" rIns="0" bIns="0" anchor="t">
            <a:spAutoFit/>
          </a:bodyPr>
          <a:lstStyle/>
          <a:p>
            <a:pPr>
              <a:spcAft>
                <a:spcPts val="300"/>
              </a:spcAft>
              <a:defRPr sz="1400" b="1">
                <a:solidFill>
                  <a:srgbClr val="101F34"/>
                </a:solidFill>
                <a:latin typeface="Aptos"/>
              </a:defRPr>
            </a:pPr>
            <a:r>
              <a:t>Representative rollouts and result JSONs are included in the repository.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210312"/>
          </a:xfrm>
          <a:prstGeom prst="rect">
            <a:avLst/>
          </a:prstGeom>
          <a:noFill/>
        </p:spPr>
        <p:txBody>
          <a:bodyPr wrap="square" lIns="0" tIns="0" rIns="0" bIns="0" anchor="t">
            <a:spAutoFit/>
          </a:bodyPr>
          <a:lstStyle/>
          <a:p>
            <a:pPr>
              <a:spcAft>
                <a:spcPts val="300"/>
              </a:spcAft>
              <a:defRPr sz="1000" b="1">
                <a:solidFill>
                  <a:srgbClr val="008F93"/>
                </a:solidFill>
                <a:latin typeface="Aptos"/>
              </a:defRPr>
            </a:pPr>
            <a:r>
              <a:t>DEMO</a:t>
            </a:r>
          </a:p>
        </p:txBody>
      </p:sp>
      <p:sp>
        <p:nvSpPr>
          <p:cNvPr id="4" name="TextBox 3"/>
          <p:cNvSpPr txBox="1"/>
          <p:nvPr/>
        </p:nvSpPr>
        <p:spPr>
          <a:xfrm>
            <a:off x="502920" y="585216"/>
            <a:ext cx="11018520" cy="685800"/>
          </a:xfrm>
          <a:prstGeom prst="rect">
            <a:avLst/>
          </a:prstGeom>
          <a:noFill/>
        </p:spPr>
        <p:txBody>
          <a:bodyPr wrap="square" lIns="0" tIns="0" rIns="0" bIns="0" anchor="t">
            <a:spAutoFit/>
          </a:bodyPr>
          <a:lstStyle/>
          <a:p>
            <a:pPr>
              <a:spcAft>
                <a:spcPts val="300"/>
              </a:spcAft>
              <a:defRPr sz="2800" b="1">
                <a:solidFill>
                  <a:srgbClr val="19283D"/>
                </a:solidFill>
                <a:latin typeface="Aptos"/>
              </a:defRPr>
            </a:pPr>
            <a:r>
              <a:t>Task showcase: three different behaviors</a:t>
            </a:r>
          </a:p>
        </p:txBody>
      </p:sp>
      <p:sp>
        <p:nvSpPr>
          <p:cNvPr id="5" name="TextBox 4"/>
          <p:cNvSpPr txBox="1"/>
          <p:nvPr/>
        </p:nvSpPr>
        <p:spPr>
          <a:xfrm>
            <a:off x="521207" y="1261872"/>
            <a:ext cx="10972800" cy="393192"/>
          </a:xfrm>
          <a:prstGeom prst="rect">
            <a:avLst/>
          </a:prstGeom>
          <a:noFill/>
        </p:spPr>
        <p:txBody>
          <a:bodyPr wrap="square" lIns="0" tIns="0" rIns="0" bIns="0" anchor="t">
            <a:spAutoFit/>
          </a:bodyPr>
          <a:lstStyle/>
          <a:p>
            <a:pPr>
              <a:spcAft>
                <a:spcPts val="300"/>
              </a:spcAft>
              <a:defRPr sz="1250" b="0">
                <a:solidFill>
                  <a:srgbClr val="58697B"/>
                </a:solidFill>
                <a:latin typeface="Aptos"/>
              </a:defRPr>
            </a:pPr>
            <a:r>
              <a:t>Use the recorded videos to show the system acting in the house.</a:t>
            </a:r>
          </a:p>
        </p:txBody>
      </p:sp>
      <p:sp>
        <p:nvSpPr>
          <p:cNvPr id="6" name="Rectangle 5"/>
          <p:cNvSpPr/>
          <p:nvPr/>
        </p:nvSpPr>
        <p:spPr>
          <a:xfrm>
            <a:off x="502920" y="6473952"/>
            <a:ext cx="11183112" cy="10972"/>
          </a:xfrm>
          <a:prstGeom prst="rect">
            <a:avLst/>
          </a:prstGeom>
          <a:solidFill>
            <a:srgbClr val="DB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6519672"/>
            <a:ext cx="7315200" cy="164592"/>
          </a:xfrm>
          <a:prstGeom prst="rect">
            <a:avLst/>
          </a:prstGeom>
          <a:noFill/>
        </p:spPr>
        <p:txBody>
          <a:bodyPr wrap="square" lIns="0" tIns="0" rIns="0" bIns="0" anchor="t">
            <a:spAutoFit/>
          </a:bodyPr>
          <a:lstStyle/>
          <a:p>
            <a:pPr>
              <a:spcAft>
                <a:spcPts val="300"/>
              </a:spcAft>
              <a:defRPr sz="850" b="0">
                <a:solidFill>
                  <a:srgbClr val="58697B"/>
                </a:solidFill>
                <a:latin typeface="Aptos"/>
              </a:defRPr>
            </a:pPr>
            <a:r>
              <a:t>ZenoBench  ·  CMU Agentic Library</a:t>
            </a:r>
          </a:p>
        </p:txBody>
      </p:sp>
      <p:sp>
        <p:nvSpPr>
          <p:cNvPr id="8" name="TextBox 7"/>
          <p:cNvSpPr txBox="1"/>
          <p:nvPr/>
        </p:nvSpPr>
        <p:spPr>
          <a:xfrm>
            <a:off x="11100816" y="6510528"/>
            <a:ext cx="566928" cy="182880"/>
          </a:xfrm>
          <a:prstGeom prst="rect">
            <a:avLst/>
          </a:prstGeom>
          <a:noFill/>
        </p:spPr>
        <p:txBody>
          <a:bodyPr wrap="square" lIns="0" tIns="0" rIns="0" bIns="0" anchor="t">
            <a:spAutoFit/>
          </a:bodyPr>
          <a:lstStyle/>
          <a:p>
            <a:pPr algn="r">
              <a:spcAft>
                <a:spcPts val="300"/>
              </a:spcAft>
              <a:defRPr sz="850" b="0">
                <a:solidFill>
                  <a:srgbClr val="58697B"/>
                </a:solidFill>
                <a:latin typeface="Aptos"/>
              </a:defRPr>
            </a:pPr>
            <a:r>
              <a:t>07 / 20</a:t>
            </a:r>
          </a:p>
        </p:txBody>
      </p:sp>
      <p:sp>
        <p:nvSpPr>
          <p:cNvPr id="9" name="Rounded Rectangle 8"/>
          <p:cNvSpPr/>
          <p:nvPr/>
        </p:nvSpPr>
        <p:spPr>
          <a:xfrm>
            <a:off x="548640" y="1819656"/>
            <a:ext cx="3474720" cy="402336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llect_fruits.jpg">
            <a:hlinkClick r:id="rId1"/>
          </p:cNvPr>
          <p:cNvPicPr>
            <a:picLocks noChangeAspect="1"/>
          </p:cNvPicPr>
          <p:nvPr/>
        </p:nvPicPr>
        <p:blipFill>
          <a:blip r:embed="rId2"/>
          <a:srcRect l="5575" r="5575"/>
          <a:stretch>
            <a:fillRect/>
          </a:stretch>
        </p:blipFill>
        <p:spPr>
          <a:xfrm>
            <a:off x="630936" y="1901952"/>
            <a:ext cx="3310128" cy="2093976"/>
          </a:xfrm>
          <a:prstGeom prst="rect">
            <a:avLst/>
          </a:prstGeom>
        </p:spPr>
      </p:pic>
      <p:sp>
        <p:nvSpPr>
          <p:cNvPr id="11" name="Rectangle 10"/>
          <p:cNvSpPr/>
          <p:nvPr/>
        </p:nvSpPr>
        <p:spPr>
          <a:xfrm>
            <a:off x="630936" y="4078224"/>
            <a:ext cx="3310128" cy="7315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379976"/>
            <a:ext cx="3063240" cy="374904"/>
          </a:xfrm>
          <a:prstGeom prst="rect">
            <a:avLst/>
          </a:prstGeom>
          <a:noFill/>
        </p:spPr>
        <p:txBody>
          <a:bodyPr wrap="square" lIns="0" tIns="0" rIns="0" bIns="0" anchor="t">
            <a:spAutoFit/>
          </a:bodyPr>
          <a:lstStyle/>
          <a:p>
            <a:pPr>
              <a:spcAft>
                <a:spcPts val="300"/>
              </a:spcAft>
              <a:defRPr sz="1900" b="1">
                <a:solidFill>
                  <a:srgbClr val="19283D"/>
                </a:solidFill>
                <a:latin typeface="Aptos"/>
              </a:defRPr>
            </a:pPr>
            <a:r>
              <a:t>Collect fruits</a:t>
            </a:r>
          </a:p>
        </p:txBody>
      </p:sp>
      <p:sp>
        <p:nvSpPr>
          <p:cNvPr id="13" name="TextBox 12"/>
          <p:cNvSpPr txBox="1"/>
          <p:nvPr/>
        </p:nvSpPr>
        <p:spPr>
          <a:xfrm>
            <a:off x="758952" y="4901184"/>
            <a:ext cx="3054096" cy="667512"/>
          </a:xfrm>
          <a:prstGeom prst="rect">
            <a:avLst/>
          </a:prstGeom>
          <a:noFill/>
        </p:spPr>
        <p:txBody>
          <a:bodyPr wrap="square" lIns="0" tIns="0" rIns="0" bIns="0" anchor="t">
            <a:spAutoFit/>
          </a:bodyPr>
          <a:lstStyle/>
          <a:p>
            <a:pPr>
              <a:spcAft>
                <a:spcPts val="300"/>
              </a:spcAft>
              <a:defRPr sz="1340" b="0">
                <a:solidFill>
                  <a:srgbClr val="58697B"/>
                </a:solidFill>
                <a:latin typeface="Aptos"/>
              </a:defRPr>
            </a:pPr>
            <a:r>
              <a:t>Cross rooms; put two fruits into one container</a:t>
            </a:r>
          </a:p>
        </p:txBody>
      </p:sp>
      <p:sp>
        <p:nvSpPr>
          <p:cNvPr id="14" name="Rounded Rectangle 13"/>
          <p:cNvSpPr/>
          <p:nvPr/>
        </p:nvSpPr>
        <p:spPr>
          <a:xfrm>
            <a:off x="4370831" y="1819656"/>
            <a:ext cx="3474720" cy="402336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tidy_toys.jpg">
            <a:hlinkClick r:id="rId3"/>
          </p:cNvPr>
          <p:cNvPicPr>
            <a:picLocks noChangeAspect="1"/>
          </p:cNvPicPr>
          <p:nvPr/>
        </p:nvPicPr>
        <p:blipFill>
          <a:blip r:embed="rId4"/>
          <a:srcRect l="5575" r="5575"/>
          <a:stretch>
            <a:fillRect/>
          </a:stretch>
        </p:blipFill>
        <p:spPr>
          <a:xfrm>
            <a:off x="4453127" y="1901952"/>
            <a:ext cx="3310128" cy="2093976"/>
          </a:xfrm>
          <a:prstGeom prst="rect">
            <a:avLst/>
          </a:prstGeom>
        </p:spPr>
      </p:pic>
      <p:sp>
        <p:nvSpPr>
          <p:cNvPr id="16" name="Rectangle 15"/>
          <p:cNvSpPr/>
          <p:nvPr/>
        </p:nvSpPr>
        <p:spPr>
          <a:xfrm>
            <a:off x="4453127" y="4078224"/>
            <a:ext cx="3310128" cy="73152"/>
          </a:xfrm>
          <a:prstGeom prst="rect">
            <a:avLst/>
          </a:prstGeom>
          <a:solidFill>
            <a:srgbClr val="2468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4379976"/>
            <a:ext cx="3063240" cy="374904"/>
          </a:xfrm>
          <a:prstGeom prst="rect">
            <a:avLst/>
          </a:prstGeom>
          <a:noFill/>
        </p:spPr>
        <p:txBody>
          <a:bodyPr wrap="square" lIns="0" tIns="0" rIns="0" bIns="0" anchor="t">
            <a:spAutoFit/>
          </a:bodyPr>
          <a:lstStyle/>
          <a:p>
            <a:pPr>
              <a:spcAft>
                <a:spcPts val="300"/>
              </a:spcAft>
              <a:defRPr sz="1900" b="1">
                <a:solidFill>
                  <a:srgbClr val="19283D"/>
                </a:solidFill>
                <a:latin typeface="Aptos"/>
              </a:defRPr>
            </a:pPr>
            <a:r>
              <a:t>Tidy toys</a:t>
            </a:r>
          </a:p>
        </p:txBody>
      </p:sp>
      <p:sp>
        <p:nvSpPr>
          <p:cNvPr id="18" name="TextBox 17"/>
          <p:cNvSpPr txBox="1"/>
          <p:nvPr/>
        </p:nvSpPr>
        <p:spPr>
          <a:xfrm>
            <a:off x="4581144" y="4901184"/>
            <a:ext cx="3054096" cy="667512"/>
          </a:xfrm>
          <a:prstGeom prst="rect">
            <a:avLst/>
          </a:prstGeom>
          <a:noFill/>
        </p:spPr>
        <p:txBody>
          <a:bodyPr wrap="square" lIns="0" tIns="0" rIns="0" bIns="0" anchor="t">
            <a:spAutoFit/>
          </a:bodyPr>
          <a:lstStyle/>
          <a:p>
            <a:pPr>
              <a:spcAft>
                <a:spcPts val="300"/>
              </a:spcAft>
              <a:defRPr sz="1340" b="0">
                <a:solidFill>
                  <a:srgbClr val="58697B"/>
                </a:solidFill>
                <a:latin typeface="Aptos"/>
              </a:defRPr>
            </a:pPr>
            <a:r>
              <a:t>Pick floor objects and store them</a:t>
            </a:r>
          </a:p>
        </p:txBody>
      </p:sp>
      <p:sp>
        <p:nvSpPr>
          <p:cNvPr id="19" name="Rounded Rectangle 18"/>
          <p:cNvSpPr/>
          <p:nvPr/>
        </p:nvSpPr>
        <p:spPr>
          <a:xfrm>
            <a:off x="8193023" y="1819656"/>
            <a:ext cx="3474720" cy="402336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helve_books.jpg">
            <a:hlinkClick r:id="rId5"/>
          </p:cNvPr>
          <p:cNvPicPr>
            <a:picLocks noChangeAspect="1"/>
          </p:cNvPicPr>
          <p:nvPr/>
        </p:nvPicPr>
        <p:blipFill>
          <a:blip r:embed="rId6"/>
          <a:srcRect l="5575" r="5575"/>
          <a:stretch>
            <a:fillRect/>
          </a:stretch>
        </p:blipFill>
        <p:spPr>
          <a:xfrm>
            <a:off x="8275319" y="1901952"/>
            <a:ext cx="3310128" cy="2093976"/>
          </a:xfrm>
          <a:prstGeom prst="rect">
            <a:avLst/>
          </a:prstGeom>
        </p:spPr>
      </p:pic>
      <p:sp>
        <p:nvSpPr>
          <p:cNvPr id="21" name="Rectangle 20"/>
          <p:cNvSpPr/>
          <p:nvPr/>
        </p:nvSpPr>
        <p:spPr>
          <a:xfrm>
            <a:off x="8275319" y="4078224"/>
            <a:ext cx="3310128" cy="73152"/>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3336" y="4379976"/>
            <a:ext cx="3063240" cy="374904"/>
          </a:xfrm>
          <a:prstGeom prst="rect">
            <a:avLst/>
          </a:prstGeom>
          <a:noFill/>
        </p:spPr>
        <p:txBody>
          <a:bodyPr wrap="square" lIns="0" tIns="0" rIns="0" bIns="0" anchor="t">
            <a:spAutoFit/>
          </a:bodyPr>
          <a:lstStyle/>
          <a:p>
            <a:pPr>
              <a:spcAft>
                <a:spcPts val="300"/>
              </a:spcAft>
              <a:defRPr sz="1900" b="1">
                <a:solidFill>
                  <a:srgbClr val="19283D"/>
                </a:solidFill>
                <a:latin typeface="Aptos"/>
              </a:defRPr>
            </a:pPr>
            <a:r>
              <a:t>Shelve books</a:t>
            </a:r>
          </a:p>
        </p:txBody>
      </p:sp>
      <p:sp>
        <p:nvSpPr>
          <p:cNvPr id="23" name="TextBox 22"/>
          <p:cNvSpPr txBox="1"/>
          <p:nvPr/>
        </p:nvSpPr>
        <p:spPr>
          <a:xfrm>
            <a:off x="8403336" y="4901184"/>
            <a:ext cx="3054096" cy="667512"/>
          </a:xfrm>
          <a:prstGeom prst="rect">
            <a:avLst/>
          </a:prstGeom>
          <a:noFill/>
        </p:spPr>
        <p:txBody>
          <a:bodyPr wrap="square" lIns="0" tIns="0" rIns="0" bIns="0" anchor="t">
            <a:spAutoFit/>
          </a:bodyPr>
          <a:lstStyle/>
          <a:p>
            <a:pPr>
              <a:spcAft>
                <a:spcPts val="300"/>
              </a:spcAft>
              <a:defRPr sz="1340" b="0">
                <a:solidFill>
                  <a:srgbClr val="58697B"/>
                </a:solidFill>
                <a:latin typeface="Aptos"/>
              </a:defRPr>
            </a:pPr>
            <a:r>
              <a:t>Handle flat books and place them on shelves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210312"/>
          </a:xfrm>
          <a:prstGeom prst="rect">
            <a:avLst/>
          </a:prstGeom>
          <a:noFill/>
        </p:spPr>
        <p:txBody>
          <a:bodyPr wrap="square" lIns="0" tIns="0" rIns="0" bIns="0" anchor="t">
            <a:spAutoFit/>
          </a:bodyPr>
          <a:lstStyle/>
          <a:p>
            <a:pPr>
              <a:spcAft>
                <a:spcPts val="300"/>
              </a:spcAft>
              <a:defRPr sz="1000" b="1">
                <a:solidFill>
                  <a:srgbClr val="008F93"/>
                </a:solidFill>
                <a:latin typeface="Aptos"/>
              </a:defRPr>
            </a:pPr>
            <a:r>
              <a:t>TASK DEMO</a:t>
            </a:r>
          </a:p>
        </p:txBody>
      </p:sp>
      <p:sp>
        <p:nvSpPr>
          <p:cNvPr id="4" name="TextBox 3"/>
          <p:cNvSpPr txBox="1"/>
          <p:nvPr/>
        </p:nvSpPr>
        <p:spPr>
          <a:xfrm>
            <a:off x="502920" y="585216"/>
            <a:ext cx="11018520" cy="685800"/>
          </a:xfrm>
          <a:prstGeom prst="rect">
            <a:avLst/>
          </a:prstGeom>
          <a:noFill/>
        </p:spPr>
        <p:txBody>
          <a:bodyPr wrap="square" lIns="0" tIns="0" rIns="0" bIns="0" anchor="t">
            <a:spAutoFit/>
          </a:bodyPr>
          <a:lstStyle/>
          <a:p>
            <a:pPr>
              <a:spcAft>
                <a:spcPts val="300"/>
              </a:spcAft>
              <a:defRPr sz="2800" b="1">
                <a:solidFill>
                  <a:srgbClr val="19283D"/>
                </a:solidFill>
                <a:latin typeface="Aptos"/>
              </a:defRPr>
            </a:pPr>
            <a:r>
              <a:t>One longer example: fridge → microwave → table</a:t>
            </a:r>
          </a:p>
        </p:txBody>
      </p:sp>
      <p:sp>
        <p:nvSpPr>
          <p:cNvPr id="5" name="TextBox 4"/>
          <p:cNvSpPr txBox="1"/>
          <p:nvPr/>
        </p:nvSpPr>
        <p:spPr>
          <a:xfrm>
            <a:off x="521207" y="1261872"/>
            <a:ext cx="10972800" cy="393192"/>
          </a:xfrm>
          <a:prstGeom prst="rect">
            <a:avLst/>
          </a:prstGeom>
          <a:noFill/>
        </p:spPr>
        <p:txBody>
          <a:bodyPr wrap="square" lIns="0" tIns="0" rIns="0" bIns="0" anchor="t">
            <a:spAutoFit/>
          </a:bodyPr>
          <a:lstStyle/>
          <a:p>
            <a:pPr>
              <a:spcAft>
                <a:spcPts val="300"/>
              </a:spcAft>
              <a:defRPr sz="1250" b="0">
                <a:solidFill>
                  <a:srgbClr val="58697B"/>
                </a:solidFill>
                <a:latin typeface="Aptos"/>
              </a:defRPr>
            </a:pPr>
            <a:r>
              <a:t>A single goal ties together object handling, appliance use and movement through the home.</a:t>
            </a:r>
          </a:p>
        </p:txBody>
      </p:sp>
      <p:sp>
        <p:nvSpPr>
          <p:cNvPr id="6" name="Rectangle 5"/>
          <p:cNvSpPr/>
          <p:nvPr/>
        </p:nvSpPr>
        <p:spPr>
          <a:xfrm>
            <a:off x="502920" y="6473952"/>
            <a:ext cx="11183112" cy="10972"/>
          </a:xfrm>
          <a:prstGeom prst="rect">
            <a:avLst/>
          </a:prstGeom>
          <a:solidFill>
            <a:srgbClr val="DB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6519672"/>
            <a:ext cx="7315200" cy="164592"/>
          </a:xfrm>
          <a:prstGeom prst="rect">
            <a:avLst/>
          </a:prstGeom>
          <a:noFill/>
        </p:spPr>
        <p:txBody>
          <a:bodyPr wrap="square" lIns="0" tIns="0" rIns="0" bIns="0" anchor="t">
            <a:spAutoFit/>
          </a:bodyPr>
          <a:lstStyle/>
          <a:p>
            <a:pPr>
              <a:spcAft>
                <a:spcPts val="300"/>
              </a:spcAft>
              <a:defRPr sz="850" b="0">
                <a:solidFill>
                  <a:srgbClr val="58697B"/>
                </a:solidFill>
                <a:latin typeface="Aptos"/>
              </a:defRPr>
            </a:pPr>
            <a:r>
              <a:t>ZenoBench  ·  CMU Agentic Library</a:t>
            </a:r>
          </a:p>
        </p:txBody>
      </p:sp>
      <p:sp>
        <p:nvSpPr>
          <p:cNvPr id="8" name="TextBox 7"/>
          <p:cNvSpPr txBox="1"/>
          <p:nvPr/>
        </p:nvSpPr>
        <p:spPr>
          <a:xfrm>
            <a:off x="11100816" y="6510528"/>
            <a:ext cx="566928" cy="182880"/>
          </a:xfrm>
          <a:prstGeom prst="rect">
            <a:avLst/>
          </a:prstGeom>
          <a:noFill/>
        </p:spPr>
        <p:txBody>
          <a:bodyPr wrap="square" lIns="0" tIns="0" rIns="0" bIns="0" anchor="t">
            <a:spAutoFit/>
          </a:bodyPr>
          <a:lstStyle/>
          <a:p>
            <a:pPr algn="r">
              <a:spcAft>
                <a:spcPts val="300"/>
              </a:spcAft>
              <a:defRPr sz="850" b="0">
                <a:solidFill>
                  <a:srgbClr val="58697B"/>
                </a:solidFill>
                <a:latin typeface="Aptos"/>
              </a:defRPr>
            </a:pPr>
            <a:r>
              <a:t>08 / 20</a:t>
            </a:r>
          </a:p>
        </p:txBody>
      </p:sp>
      <p:sp>
        <p:nvSpPr>
          <p:cNvPr id="9" name="Rounded Rectangle 8"/>
          <p:cNvSpPr/>
          <p:nvPr/>
        </p:nvSpPr>
        <p:spPr>
          <a:xfrm>
            <a:off x="539496" y="1819656"/>
            <a:ext cx="3474720" cy="320040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eat_fridge.jpg">
            <a:hlinkClick r:id="rId1"/>
          </p:cNvPr>
          <p:cNvPicPr>
            <a:picLocks noChangeAspect="1"/>
          </p:cNvPicPr>
          <p:nvPr/>
        </p:nvPicPr>
        <p:blipFill>
          <a:blip r:embed="rId2"/>
          <a:srcRect l="5960" r="5960"/>
          <a:stretch>
            <a:fillRect/>
          </a:stretch>
        </p:blipFill>
        <p:spPr>
          <a:xfrm>
            <a:off x="621792" y="1901952"/>
            <a:ext cx="3310128" cy="2112264"/>
          </a:xfrm>
          <a:prstGeom prst="rect">
            <a:avLst/>
          </a:prstGeom>
        </p:spPr>
      </p:pic>
      <p:sp>
        <p:nvSpPr>
          <p:cNvPr id="11" name="TextBox 10"/>
          <p:cNvSpPr txBox="1"/>
          <p:nvPr/>
        </p:nvSpPr>
        <p:spPr>
          <a:xfrm>
            <a:off x="731519" y="4279392"/>
            <a:ext cx="3108960" cy="365760"/>
          </a:xfrm>
          <a:prstGeom prst="rect">
            <a:avLst/>
          </a:prstGeom>
          <a:noFill/>
        </p:spPr>
        <p:txBody>
          <a:bodyPr wrap="square" lIns="0" tIns="0" rIns="0" bIns="0" anchor="t">
            <a:spAutoFit/>
          </a:bodyPr>
          <a:lstStyle/>
          <a:p>
            <a:pPr>
              <a:spcAft>
                <a:spcPts val="300"/>
              </a:spcAft>
              <a:defRPr sz="1750" b="1">
                <a:solidFill>
                  <a:srgbClr val="19283D"/>
                </a:solidFill>
                <a:latin typeface="Aptos"/>
              </a:defRPr>
            </a:pPr>
            <a:r>
              <a:t>Take from fridge</a:t>
            </a:r>
          </a:p>
        </p:txBody>
      </p:sp>
      <p:sp>
        <p:nvSpPr>
          <p:cNvPr id="12" name="TextBox 11"/>
          <p:cNvSpPr txBox="1"/>
          <p:nvPr/>
        </p:nvSpPr>
        <p:spPr>
          <a:xfrm>
            <a:off x="4069080" y="2788920"/>
            <a:ext cx="256032" cy="374904"/>
          </a:xfrm>
          <a:prstGeom prst="rect">
            <a:avLst/>
          </a:prstGeom>
          <a:noFill/>
        </p:spPr>
        <p:txBody>
          <a:bodyPr wrap="square" lIns="0" tIns="0" rIns="0" bIns="0" anchor="t">
            <a:spAutoFit/>
          </a:bodyPr>
          <a:lstStyle/>
          <a:p>
            <a:pPr>
              <a:spcAft>
                <a:spcPts val="300"/>
              </a:spcAft>
              <a:defRPr sz="2400" b="1">
                <a:solidFill>
                  <a:srgbClr val="2468BC"/>
                </a:solidFill>
                <a:latin typeface="Aptos"/>
              </a:defRPr>
            </a:pPr>
            <a:r>
              <a:t>→</a:t>
            </a:r>
          </a:p>
        </p:txBody>
      </p:sp>
      <p:sp>
        <p:nvSpPr>
          <p:cNvPr id="13" name="Rounded Rectangle 12"/>
          <p:cNvSpPr/>
          <p:nvPr/>
        </p:nvSpPr>
        <p:spPr>
          <a:xfrm>
            <a:off x="4361688" y="1819656"/>
            <a:ext cx="3474720" cy="320040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heat_microwave.jpg">
            <a:hlinkClick r:id="rId1"/>
          </p:cNvPr>
          <p:cNvPicPr>
            <a:picLocks noChangeAspect="1"/>
          </p:cNvPicPr>
          <p:nvPr/>
        </p:nvPicPr>
        <p:blipFill>
          <a:blip r:embed="rId3"/>
          <a:srcRect l="5960" r="5960"/>
          <a:stretch>
            <a:fillRect/>
          </a:stretch>
        </p:blipFill>
        <p:spPr>
          <a:xfrm>
            <a:off x="4443983" y="1901952"/>
            <a:ext cx="3310128" cy="2112264"/>
          </a:xfrm>
          <a:prstGeom prst="rect">
            <a:avLst/>
          </a:prstGeom>
        </p:spPr>
      </p:pic>
      <p:sp>
        <p:nvSpPr>
          <p:cNvPr id="15" name="TextBox 14"/>
          <p:cNvSpPr txBox="1"/>
          <p:nvPr/>
        </p:nvSpPr>
        <p:spPr>
          <a:xfrm>
            <a:off x="4553712" y="4279392"/>
            <a:ext cx="3108960" cy="365760"/>
          </a:xfrm>
          <a:prstGeom prst="rect">
            <a:avLst/>
          </a:prstGeom>
          <a:noFill/>
        </p:spPr>
        <p:txBody>
          <a:bodyPr wrap="square" lIns="0" tIns="0" rIns="0" bIns="0" anchor="t">
            <a:spAutoFit/>
          </a:bodyPr>
          <a:lstStyle/>
          <a:p>
            <a:pPr>
              <a:spcAft>
                <a:spcPts val="300"/>
              </a:spcAft>
              <a:defRPr sz="1750" b="1">
                <a:solidFill>
                  <a:srgbClr val="19283D"/>
                </a:solidFill>
                <a:latin typeface="Aptos"/>
              </a:defRPr>
            </a:pPr>
            <a:r>
              <a:t>Heat in microwave</a:t>
            </a:r>
          </a:p>
        </p:txBody>
      </p:sp>
      <p:sp>
        <p:nvSpPr>
          <p:cNvPr id="16" name="TextBox 15"/>
          <p:cNvSpPr txBox="1"/>
          <p:nvPr/>
        </p:nvSpPr>
        <p:spPr>
          <a:xfrm>
            <a:off x="7891271" y="2788920"/>
            <a:ext cx="256032" cy="374904"/>
          </a:xfrm>
          <a:prstGeom prst="rect">
            <a:avLst/>
          </a:prstGeom>
          <a:noFill/>
        </p:spPr>
        <p:txBody>
          <a:bodyPr wrap="square" lIns="0" tIns="0" rIns="0" bIns="0" anchor="t">
            <a:spAutoFit/>
          </a:bodyPr>
          <a:lstStyle/>
          <a:p>
            <a:pPr>
              <a:spcAft>
                <a:spcPts val="300"/>
              </a:spcAft>
              <a:defRPr sz="2400" b="1">
                <a:solidFill>
                  <a:srgbClr val="2468BC"/>
                </a:solidFill>
                <a:latin typeface="Aptos"/>
              </a:defRPr>
            </a:pPr>
            <a:r>
              <a:t>→</a:t>
            </a:r>
          </a:p>
        </p:txBody>
      </p:sp>
      <p:sp>
        <p:nvSpPr>
          <p:cNvPr id="17" name="Rounded Rectangle 16"/>
          <p:cNvSpPr/>
          <p:nvPr/>
        </p:nvSpPr>
        <p:spPr>
          <a:xfrm>
            <a:off x="8183879" y="1819656"/>
            <a:ext cx="3474720" cy="320040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eat_table.jpg">
            <a:hlinkClick r:id="rId1"/>
          </p:cNvPr>
          <p:cNvPicPr>
            <a:picLocks noChangeAspect="1"/>
          </p:cNvPicPr>
          <p:nvPr/>
        </p:nvPicPr>
        <p:blipFill>
          <a:blip r:embed="rId4"/>
          <a:srcRect l="5960" r="5960"/>
          <a:stretch>
            <a:fillRect/>
          </a:stretch>
        </p:blipFill>
        <p:spPr>
          <a:xfrm>
            <a:off x="8266175" y="1901952"/>
            <a:ext cx="3310128" cy="2112264"/>
          </a:xfrm>
          <a:prstGeom prst="rect">
            <a:avLst/>
          </a:prstGeom>
        </p:spPr>
      </p:pic>
      <p:sp>
        <p:nvSpPr>
          <p:cNvPr id="19" name="TextBox 18"/>
          <p:cNvSpPr txBox="1"/>
          <p:nvPr/>
        </p:nvSpPr>
        <p:spPr>
          <a:xfrm>
            <a:off x="8375904" y="4279392"/>
            <a:ext cx="3108960" cy="365760"/>
          </a:xfrm>
          <a:prstGeom prst="rect">
            <a:avLst/>
          </a:prstGeom>
          <a:noFill/>
        </p:spPr>
        <p:txBody>
          <a:bodyPr wrap="square" lIns="0" tIns="0" rIns="0" bIns="0" anchor="t">
            <a:spAutoFit/>
          </a:bodyPr>
          <a:lstStyle/>
          <a:p>
            <a:pPr>
              <a:spcAft>
                <a:spcPts val="300"/>
              </a:spcAft>
              <a:defRPr sz="1750" b="1">
                <a:solidFill>
                  <a:srgbClr val="19283D"/>
                </a:solidFill>
                <a:latin typeface="Aptos"/>
              </a:defRPr>
            </a:pPr>
            <a:r>
              <a:t>Serve at table</a:t>
            </a:r>
          </a:p>
        </p:txBody>
      </p:sp>
      <p:sp>
        <p:nvSpPr>
          <p:cNvPr id="20" name="Rounded Rectangle 19"/>
          <p:cNvSpPr/>
          <p:nvPr/>
        </p:nvSpPr>
        <p:spPr>
          <a:xfrm>
            <a:off x="603504" y="5330952"/>
            <a:ext cx="10981944" cy="530352"/>
          </a:xfrm>
          <a:prstGeom prst="roundRect">
            <a:avLst/>
          </a:prstGeom>
          <a:solidFill>
            <a:srgbClr val="E7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477256"/>
            <a:ext cx="10533888" cy="283464"/>
          </a:xfrm>
          <a:prstGeom prst="rect">
            <a:avLst/>
          </a:prstGeom>
          <a:noFill/>
        </p:spPr>
        <p:txBody>
          <a:bodyPr wrap="square" lIns="0" tIns="0" rIns="0" bIns="0" anchor="t">
            <a:spAutoFit/>
          </a:bodyPr>
          <a:lstStyle/>
          <a:p>
            <a:pPr>
              <a:spcAft>
                <a:spcPts val="300"/>
              </a:spcAft>
              <a:defRPr sz="1500" b="1">
                <a:solidFill>
                  <a:srgbClr val="269365"/>
                </a:solidFill>
                <a:latin typeface="Aptos"/>
              </a:defRPr>
            </a:pPr>
            <a:r>
              <a:t>Recorded run: all task goals met; oatmeal served warm, doors closed, no object dropped.</a:t>
            </a:r>
          </a:p>
        </p:txBody>
      </p:sp>
      <p:sp>
        <p:nvSpPr>
          <p:cNvPr id="22" name="TextBox 21"/>
          <p:cNvSpPr txBox="1"/>
          <p:nvPr/>
        </p:nvSpPr>
        <p:spPr>
          <a:xfrm>
            <a:off x="630936" y="6035040"/>
            <a:ext cx="10899648" cy="228600"/>
          </a:xfrm>
          <a:prstGeom prst="rect">
            <a:avLst/>
          </a:prstGeom>
          <a:noFill/>
        </p:spPr>
        <p:txBody>
          <a:bodyPr wrap="square" lIns="0" tIns="0" rIns="0" bIns="0" anchor="t">
            <a:spAutoFit/>
          </a:bodyPr>
          <a:lstStyle/>
          <a:p>
            <a:pPr>
              <a:spcAft>
                <a:spcPts val="300"/>
              </a:spcAft>
              <a:defRPr sz="1080" b="0">
                <a:solidFill>
                  <a:srgbClr val="58697B"/>
                </a:solidFill>
                <a:latin typeface="Aptos"/>
              </a:defRPr>
            </a:pPr>
            <a:r>
              <a:t>One representative rollout; not a multi-seed benchmark result.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210312"/>
          </a:xfrm>
          <a:prstGeom prst="rect">
            <a:avLst/>
          </a:prstGeom>
          <a:noFill/>
        </p:spPr>
        <p:txBody>
          <a:bodyPr wrap="square" lIns="0" tIns="0" rIns="0" bIns="0" anchor="t">
            <a:spAutoFit/>
          </a:bodyPr>
          <a:lstStyle/>
          <a:p>
            <a:pPr>
              <a:spcAft>
                <a:spcPts val="300"/>
              </a:spcAft>
              <a:defRPr sz="1000" b="1">
                <a:solidFill>
                  <a:srgbClr val="008F93"/>
                </a:solidFill>
                <a:latin typeface="Aptos"/>
              </a:defRPr>
            </a:pPr>
            <a:r>
              <a:t>TASK RESULTS</a:t>
            </a:r>
          </a:p>
        </p:txBody>
      </p:sp>
      <p:sp>
        <p:nvSpPr>
          <p:cNvPr id="4" name="TextBox 3"/>
          <p:cNvSpPr txBox="1"/>
          <p:nvPr/>
        </p:nvSpPr>
        <p:spPr>
          <a:xfrm>
            <a:off x="502920" y="585216"/>
            <a:ext cx="11018520" cy="685800"/>
          </a:xfrm>
          <a:prstGeom prst="rect">
            <a:avLst/>
          </a:prstGeom>
          <a:noFill/>
        </p:spPr>
        <p:txBody>
          <a:bodyPr wrap="square" lIns="0" tIns="0" rIns="0" bIns="0" anchor="t">
            <a:spAutoFit/>
          </a:bodyPr>
          <a:lstStyle/>
          <a:p>
            <a:pPr>
              <a:spcAft>
                <a:spcPts val="300"/>
              </a:spcAft>
              <a:defRPr sz="2800" b="1">
                <a:solidFill>
                  <a:srgbClr val="19283D"/>
                </a:solidFill>
                <a:latin typeface="Aptos"/>
              </a:defRPr>
            </a:pPr>
            <a:r>
              <a:t>What whole tasks run today?</a:t>
            </a:r>
          </a:p>
        </p:txBody>
      </p:sp>
      <p:sp>
        <p:nvSpPr>
          <p:cNvPr id="5" name="TextBox 4"/>
          <p:cNvSpPr txBox="1"/>
          <p:nvPr/>
        </p:nvSpPr>
        <p:spPr>
          <a:xfrm>
            <a:off x="521207" y="1261872"/>
            <a:ext cx="10972800" cy="393192"/>
          </a:xfrm>
          <a:prstGeom prst="rect">
            <a:avLst/>
          </a:prstGeom>
          <a:noFill/>
        </p:spPr>
        <p:txBody>
          <a:bodyPr wrap="square" lIns="0" tIns="0" rIns="0" bIns="0" anchor="t">
            <a:spAutoFit/>
          </a:bodyPr>
          <a:lstStyle/>
          <a:p>
            <a:pPr>
              <a:spcAft>
                <a:spcPts val="300"/>
              </a:spcAft>
              <a:defRPr sz="1250" b="0">
                <a:solidFill>
                  <a:srgbClr val="58697B"/>
                </a:solidFill>
                <a:latin typeface="Aptos"/>
              </a:defRPr>
            </a:pPr>
            <a:r>
              <a:t>Eight task definitions; results shown are representative recorded rollouts.</a:t>
            </a:r>
          </a:p>
        </p:txBody>
      </p:sp>
      <p:sp>
        <p:nvSpPr>
          <p:cNvPr id="6" name="Rectangle 5"/>
          <p:cNvSpPr/>
          <p:nvPr/>
        </p:nvSpPr>
        <p:spPr>
          <a:xfrm>
            <a:off x="502920" y="6473952"/>
            <a:ext cx="11183112" cy="10972"/>
          </a:xfrm>
          <a:prstGeom prst="rect">
            <a:avLst/>
          </a:prstGeom>
          <a:solidFill>
            <a:srgbClr val="DB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6519672"/>
            <a:ext cx="7315200" cy="164592"/>
          </a:xfrm>
          <a:prstGeom prst="rect">
            <a:avLst/>
          </a:prstGeom>
          <a:noFill/>
        </p:spPr>
        <p:txBody>
          <a:bodyPr wrap="square" lIns="0" tIns="0" rIns="0" bIns="0" anchor="t">
            <a:spAutoFit/>
          </a:bodyPr>
          <a:lstStyle/>
          <a:p>
            <a:pPr>
              <a:spcAft>
                <a:spcPts val="300"/>
              </a:spcAft>
              <a:defRPr sz="850" b="0">
                <a:solidFill>
                  <a:srgbClr val="58697B"/>
                </a:solidFill>
                <a:latin typeface="Aptos"/>
              </a:defRPr>
            </a:pPr>
            <a:r>
              <a:t>ZenoBench  ·  CMU Agentic Library</a:t>
            </a:r>
          </a:p>
        </p:txBody>
      </p:sp>
      <p:sp>
        <p:nvSpPr>
          <p:cNvPr id="8" name="TextBox 7"/>
          <p:cNvSpPr txBox="1"/>
          <p:nvPr/>
        </p:nvSpPr>
        <p:spPr>
          <a:xfrm>
            <a:off x="11100816" y="6510528"/>
            <a:ext cx="566928" cy="182880"/>
          </a:xfrm>
          <a:prstGeom prst="rect">
            <a:avLst/>
          </a:prstGeom>
          <a:noFill/>
        </p:spPr>
        <p:txBody>
          <a:bodyPr wrap="square" lIns="0" tIns="0" rIns="0" bIns="0" anchor="t">
            <a:spAutoFit/>
          </a:bodyPr>
          <a:lstStyle/>
          <a:p>
            <a:pPr algn="r">
              <a:spcAft>
                <a:spcPts val="300"/>
              </a:spcAft>
              <a:defRPr sz="850" b="0">
                <a:solidFill>
                  <a:srgbClr val="58697B"/>
                </a:solidFill>
                <a:latin typeface="Aptos"/>
              </a:defRPr>
            </a:pPr>
            <a:r>
              <a:t>09 / 20</a:t>
            </a:r>
          </a:p>
        </p:txBody>
      </p:sp>
      <p:sp>
        <p:nvSpPr>
          <p:cNvPr id="9" name="Rounded Rectangle 8"/>
          <p:cNvSpPr/>
          <p:nvPr/>
        </p:nvSpPr>
        <p:spPr>
          <a:xfrm>
            <a:off x="557784" y="1764792"/>
            <a:ext cx="5422392" cy="795528"/>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1764792"/>
            <a:ext cx="68580" cy="795528"/>
          </a:xfrm>
          <a:prstGeom prst="rect">
            <a:avLst/>
          </a:prstGeom>
          <a:solidFill>
            <a:srgbClr val="2693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892807"/>
            <a:ext cx="3182112" cy="256032"/>
          </a:xfrm>
          <a:prstGeom prst="rect">
            <a:avLst/>
          </a:prstGeom>
          <a:noFill/>
        </p:spPr>
        <p:txBody>
          <a:bodyPr wrap="square" lIns="0" tIns="0" rIns="0" bIns="0" anchor="t">
            <a:spAutoFit/>
          </a:bodyPr>
          <a:lstStyle/>
          <a:p>
            <a:pPr>
              <a:spcAft>
                <a:spcPts val="300"/>
              </a:spcAft>
              <a:defRPr sz="1360" b="1">
                <a:solidFill>
                  <a:srgbClr val="19283D"/>
                </a:solidFill>
                <a:latin typeface="Aptos"/>
              </a:defRPr>
            </a:pPr>
            <a:r>
              <a:t>collect_fruits</a:t>
            </a:r>
          </a:p>
        </p:txBody>
      </p:sp>
      <p:sp>
        <p:nvSpPr>
          <p:cNvPr id="12" name="TextBox 11"/>
          <p:cNvSpPr txBox="1"/>
          <p:nvPr/>
        </p:nvSpPr>
        <p:spPr>
          <a:xfrm>
            <a:off x="731520" y="2194560"/>
            <a:ext cx="4251960" cy="228600"/>
          </a:xfrm>
          <a:prstGeom prst="rect">
            <a:avLst/>
          </a:prstGeom>
          <a:noFill/>
        </p:spPr>
        <p:txBody>
          <a:bodyPr wrap="square" lIns="0" tIns="0" rIns="0" bIns="0" anchor="t">
            <a:spAutoFit/>
          </a:bodyPr>
          <a:lstStyle/>
          <a:p>
            <a:pPr>
              <a:spcAft>
                <a:spcPts val="300"/>
              </a:spcAft>
              <a:defRPr sz="1120" b="0">
                <a:solidFill>
                  <a:srgbClr val="58697B"/>
                </a:solidFill>
                <a:latin typeface="Aptos"/>
              </a:defRPr>
            </a:pPr>
            <a:r>
              <a:t>Two fruits into one container</a:t>
            </a:r>
          </a:p>
        </p:txBody>
      </p:sp>
      <p:sp>
        <p:nvSpPr>
          <p:cNvPr id="13" name="Rounded Rectangle 12"/>
          <p:cNvSpPr/>
          <p:nvPr/>
        </p:nvSpPr>
        <p:spPr>
          <a:xfrm>
            <a:off x="4974336" y="1929384"/>
            <a:ext cx="813816" cy="329184"/>
          </a:xfrm>
          <a:prstGeom prst="roundRect">
            <a:avLst/>
          </a:prstGeom>
          <a:solidFill>
            <a:srgbClr val="E6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8344" y="2020824"/>
            <a:ext cx="694944" cy="182880"/>
          </a:xfrm>
          <a:prstGeom prst="rect">
            <a:avLst/>
          </a:prstGeom>
          <a:noFill/>
        </p:spPr>
        <p:txBody>
          <a:bodyPr wrap="square" lIns="0" tIns="0" rIns="0" bIns="0" anchor="t">
            <a:spAutoFit/>
          </a:bodyPr>
          <a:lstStyle/>
          <a:p>
            <a:pPr algn="ctr">
              <a:spcAft>
                <a:spcPts val="300"/>
              </a:spcAft>
              <a:defRPr sz="940" b="1">
                <a:solidFill>
                  <a:srgbClr val="269365"/>
                </a:solidFill>
                <a:latin typeface="Aptos"/>
              </a:defRPr>
            </a:pPr>
            <a:r>
              <a:t>SUCCESS</a:t>
            </a:r>
          </a:p>
        </p:txBody>
      </p:sp>
      <p:sp>
        <p:nvSpPr>
          <p:cNvPr id="15" name="Rounded Rectangle 14"/>
          <p:cNvSpPr/>
          <p:nvPr/>
        </p:nvSpPr>
        <p:spPr>
          <a:xfrm>
            <a:off x="557784" y="2706624"/>
            <a:ext cx="5422392" cy="795528"/>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57784" y="2706624"/>
            <a:ext cx="68580" cy="795528"/>
          </a:xfrm>
          <a:prstGeom prst="rect">
            <a:avLst/>
          </a:prstGeom>
          <a:solidFill>
            <a:srgbClr val="2693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834640"/>
            <a:ext cx="3182112" cy="256032"/>
          </a:xfrm>
          <a:prstGeom prst="rect">
            <a:avLst/>
          </a:prstGeom>
          <a:noFill/>
        </p:spPr>
        <p:txBody>
          <a:bodyPr wrap="square" lIns="0" tIns="0" rIns="0" bIns="0" anchor="t">
            <a:spAutoFit/>
          </a:bodyPr>
          <a:lstStyle/>
          <a:p>
            <a:pPr>
              <a:spcAft>
                <a:spcPts val="300"/>
              </a:spcAft>
              <a:defRPr sz="1360" b="1">
                <a:solidFill>
                  <a:srgbClr val="19283D"/>
                </a:solidFill>
                <a:latin typeface="Aptos"/>
              </a:defRPr>
            </a:pPr>
            <a:r>
              <a:t>tidy_toys</a:t>
            </a:r>
          </a:p>
        </p:txBody>
      </p:sp>
      <p:sp>
        <p:nvSpPr>
          <p:cNvPr id="18" name="TextBox 17"/>
          <p:cNvSpPr txBox="1"/>
          <p:nvPr/>
        </p:nvSpPr>
        <p:spPr>
          <a:xfrm>
            <a:off x="731520" y="3136391"/>
            <a:ext cx="4251960" cy="228600"/>
          </a:xfrm>
          <a:prstGeom prst="rect">
            <a:avLst/>
          </a:prstGeom>
          <a:noFill/>
        </p:spPr>
        <p:txBody>
          <a:bodyPr wrap="square" lIns="0" tIns="0" rIns="0" bIns="0" anchor="t">
            <a:spAutoFit/>
          </a:bodyPr>
          <a:lstStyle/>
          <a:p>
            <a:pPr>
              <a:spcAft>
                <a:spcPts val="300"/>
              </a:spcAft>
              <a:defRPr sz="1120" b="0">
                <a:solidFill>
                  <a:srgbClr val="58697B"/>
                </a:solidFill>
                <a:latin typeface="Aptos"/>
              </a:defRPr>
            </a:pPr>
            <a:r>
              <a:t>Floor toys into toy box / basket</a:t>
            </a:r>
          </a:p>
        </p:txBody>
      </p:sp>
      <p:sp>
        <p:nvSpPr>
          <p:cNvPr id="19" name="Rounded Rectangle 18"/>
          <p:cNvSpPr/>
          <p:nvPr/>
        </p:nvSpPr>
        <p:spPr>
          <a:xfrm>
            <a:off x="4974336" y="2871216"/>
            <a:ext cx="813816" cy="329184"/>
          </a:xfrm>
          <a:prstGeom prst="roundRect">
            <a:avLst/>
          </a:prstGeom>
          <a:solidFill>
            <a:srgbClr val="E6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8344" y="2962656"/>
            <a:ext cx="694944" cy="182880"/>
          </a:xfrm>
          <a:prstGeom prst="rect">
            <a:avLst/>
          </a:prstGeom>
          <a:noFill/>
        </p:spPr>
        <p:txBody>
          <a:bodyPr wrap="square" lIns="0" tIns="0" rIns="0" bIns="0" anchor="t">
            <a:spAutoFit/>
          </a:bodyPr>
          <a:lstStyle/>
          <a:p>
            <a:pPr algn="ctr">
              <a:spcAft>
                <a:spcPts val="300"/>
              </a:spcAft>
              <a:defRPr sz="940" b="1">
                <a:solidFill>
                  <a:srgbClr val="269365"/>
                </a:solidFill>
                <a:latin typeface="Aptos"/>
              </a:defRPr>
            </a:pPr>
            <a:r>
              <a:t>SUCCESS</a:t>
            </a:r>
          </a:p>
        </p:txBody>
      </p:sp>
      <p:sp>
        <p:nvSpPr>
          <p:cNvPr id="21" name="Rounded Rectangle 20"/>
          <p:cNvSpPr/>
          <p:nvPr/>
        </p:nvSpPr>
        <p:spPr>
          <a:xfrm>
            <a:off x="557784" y="3648456"/>
            <a:ext cx="5422392" cy="795528"/>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7784" y="3648456"/>
            <a:ext cx="68580" cy="795528"/>
          </a:xfrm>
          <a:prstGeom prst="rect">
            <a:avLst/>
          </a:prstGeom>
          <a:solidFill>
            <a:srgbClr val="2693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776472"/>
            <a:ext cx="3182112" cy="256032"/>
          </a:xfrm>
          <a:prstGeom prst="rect">
            <a:avLst/>
          </a:prstGeom>
          <a:noFill/>
        </p:spPr>
        <p:txBody>
          <a:bodyPr wrap="square" lIns="0" tIns="0" rIns="0" bIns="0" anchor="t">
            <a:spAutoFit/>
          </a:bodyPr>
          <a:lstStyle/>
          <a:p>
            <a:pPr>
              <a:spcAft>
                <a:spcPts val="300"/>
              </a:spcAft>
              <a:defRPr sz="1360" b="1">
                <a:solidFill>
                  <a:srgbClr val="19283D"/>
                </a:solidFill>
                <a:latin typeface="Aptos"/>
              </a:defRPr>
            </a:pPr>
            <a:r>
              <a:t>shelve_books</a:t>
            </a:r>
          </a:p>
        </p:txBody>
      </p:sp>
      <p:sp>
        <p:nvSpPr>
          <p:cNvPr id="24" name="TextBox 23"/>
          <p:cNvSpPr txBox="1"/>
          <p:nvPr/>
        </p:nvSpPr>
        <p:spPr>
          <a:xfrm>
            <a:off x="731520" y="4078224"/>
            <a:ext cx="4251960" cy="228600"/>
          </a:xfrm>
          <a:prstGeom prst="rect">
            <a:avLst/>
          </a:prstGeom>
          <a:noFill/>
        </p:spPr>
        <p:txBody>
          <a:bodyPr wrap="square" lIns="0" tIns="0" rIns="0" bIns="0" anchor="t">
            <a:spAutoFit/>
          </a:bodyPr>
          <a:lstStyle/>
          <a:p>
            <a:pPr>
              <a:spcAft>
                <a:spcPts val="300"/>
              </a:spcAft>
              <a:defRPr sz="1120" b="0">
                <a:solidFill>
                  <a:srgbClr val="58697B"/>
                </a:solidFill>
                <a:latin typeface="Aptos"/>
              </a:defRPr>
            </a:pPr>
            <a:r>
              <a:t>Flat books onto a bookcase</a:t>
            </a:r>
          </a:p>
        </p:txBody>
      </p:sp>
      <p:sp>
        <p:nvSpPr>
          <p:cNvPr id="25" name="Rounded Rectangle 24"/>
          <p:cNvSpPr/>
          <p:nvPr/>
        </p:nvSpPr>
        <p:spPr>
          <a:xfrm>
            <a:off x="4974336" y="3813048"/>
            <a:ext cx="813816" cy="329184"/>
          </a:xfrm>
          <a:prstGeom prst="roundRect">
            <a:avLst/>
          </a:prstGeom>
          <a:solidFill>
            <a:srgbClr val="E6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8344" y="3904488"/>
            <a:ext cx="694944" cy="182880"/>
          </a:xfrm>
          <a:prstGeom prst="rect">
            <a:avLst/>
          </a:prstGeom>
          <a:noFill/>
        </p:spPr>
        <p:txBody>
          <a:bodyPr wrap="square" lIns="0" tIns="0" rIns="0" bIns="0" anchor="t">
            <a:spAutoFit/>
          </a:bodyPr>
          <a:lstStyle/>
          <a:p>
            <a:pPr algn="ctr">
              <a:spcAft>
                <a:spcPts val="300"/>
              </a:spcAft>
              <a:defRPr sz="940" b="1">
                <a:solidFill>
                  <a:srgbClr val="269365"/>
                </a:solidFill>
                <a:latin typeface="Aptos"/>
              </a:defRPr>
            </a:pPr>
            <a:r>
              <a:t>SUCCESS</a:t>
            </a:r>
          </a:p>
        </p:txBody>
      </p:sp>
      <p:sp>
        <p:nvSpPr>
          <p:cNvPr id="27" name="Rounded Rectangle 26"/>
          <p:cNvSpPr/>
          <p:nvPr/>
        </p:nvSpPr>
        <p:spPr>
          <a:xfrm>
            <a:off x="557784" y="4590288"/>
            <a:ext cx="5422392" cy="795528"/>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7784" y="4590288"/>
            <a:ext cx="68580" cy="795528"/>
          </a:xfrm>
          <a:prstGeom prst="rect">
            <a:avLst/>
          </a:prstGeom>
          <a:solidFill>
            <a:srgbClr val="2693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718303"/>
            <a:ext cx="3182112" cy="256032"/>
          </a:xfrm>
          <a:prstGeom prst="rect">
            <a:avLst/>
          </a:prstGeom>
          <a:noFill/>
        </p:spPr>
        <p:txBody>
          <a:bodyPr wrap="square" lIns="0" tIns="0" rIns="0" bIns="0" anchor="t">
            <a:spAutoFit/>
          </a:bodyPr>
          <a:lstStyle/>
          <a:p>
            <a:pPr>
              <a:spcAft>
                <a:spcPts val="300"/>
              </a:spcAft>
              <a:defRPr sz="1360" b="1">
                <a:solidFill>
                  <a:srgbClr val="19283D"/>
                </a:solidFill>
                <a:latin typeface="Aptos"/>
              </a:defRPr>
            </a:pPr>
            <a:r>
              <a:t>desk_prep</a:t>
            </a:r>
          </a:p>
        </p:txBody>
      </p:sp>
      <p:sp>
        <p:nvSpPr>
          <p:cNvPr id="30" name="TextBox 29"/>
          <p:cNvSpPr txBox="1"/>
          <p:nvPr/>
        </p:nvSpPr>
        <p:spPr>
          <a:xfrm>
            <a:off x="731520" y="5020055"/>
            <a:ext cx="4251960" cy="228600"/>
          </a:xfrm>
          <a:prstGeom prst="rect">
            <a:avLst/>
          </a:prstGeom>
          <a:noFill/>
        </p:spPr>
        <p:txBody>
          <a:bodyPr wrap="square" lIns="0" tIns="0" rIns="0" bIns="0" anchor="t">
            <a:spAutoFit/>
          </a:bodyPr>
          <a:lstStyle/>
          <a:p>
            <a:pPr>
              <a:spcAft>
                <a:spcPts val="300"/>
              </a:spcAft>
              <a:defRPr sz="1120" b="0">
                <a:solidFill>
                  <a:srgbClr val="58697B"/>
                </a:solidFill>
                <a:latin typeface="Aptos"/>
              </a:defRPr>
            </a:pPr>
            <a:r>
              <a:t>Notebook, pen and mug on desk</a:t>
            </a:r>
          </a:p>
        </p:txBody>
      </p:sp>
      <p:sp>
        <p:nvSpPr>
          <p:cNvPr id="31" name="Rounded Rectangle 30"/>
          <p:cNvSpPr/>
          <p:nvPr/>
        </p:nvSpPr>
        <p:spPr>
          <a:xfrm>
            <a:off x="4974336" y="4754879"/>
            <a:ext cx="813816" cy="329184"/>
          </a:xfrm>
          <a:prstGeom prst="roundRect">
            <a:avLst/>
          </a:prstGeom>
          <a:solidFill>
            <a:srgbClr val="E6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8344" y="4846320"/>
            <a:ext cx="694944" cy="182880"/>
          </a:xfrm>
          <a:prstGeom prst="rect">
            <a:avLst/>
          </a:prstGeom>
          <a:noFill/>
        </p:spPr>
        <p:txBody>
          <a:bodyPr wrap="square" lIns="0" tIns="0" rIns="0" bIns="0" anchor="t">
            <a:spAutoFit/>
          </a:bodyPr>
          <a:lstStyle/>
          <a:p>
            <a:pPr algn="ctr">
              <a:spcAft>
                <a:spcPts val="300"/>
              </a:spcAft>
              <a:defRPr sz="940" b="1">
                <a:solidFill>
                  <a:srgbClr val="269365"/>
                </a:solidFill>
                <a:latin typeface="Aptos"/>
              </a:defRPr>
            </a:pPr>
            <a:r>
              <a:t>SUCCESS</a:t>
            </a:r>
          </a:p>
        </p:txBody>
      </p:sp>
      <p:sp>
        <p:nvSpPr>
          <p:cNvPr id="33" name="Rounded Rectangle 32"/>
          <p:cNvSpPr/>
          <p:nvPr/>
        </p:nvSpPr>
        <p:spPr>
          <a:xfrm>
            <a:off x="6291072" y="1764792"/>
            <a:ext cx="5422392" cy="795528"/>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91072" y="1764792"/>
            <a:ext cx="68580" cy="795528"/>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4808" y="1892807"/>
            <a:ext cx="3182112" cy="256032"/>
          </a:xfrm>
          <a:prstGeom prst="rect">
            <a:avLst/>
          </a:prstGeom>
          <a:noFill/>
        </p:spPr>
        <p:txBody>
          <a:bodyPr wrap="square" lIns="0" tIns="0" rIns="0" bIns="0" anchor="t">
            <a:spAutoFit/>
          </a:bodyPr>
          <a:lstStyle/>
          <a:p>
            <a:pPr>
              <a:spcAft>
                <a:spcPts val="300"/>
              </a:spcAft>
              <a:defRPr sz="1360" b="1">
                <a:solidFill>
                  <a:srgbClr val="19283D"/>
                </a:solidFill>
                <a:latin typeface="Aptos"/>
              </a:defRPr>
            </a:pPr>
            <a:r>
              <a:t>breakfast_setup</a:t>
            </a:r>
          </a:p>
        </p:txBody>
      </p:sp>
      <p:sp>
        <p:nvSpPr>
          <p:cNvPr id="36" name="TextBox 35"/>
          <p:cNvSpPr txBox="1"/>
          <p:nvPr/>
        </p:nvSpPr>
        <p:spPr>
          <a:xfrm>
            <a:off x="6464808" y="2194560"/>
            <a:ext cx="4251960" cy="228600"/>
          </a:xfrm>
          <a:prstGeom prst="rect">
            <a:avLst/>
          </a:prstGeom>
          <a:noFill/>
        </p:spPr>
        <p:txBody>
          <a:bodyPr wrap="square" lIns="0" tIns="0" rIns="0" bIns="0" anchor="t">
            <a:spAutoFit/>
          </a:bodyPr>
          <a:lstStyle/>
          <a:p>
            <a:pPr>
              <a:spcAft>
                <a:spcPts val="300"/>
              </a:spcAft>
              <a:defRPr sz="1120" b="0">
                <a:solidFill>
                  <a:srgbClr val="58697B"/>
                </a:solidFill>
                <a:latin typeface="Aptos"/>
              </a:defRPr>
            </a:pPr>
            <a:r>
              <a:t>Dining table place setting</a:t>
            </a:r>
          </a:p>
        </p:txBody>
      </p:sp>
      <p:sp>
        <p:nvSpPr>
          <p:cNvPr id="37" name="Rounded Rectangle 36"/>
          <p:cNvSpPr/>
          <p:nvPr/>
        </p:nvSpPr>
        <p:spPr>
          <a:xfrm>
            <a:off x="10707624" y="1929384"/>
            <a:ext cx="813816" cy="329184"/>
          </a:xfrm>
          <a:prstGeom prst="roundRect">
            <a:avLst/>
          </a:prstGeom>
          <a:solidFill>
            <a:srgbClr val="FCE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771632" y="2020824"/>
            <a:ext cx="694944" cy="182880"/>
          </a:xfrm>
          <a:prstGeom prst="rect">
            <a:avLst/>
          </a:prstGeom>
          <a:noFill/>
        </p:spPr>
        <p:txBody>
          <a:bodyPr wrap="square" lIns="0" tIns="0" rIns="0" bIns="0" anchor="t">
            <a:spAutoFit/>
          </a:bodyPr>
          <a:lstStyle/>
          <a:p>
            <a:pPr algn="ctr">
              <a:spcAft>
                <a:spcPts val="300"/>
              </a:spcAft>
              <a:defRPr sz="940" b="1">
                <a:solidFill>
                  <a:srgbClr val="EFA33C"/>
                </a:solidFill>
                <a:latin typeface="Aptos"/>
              </a:defRPr>
            </a:pPr>
            <a:r>
              <a:t>67%</a:t>
            </a:r>
          </a:p>
        </p:txBody>
      </p:sp>
      <p:sp>
        <p:nvSpPr>
          <p:cNvPr id="39" name="Rounded Rectangle 38"/>
          <p:cNvSpPr/>
          <p:nvPr/>
        </p:nvSpPr>
        <p:spPr>
          <a:xfrm>
            <a:off x="6291072" y="2706624"/>
            <a:ext cx="5422392" cy="795528"/>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91072" y="2706624"/>
            <a:ext cx="68580" cy="795528"/>
          </a:xfrm>
          <a:prstGeom prst="rect">
            <a:avLst/>
          </a:prstGeom>
          <a:solidFill>
            <a:srgbClr val="2693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64808" y="2834640"/>
            <a:ext cx="3182112" cy="256032"/>
          </a:xfrm>
          <a:prstGeom prst="rect">
            <a:avLst/>
          </a:prstGeom>
          <a:noFill/>
        </p:spPr>
        <p:txBody>
          <a:bodyPr wrap="square" lIns="0" tIns="0" rIns="0" bIns="0" anchor="t">
            <a:spAutoFit/>
          </a:bodyPr>
          <a:lstStyle/>
          <a:p>
            <a:pPr>
              <a:spcAft>
                <a:spcPts val="300"/>
              </a:spcAft>
              <a:defRPr sz="1360" b="1">
                <a:solidFill>
                  <a:srgbClr val="19283D"/>
                </a:solidFill>
                <a:latin typeface="Aptos"/>
              </a:defRPr>
            </a:pPr>
            <a:r>
              <a:t>heat_breakfast_preloaded</a:t>
            </a:r>
          </a:p>
        </p:txBody>
      </p:sp>
      <p:sp>
        <p:nvSpPr>
          <p:cNvPr id="42" name="TextBox 41"/>
          <p:cNvSpPr txBox="1"/>
          <p:nvPr/>
        </p:nvSpPr>
        <p:spPr>
          <a:xfrm>
            <a:off x="6464808" y="3136391"/>
            <a:ext cx="4251960" cy="228600"/>
          </a:xfrm>
          <a:prstGeom prst="rect">
            <a:avLst/>
          </a:prstGeom>
          <a:noFill/>
        </p:spPr>
        <p:txBody>
          <a:bodyPr wrap="square" lIns="0" tIns="0" rIns="0" bIns="0" anchor="t">
            <a:spAutoFit/>
          </a:bodyPr>
          <a:lstStyle/>
          <a:p>
            <a:pPr>
              <a:spcAft>
                <a:spcPts val="300"/>
              </a:spcAft>
              <a:defRPr sz="1120" b="0">
                <a:solidFill>
                  <a:srgbClr val="58697B"/>
                </a:solidFill>
                <a:latin typeface="Aptos"/>
              </a:defRPr>
            </a:pPr>
            <a:r>
              <a:t>Microwave heating from preloaded food</a:t>
            </a:r>
          </a:p>
        </p:txBody>
      </p:sp>
      <p:sp>
        <p:nvSpPr>
          <p:cNvPr id="43" name="Rounded Rectangle 42"/>
          <p:cNvSpPr/>
          <p:nvPr/>
        </p:nvSpPr>
        <p:spPr>
          <a:xfrm>
            <a:off x="10707624" y="2871216"/>
            <a:ext cx="813816" cy="329184"/>
          </a:xfrm>
          <a:prstGeom prst="roundRect">
            <a:avLst/>
          </a:prstGeom>
          <a:solidFill>
            <a:srgbClr val="E6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771632" y="2962656"/>
            <a:ext cx="694944" cy="182880"/>
          </a:xfrm>
          <a:prstGeom prst="rect">
            <a:avLst/>
          </a:prstGeom>
          <a:noFill/>
        </p:spPr>
        <p:txBody>
          <a:bodyPr wrap="square" lIns="0" tIns="0" rIns="0" bIns="0" anchor="t">
            <a:spAutoFit/>
          </a:bodyPr>
          <a:lstStyle/>
          <a:p>
            <a:pPr algn="ctr">
              <a:spcAft>
                <a:spcPts val="300"/>
              </a:spcAft>
              <a:defRPr sz="940" b="1">
                <a:solidFill>
                  <a:srgbClr val="269365"/>
                </a:solidFill>
                <a:latin typeface="Aptos"/>
              </a:defRPr>
            </a:pPr>
            <a:r>
              <a:t>SUCCESS</a:t>
            </a:r>
          </a:p>
        </p:txBody>
      </p:sp>
      <p:sp>
        <p:nvSpPr>
          <p:cNvPr id="45" name="Rounded Rectangle 44"/>
          <p:cNvSpPr/>
          <p:nvPr/>
        </p:nvSpPr>
        <p:spPr>
          <a:xfrm>
            <a:off x="6291072" y="3648456"/>
            <a:ext cx="5422392" cy="795528"/>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91072" y="3648456"/>
            <a:ext cx="68580" cy="795528"/>
          </a:xfrm>
          <a:prstGeom prst="rect">
            <a:avLst/>
          </a:prstGeom>
          <a:solidFill>
            <a:srgbClr val="2693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64808" y="3776472"/>
            <a:ext cx="3182112" cy="256032"/>
          </a:xfrm>
          <a:prstGeom prst="rect">
            <a:avLst/>
          </a:prstGeom>
          <a:noFill/>
        </p:spPr>
        <p:txBody>
          <a:bodyPr wrap="square" lIns="0" tIns="0" rIns="0" bIns="0" anchor="t">
            <a:spAutoFit/>
          </a:bodyPr>
          <a:lstStyle/>
          <a:p>
            <a:pPr>
              <a:spcAft>
                <a:spcPts val="300"/>
              </a:spcAft>
              <a:defRPr sz="1360" b="1">
                <a:solidFill>
                  <a:srgbClr val="19283D"/>
                </a:solidFill>
                <a:latin typeface="Aptos"/>
              </a:defRPr>
            </a:pPr>
            <a:r>
              <a:t>heat_breakfast_combo</a:t>
            </a:r>
          </a:p>
        </p:txBody>
      </p:sp>
      <p:sp>
        <p:nvSpPr>
          <p:cNvPr id="48" name="TextBox 47"/>
          <p:cNvSpPr txBox="1"/>
          <p:nvPr/>
        </p:nvSpPr>
        <p:spPr>
          <a:xfrm>
            <a:off x="6464808" y="4078224"/>
            <a:ext cx="4251960" cy="228600"/>
          </a:xfrm>
          <a:prstGeom prst="rect">
            <a:avLst/>
          </a:prstGeom>
          <a:noFill/>
        </p:spPr>
        <p:txBody>
          <a:bodyPr wrap="square" lIns="0" tIns="0" rIns="0" bIns="0" anchor="t">
            <a:spAutoFit/>
          </a:bodyPr>
          <a:lstStyle/>
          <a:p>
            <a:pPr>
              <a:spcAft>
                <a:spcPts val="300"/>
              </a:spcAft>
              <a:defRPr sz="1120" b="0">
                <a:solidFill>
                  <a:srgbClr val="58697B"/>
                </a:solidFill>
                <a:latin typeface="Aptos"/>
              </a:defRPr>
            </a:pPr>
            <a:r>
              <a:t>Microwave cycle plus chilled milk</a:t>
            </a:r>
          </a:p>
        </p:txBody>
      </p:sp>
      <p:sp>
        <p:nvSpPr>
          <p:cNvPr id="49" name="Rounded Rectangle 48"/>
          <p:cNvSpPr/>
          <p:nvPr/>
        </p:nvSpPr>
        <p:spPr>
          <a:xfrm>
            <a:off x="10707624" y="3813048"/>
            <a:ext cx="813816" cy="329184"/>
          </a:xfrm>
          <a:prstGeom prst="roundRect">
            <a:avLst/>
          </a:prstGeom>
          <a:solidFill>
            <a:srgbClr val="E6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771632" y="3904488"/>
            <a:ext cx="694944" cy="182880"/>
          </a:xfrm>
          <a:prstGeom prst="rect">
            <a:avLst/>
          </a:prstGeom>
          <a:noFill/>
        </p:spPr>
        <p:txBody>
          <a:bodyPr wrap="square" lIns="0" tIns="0" rIns="0" bIns="0" anchor="t">
            <a:spAutoFit/>
          </a:bodyPr>
          <a:lstStyle/>
          <a:p>
            <a:pPr algn="ctr">
              <a:spcAft>
                <a:spcPts val="300"/>
              </a:spcAft>
              <a:defRPr sz="940" b="1">
                <a:solidFill>
                  <a:srgbClr val="269365"/>
                </a:solidFill>
                <a:latin typeface="Aptos"/>
              </a:defRPr>
            </a:pPr>
            <a:r>
              <a:t>SUCCESS</a:t>
            </a:r>
          </a:p>
        </p:txBody>
      </p:sp>
      <p:sp>
        <p:nvSpPr>
          <p:cNvPr id="51" name="Rounded Rectangle 50"/>
          <p:cNvSpPr/>
          <p:nvPr/>
        </p:nvSpPr>
        <p:spPr>
          <a:xfrm>
            <a:off x="6291072" y="4590288"/>
            <a:ext cx="5422392" cy="795528"/>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291072" y="4590288"/>
            <a:ext cx="68580" cy="795528"/>
          </a:xfrm>
          <a:prstGeom prst="rect">
            <a:avLst/>
          </a:prstGeom>
          <a:solidFill>
            <a:srgbClr val="2693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64808" y="4718303"/>
            <a:ext cx="3182112" cy="256032"/>
          </a:xfrm>
          <a:prstGeom prst="rect">
            <a:avLst/>
          </a:prstGeom>
          <a:noFill/>
        </p:spPr>
        <p:txBody>
          <a:bodyPr wrap="square" lIns="0" tIns="0" rIns="0" bIns="0" anchor="t">
            <a:spAutoFit/>
          </a:bodyPr>
          <a:lstStyle/>
          <a:p>
            <a:pPr>
              <a:spcAft>
                <a:spcPts val="300"/>
              </a:spcAft>
              <a:defRPr sz="1360" b="1">
                <a:solidFill>
                  <a:srgbClr val="19283D"/>
                </a:solidFill>
                <a:latin typeface="Aptos"/>
              </a:defRPr>
            </a:pPr>
            <a:r>
              <a:t>heat_breakfast</a:t>
            </a:r>
          </a:p>
        </p:txBody>
      </p:sp>
      <p:sp>
        <p:nvSpPr>
          <p:cNvPr id="54" name="TextBox 53"/>
          <p:cNvSpPr txBox="1"/>
          <p:nvPr/>
        </p:nvSpPr>
        <p:spPr>
          <a:xfrm>
            <a:off x="6464808" y="5020055"/>
            <a:ext cx="4251960" cy="228600"/>
          </a:xfrm>
          <a:prstGeom prst="rect">
            <a:avLst/>
          </a:prstGeom>
          <a:noFill/>
        </p:spPr>
        <p:txBody>
          <a:bodyPr wrap="square" lIns="0" tIns="0" rIns="0" bIns="0" anchor="t">
            <a:spAutoFit/>
          </a:bodyPr>
          <a:lstStyle/>
          <a:p>
            <a:pPr>
              <a:spcAft>
                <a:spcPts val="300"/>
              </a:spcAft>
              <a:defRPr sz="1120" b="0">
                <a:solidFill>
                  <a:srgbClr val="58697B"/>
                </a:solidFill>
                <a:latin typeface="Aptos"/>
              </a:defRPr>
            </a:pPr>
            <a:r>
              <a:t>Fridge → microwave → dining table</a:t>
            </a:r>
          </a:p>
        </p:txBody>
      </p:sp>
      <p:sp>
        <p:nvSpPr>
          <p:cNvPr id="55" name="Rounded Rectangle 54"/>
          <p:cNvSpPr/>
          <p:nvPr/>
        </p:nvSpPr>
        <p:spPr>
          <a:xfrm>
            <a:off x="10707624" y="4754879"/>
            <a:ext cx="813816" cy="329184"/>
          </a:xfrm>
          <a:prstGeom prst="roundRect">
            <a:avLst/>
          </a:prstGeom>
          <a:solidFill>
            <a:srgbClr val="E6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771632" y="4846320"/>
            <a:ext cx="694944" cy="182880"/>
          </a:xfrm>
          <a:prstGeom prst="rect">
            <a:avLst/>
          </a:prstGeom>
          <a:noFill/>
        </p:spPr>
        <p:txBody>
          <a:bodyPr wrap="square" lIns="0" tIns="0" rIns="0" bIns="0" anchor="t">
            <a:spAutoFit/>
          </a:bodyPr>
          <a:lstStyle/>
          <a:p>
            <a:pPr algn="ctr">
              <a:spcAft>
                <a:spcPts val="300"/>
              </a:spcAft>
              <a:defRPr sz="940" b="1">
                <a:solidFill>
                  <a:srgbClr val="269365"/>
                </a:solidFill>
                <a:latin typeface="Aptos"/>
              </a:defRPr>
            </a:pPr>
            <a:r>
              <a:t>SUCCESS</a:t>
            </a:r>
          </a:p>
        </p:txBody>
      </p:sp>
      <p:sp>
        <p:nvSpPr>
          <p:cNvPr id="57" name="Rounded Rectangle 56"/>
          <p:cNvSpPr/>
          <p:nvPr/>
        </p:nvSpPr>
        <p:spPr>
          <a:xfrm>
            <a:off x="603504" y="5696712"/>
            <a:ext cx="10972800" cy="466344"/>
          </a:xfrm>
          <a:prstGeom prst="roundRect">
            <a:avLst/>
          </a:prstGeom>
          <a:solidFill>
            <a:srgbClr val="EC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2960" y="5833872"/>
            <a:ext cx="10506456" cy="246888"/>
          </a:xfrm>
          <a:prstGeom prst="rect">
            <a:avLst/>
          </a:prstGeom>
          <a:noFill/>
        </p:spPr>
        <p:txBody>
          <a:bodyPr wrap="square" lIns="0" tIns="0" rIns="0" bIns="0" anchor="t">
            <a:spAutoFit/>
          </a:bodyPr>
          <a:lstStyle/>
          <a:p>
            <a:pPr>
              <a:spcAft>
                <a:spcPts val="300"/>
              </a:spcAft>
              <a:defRPr sz="1450" b="1">
                <a:solidFill>
                  <a:srgbClr val="101F34"/>
                </a:solidFill>
                <a:latin typeface="Aptos"/>
              </a:defRPr>
            </a:pPr>
            <a:r>
              <a:t>7 successful representative runs; breakfast_setup remains partial after a mug drop.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210312"/>
          </a:xfrm>
          <a:prstGeom prst="rect">
            <a:avLst/>
          </a:prstGeom>
          <a:noFill/>
        </p:spPr>
        <p:txBody>
          <a:bodyPr wrap="square" lIns="0" tIns="0" rIns="0" bIns="0" anchor="t">
            <a:spAutoFit/>
          </a:bodyPr>
          <a:lstStyle/>
          <a:p>
            <a:pPr>
              <a:spcAft>
                <a:spcPts val="300"/>
              </a:spcAft>
              <a:defRPr sz="1000" b="1">
                <a:solidFill>
                  <a:srgbClr val="008F93"/>
                </a:solidFill>
                <a:latin typeface="Aptos"/>
              </a:defRPr>
            </a:pPr>
            <a:r>
              <a:t>RESEARCH VALUE</a:t>
            </a:r>
          </a:p>
        </p:txBody>
      </p:sp>
      <p:sp>
        <p:nvSpPr>
          <p:cNvPr id="4" name="TextBox 3"/>
          <p:cNvSpPr txBox="1"/>
          <p:nvPr/>
        </p:nvSpPr>
        <p:spPr>
          <a:xfrm>
            <a:off x="502920" y="585216"/>
            <a:ext cx="11018520" cy="685800"/>
          </a:xfrm>
          <a:prstGeom prst="rect">
            <a:avLst/>
          </a:prstGeom>
          <a:noFill/>
        </p:spPr>
        <p:txBody>
          <a:bodyPr wrap="square" lIns="0" tIns="0" rIns="0" bIns="0" anchor="t">
            <a:spAutoFit/>
          </a:bodyPr>
          <a:lstStyle/>
          <a:p>
            <a:pPr>
              <a:spcAft>
                <a:spcPts val="300"/>
              </a:spcAft>
              <a:defRPr sz="2800" b="1">
                <a:solidFill>
                  <a:srgbClr val="19283D"/>
                </a:solidFill>
                <a:latin typeface="Aptos"/>
              </a:defRPr>
            </a:pPr>
            <a:r>
              <a:t>Why this matters for our setting</a:t>
            </a:r>
          </a:p>
        </p:txBody>
      </p:sp>
      <p:sp>
        <p:nvSpPr>
          <p:cNvPr id="5" name="TextBox 4"/>
          <p:cNvSpPr txBox="1"/>
          <p:nvPr/>
        </p:nvSpPr>
        <p:spPr>
          <a:xfrm>
            <a:off x="521207" y="1261872"/>
            <a:ext cx="10972800" cy="393192"/>
          </a:xfrm>
          <a:prstGeom prst="rect">
            <a:avLst/>
          </a:prstGeom>
          <a:noFill/>
        </p:spPr>
        <p:txBody>
          <a:bodyPr wrap="square" lIns="0" tIns="0" rIns="0" bIns="0" anchor="t">
            <a:spAutoFit/>
          </a:bodyPr>
          <a:lstStyle/>
          <a:p>
            <a:pPr>
              <a:spcAft>
                <a:spcPts val="300"/>
              </a:spcAft>
              <a:defRPr sz="1250" b="0">
                <a:solidFill>
                  <a:srgbClr val="58697B"/>
                </a:solidFill>
                <a:latin typeface="Aptos"/>
              </a:defRPr>
            </a:pPr>
            <a:r>
              <a:t>These tasks give an upper-level planner a meaningful environment to reason, act and recover in.</a:t>
            </a:r>
          </a:p>
        </p:txBody>
      </p:sp>
      <p:sp>
        <p:nvSpPr>
          <p:cNvPr id="6" name="Rectangle 5"/>
          <p:cNvSpPr/>
          <p:nvPr/>
        </p:nvSpPr>
        <p:spPr>
          <a:xfrm>
            <a:off x="502920" y="6473952"/>
            <a:ext cx="11183112" cy="10972"/>
          </a:xfrm>
          <a:prstGeom prst="rect">
            <a:avLst/>
          </a:prstGeom>
          <a:solidFill>
            <a:srgbClr val="DB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6519672"/>
            <a:ext cx="7315200" cy="164592"/>
          </a:xfrm>
          <a:prstGeom prst="rect">
            <a:avLst/>
          </a:prstGeom>
          <a:noFill/>
        </p:spPr>
        <p:txBody>
          <a:bodyPr wrap="square" lIns="0" tIns="0" rIns="0" bIns="0" anchor="t">
            <a:spAutoFit/>
          </a:bodyPr>
          <a:lstStyle/>
          <a:p>
            <a:pPr>
              <a:spcAft>
                <a:spcPts val="300"/>
              </a:spcAft>
              <a:defRPr sz="850" b="0">
                <a:solidFill>
                  <a:srgbClr val="58697B"/>
                </a:solidFill>
                <a:latin typeface="Aptos"/>
              </a:defRPr>
            </a:pPr>
            <a:r>
              <a:t>ZenoBench  ·  CMU Agentic Library</a:t>
            </a:r>
          </a:p>
        </p:txBody>
      </p:sp>
      <p:sp>
        <p:nvSpPr>
          <p:cNvPr id="8" name="TextBox 7"/>
          <p:cNvSpPr txBox="1"/>
          <p:nvPr/>
        </p:nvSpPr>
        <p:spPr>
          <a:xfrm>
            <a:off x="11100816" y="6510528"/>
            <a:ext cx="566928" cy="182880"/>
          </a:xfrm>
          <a:prstGeom prst="rect">
            <a:avLst/>
          </a:prstGeom>
          <a:noFill/>
        </p:spPr>
        <p:txBody>
          <a:bodyPr wrap="square" lIns="0" tIns="0" rIns="0" bIns="0" anchor="t">
            <a:spAutoFit/>
          </a:bodyPr>
          <a:lstStyle/>
          <a:p>
            <a:pPr algn="r">
              <a:spcAft>
                <a:spcPts val="300"/>
              </a:spcAft>
              <a:defRPr sz="850" b="0">
                <a:solidFill>
                  <a:srgbClr val="58697B"/>
                </a:solidFill>
                <a:latin typeface="Aptos"/>
              </a:defRPr>
            </a:pPr>
            <a:r>
              <a:t>10 / 20</a:t>
            </a:r>
          </a:p>
        </p:txBody>
      </p:sp>
      <p:sp>
        <p:nvSpPr>
          <p:cNvPr id="9" name="Rounded Rectangle 8"/>
          <p:cNvSpPr/>
          <p:nvPr/>
        </p:nvSpPr>
        <p:spPr>
          <a:xfrm>
            <a:off x="557784" y="1947672"/>
            <a:ext cx="3465576" cy="306324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1947672"/>
            <a:ext cx="3465576" cy="11887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267712"/>
            <a:ext cx="521207" cy="365760"/>
          </a:xfrm>
          <a:prstGeom prst="rect">
            <a:avLst/>
          </a:prstGeom>
          <a:noFill/>
        </p:spPr>
        <p:txBody>
          <a:bodyPr wrap="square" lIns="0" tIns="0" rIns="0" bIns="0" anchor="t">
            <a:spAutoFit/>
          </a:bodyPr>
          <a:lstStyle/>
          <a:p>
            <a:pPr>
              <a:spcAft>
                <a:spcPts val="300"/>
              </a:spcAft>
              <a:defRPr sz="1900" b="1">
                <a:solidFill>
                  <a:srgbClr val="008F93"/>
                </a:solidFill>
                <a:latin typeface="Aptos"/>
              </a:defRPr>
            </a:pPr>
            <a:r>
              <a:t>01</a:t>
            </a:r>
          </a:p>
        </p:txBody>
      </p:sp>
      <p:sp>
        <p:nvSpPr>
          <p:cNvPr id="12" name="TextBox 11"/>
          <p:cNvSpPr txBox="1"/>
          <p:nvPr/>
        </p:nvSpPr>
        <p:spPr>
          <a:xfrm>
            <a:off x="758952" y="2852928"/>
            <a:ext cx="3017520" cy="448056"/>
          </a:xfrm>
          <a:prstGeom prst="rect">
            <a:avLst/>
          </a:prstGeom>
          <a:noFill/>
        </p:spPr>
        <p:txBody>
          <a:bodyPr wrap="square" lIns="0" tIns="0" rIns="0" bIns="0" anchor="t">
            <a:spAutoFit/>
          </a:bodyPr>
          <a:lstStyle/>
          <a:p>
            <a:pPr>
              <a:spcAft>
                <a:spcPts val="300"/>
              </a:spcAft>
              <a:defRPr sz="2200" b="1">
                <a:solidFill>
                  <a:srgbClr val="19283D"/>
                </a:solidFill>
                <a:latin typeface="Aptos"/>
              </a:defRPr>
            </a:pPr>
            <a:r>
              <a:t>Plan</a:t>
            </a:r>
          </a:p>
        </p:txBody>
      </p:sp>
      <p:sp>
        <p:nvSpPr>
          <p:cNvPr id="13" name="TextBox 12"/>
          <p:cNvSpPr txBox="1"/>
          <p:nvPr/>
        </p:nvSpPr>
        <p:spPr>
          <a:xfrm>
            <a:off x="758952" y="3474720"/>
            <a:ext cx="3026664" cy="1078992"/>
          </a:xfrm>
          <a:prstGeom prst="rect">
            <a:avLst/>
          </a:prstGeom>
          <a:noFill/>
        </p:spPr>
        <p:txBody>
          <a:bodyPr wrap="square" lIns="0" tIns="0" rIns="0" bIns="0" anchor="t">
            <a:spAutoFit/>
          </a:bodyPr>
          <a:lstStyle/>
          <a:p>
            <a:pPr>
              <a:spcAft>
                <a:spcPts val="300"/>
              </a:spcAft>
              <a:defRPr sz="1500" b="0">
                <a:solidFill>
                  <a:srgbClr val="58697B"/>
                </a:solidFill>
                <a:latin typeface="Aptos"/>
              </a:defRPr>
            </a:pPr>
            <a:r>
              <a:t>Choose a sequence of skills for a household goal</a:t>
            </a:r>
          </a:p>
        </p:txBody>
      </p:sp>
      <p:sp>
        <p:nvSpPr>
          <p:cNvPr id="14" name="Rounded Rectangle 13"/>
          <p:cNvSpPr/>
          <p:nvPr/>
        </p:nvSpPr>
        <p:spPr>
          <a:xfrm>
            <a:off x="4379976" y="1947672"/>
            <a:ext cx="3465576" cy="306324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79976" y="1947672"/>
            <a:ext cx="3465576" cy="118872"/>
          </a:xfrm>
          <a:prstGeom prst="rect">
            <a:avLst/>
          </a:prstGeom>
          <a:solidFill>
            <a:srgbClr val="2468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81144" y="2267712"/>
            <a:ext cx="521207" cy="365760"/>
          </a:xfrm>
          <a:prstGeom prst="rect">
            <a:avLst/>
          </a:prstGeom>
          <a:noFill/>
        </p:spPr>
        <p:txBody>
          <a:bodyPr wrap="square" lIns="0" tIns="0" rIns="0" bIns="0" anchor="t">
            <a:spAutoFit/>
          </a:bodyPr>
          <a:lstStyle/>
          <a:p>
            <a:pPr>
              <a:spcAft>
                <a:spcPts val="300"/>
              </a:spcAft>
              <a:defRPr sz="1900" b="1">
                <a:solidFill>
                  <a:srgbClr val="2468BC"/>
                </a:solidFill>
                <a:latin typeface="Aptos"/>
              </a:defRPr>
            </a:pPr>
            <a:r>
              <a:t>02</a:t>
            </a:r>
          </a:p>
        </p:txBody>
      </p:sp>
      <p:sp>
        <p:nvSpPr>
          <p:cNvPr id="17" name="TextBox 16"/>
          <p:cNvSpPr txBox="1"/>
          <p:nvPr/>
        </p:nvSpPr>
        <p:spPr>
          <a:xfrm>
            <a:off x="4581144" y="2852928"/>
            <a:ext cx="3017520" cy="448056"/>
          </a:xfrm>
          <a:prstGeom prst="rect">
            <a:avLst/>
          </a:prstGeom>
          <a:noFill/>
        </p:spPr>
        <p:txBody>
          <a:bodyPr wrap="square" lIns="0" tIns="0" rIns="0" bIns="0" anchor="t">
            <a:spAutoFit/>
          </a:bodyPr>
          <a:lstStyle/>
          <a:p>
            <a:pPr>
              <a:spcAft>
                <a:spcPts val="300"/>
              </a:spcAft>
              <a:defRPr sz="2200" b="1">
                <a:solidFill>
                  <a:srgbClr val="19283D"/>
                </a:solidFill>
                <a:latin typeface="Aptos"/>
              </a:defRPr>
            </a:pPr>
            <a:r>
              <a:t>Ground</a:t>
            </a:r>
          </a:p>
        </p:txBody>
      </p:sp>
      <p:sp>
        <p:nvSpPr>
          <p:cNvPr id="18" name="TextBox 17"/>
          <p:cNvSpPr txBox="1"/>
          <p:nvPr/>
        </p:nvSpPr>
        <p:spPr>
          <a:xfrm>
            <a:off x="4581144" y="3474720"/>
            <a:ext cx="3026664" cy="1078992"/>
          </a:xfrm>
          <a:prstGeom prst="rect">
            <a:avLst/>
          </a:prstGeom>
          <a:noFill/>
        </p:spPr>
        <p:txBody>
          <a:bodyPr wrap="square" lIns="0" tIns="0" rIns="0" bIns="0" anchor="t">
            <a:spAutoFit/>
          </a:bodyPr>
          <a:lstStyle/>
          <a:p>
            <a:pPr>
              <a:spcAft>
                <a:spcPts val="300"/>
              </a:spcAft>
              <a:defRPr sz="1500" b="0">
                <a:solidFill>
                  <a:srgbClr val="58697B"/>
                </a:solidFill>
                <a:latin typeface="Aptos"/>
              </a:defRPr>
            </a:pPr>
            <a:r>
              <a:t>Bind each skill to objects, rooms and executable actions</a:t>
            </a:r>
          </a:p>
        </p:txBody>
      </p:sp>
      <p:sp>
        <p:nvSpPr>
          <p:cNvPr id="19" name="Rounded Rectangle 18"/>
          <p:cNvSpPr/>
          <p:nvPr/>
        </p:nvSpPr>
        <p:spPr>
          <a:xfrm>
            <a:off x="8202167" y="1947672"/>
            <a:ext cx="3465576" cy="306324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02167" y="1947672"/>
            <a:ext cx="3465576" cy="118872"/>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3336" y="2267712"/>
            <a:ext cx="521207" cy="365760"/>
          </a:xfrm>
          <a:prstGeom prst="rect">
            <a:avLst/>
          </a:prstGeom>
          <a:noFill/>
        </p:spPr>
        <p:txBody>
          <a:bodyPr wrap="square" lIns="0" tIns="0" rIns="0" bIns="0" anchor="t">
            <a:spAutoFit/>
          </a:bodyPr>
          <a:lstStyle/>
          <a:p>
            <a:pPr>
              <a:spcAft>
                <a:spcPts val="300"/>
              </a:spcAft>
              <a:defRPr sz="1900" b="1">
                <a:solidFill>
                  <a:srgbClr val="EFA33C"/>
                </a:solidFill>
                <a:latin typeface="Aptos"/>
              </a:defRPr>
            </a:pPr>
            <a:r>
              <a:t>03</a:t>
            </a:r>
          </a:p>
        </p:txBody>
      </p:sp>
      <p:sp>
        <p:nvSpPr>
          <p:cNvPr id="22" name="TextBox 21"/>
          <p:cNvSpPr txBox="1"/>
          <p:nvPr/>
        </p:nvSpPr>
        <p:spPr>
          <a:xfrm>
            <a:off x="8403336" y="2852928"/>
            <a:ext cx="3017520" cy="448056"/>
          </a:xfrm>
          <a:prstGeom prst="rect">
            <a:avLst/>
          </a:prstGeom>
          <a:noFill/>
        </p:spPr>
        <p:txBody>
          <a:bodyPr wrap="square" lIns="0" tIns="0" rIns="0" bIns="0" anchor="t">
            <a:spAutoFit/>
          </a:bodyPr>
          <a:lstStyle/>
          <a:p>
            <a:pPr>
              <a:spcAft>
                <a:spcPts val="300"/>
              </a:spcAft>
              <a:defRPr sz="2200" b="1">
                <a:solidFill>
                  <a:srgbClr val="19283D"/>
                </a:solidFill>
                <a:latin typeface="Aptos"/>
              </a:defRPr>
            </a:pPr>
            <a:r>
              <a:t>Verify &amp; replan</a:t>
            </a:r>
          </a:p>
        </p:txBody>
      </p:sp>
      <p:sp>
        <p:nvSpPr>
          <p:cNvPr id="23" name="TextBox 22"/>
          <p:cNvSpPr txBox="1"/>
          <p:nvPr/>
        </p:nvSpPr>
        <p:spPr>
          <a:xfrm>
            <a:off x="8403336" y="3474720"/>
            <a:ext cx="3026664" cy="1078992"/>
          </a:xfrm>
          <a:prstGeom prst="rect">
            <a:avLst/>
          </a:prstGeom>
          <a:noFill/>
        </p:spPr>
        <p:txBody>
          <a:bodyPr wrap="square" lIns="0" tIns="0" rIns="0" bIns="0" anchor="t">
            <a:spAutoFit/>
          </a:bodyPr>
          <a:lstStyle/>
          <a:p>
            <a:pPr>
              <a:spcAft>
                <a:spcPts val="300"/>
              </a:spcAft>
              <a:defRPr sz="1500" b="0">
                <a:solidFill>
                  <a:srgbClr val="58697B"/>
                </a:solidFill>
                <a:latin typeface="Aptos"/>
              </a:defRPr>
            </a:pPr>
            <a:r>
              <a:t>Observe the outcome, detect failure and revise the next step</a:t>
            </a:r>
          </a:p>
        </p:txBody>
      </p:sp>
      <p:sp>
        <p:nvSpPr>
          <p:cNvPr id="24" name="TextBox 23"/>
          <p:cNvSpPr txBox="1"/>
          <p:nvPr/>
        </p:nvSpPr>
        <p:spPr>
          <a:xfrm>
            <a:off x="621792" y="5504688"/>
            <a:ext cx="10954512" cy="484632"/>
          </a:xfrm>
          <a:prstGeom prst="rect">
            <a:avLst/>
          </a:prstGeom>
          <a:noFill/>
        </p:spPr>
        <p:txBody>
          <a:bodyPr wrap="square" lIns="0" tIns="0" rIns="0" bIns="0" anchor="t">
            <a:spAutoFit/>
          </a:bodyPr>
          <a:lstStyle/>
          <a:p>
            <a:pPr>
              <a:spcAft>
                <a:spcPts val="300"/>
              </a:spcAft>
              <a:defRPr sz="1800" b="1">
                <a:solidFill>
                  <a:srgbClr val="101F34"/>
                </a:solidFill>
                <a:latin typeface="Aptos"/>
              </a:defRPr>
            </a:pPr>
            <a:r>
              <a:t>The planning benchmark (next slides) turns this into a measured test of the upper layer.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10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210312"/>
          </a:xfrm>
          <a:prstGeom prst="rect">
            <a:avLst/>
          </a:prstGeom>
          <a:noFill/>
        </p:spPr>
        <p:txBody>
          <a:bodyPr wrap="square" lIns="0" tIns="0" rIns="0" bIns="0" anchor="t">
            <a:spAutoFit/>
          </a:bodyPr>
          <a:lstStyle/>
          <a:p>
            <a:pPr>
              <a:spcAft>
                <a:spcPts val="300"/>
              </a:spcAft>
              <a:defRPr sz="1000" b="1">
                <a:solidFill>
                  <a:srgbClr val="EFA33C"/>
                </a:solidFill>
                <a:latin typeface="Aptos"/>
              </a:defRPr>
            </a:pPr>
            <a:r>
              <a:t>PLANNING BENCHMARK</a:t>
            </a:r>
          </a:p>
        </p:txBody>
      </p:sp>
      <p:sp>
        <p:nvSpPr>
          <p:cNvPr id="4" name="TextBox 3"/>
          <p:cNvSpPr txBox="1"/>
          <p:nvPr/>
        </p:nvSpPr>
        <p:spPr>
          <a:xfrm>
            <a:off x="502920" y="585216"/>
            <a:ext cx="11018520" cy="685800"/>
          </a:xfrm>
          <a:prstGeom prst="rect">
            <a:avLst/>
          </a:prstGeom>
          <a:noFill/>
        </p:spPr>
        <p:txBody>
          <a:bodyPr wrap="square" lIns="0" tIns="0" rIns="0" bIns="0" anchor="t">
            <a:spAutoFit/>
          </a:bodyPr>
          <a:lstStyle/>
          <a:p>
            <a:pPr>
              <a:spcAft>
                <a:spcPts val="300"/>
              </a:spcAft>
              <a:defRPr sz="2800" b="1">
                <a:solidFill>
                  <a:srgbClr val="FFFFFF"/>
                </a:solidFill>
                <a:latin typeface="Aptos"/>
              </a:defRPr>
            </a:pPr>
            <a:r>
              <a:t>Planning benchmark: does the planner recover from what it sees?</a:t>
            </a:r>
          </a:p>
        </p:txBody>
      </p:sp>
      <p:sp>
        <p:nvSpPr>
          <p:cNvPr id="5" name="TextBox 4"/>
          <p:cNvSpPr txBox="1"/>
          <p:nvPr/>
        </p:nvSpPr>
        <p:spPr>
          <a:xfrm>
            <a:off x="521207" y="1261872"/>
            <a:ext cx="10972800" cy="393192"/>
          </a:xfrm>
          <a:prstGeom prst="rect">
            <a:avLst/>
          </a:prstGeom>
          <a:noFill/>
        </p:spPr>
        <p:txBody>
          <a:bodyPr wrap="square" lIns="0" tIns="0" rIns="0" bIns="0" anchor="t">
            <a:spAutoFit/>
          </a:bodyPr>
          <a:lstStyle/>
          <a:p>
            <a:pPr>
              <a:spcAft>
                <a:spcPts val="300"/>
              </a:spcAft>
              <a:defRPr sz="1250" b="0">
                <a:solidFill>
                  <a:srgbClr val="B5C8DB"/>
                </a:solidFill>
                <a:latin typeface="Aptos"/>
              </a:defRPr>
            </a:pPr>
            <a:r>
              <a:t>10 household tasks where the obvious plan fails or is unavailable. Same skills and same limits for every planner.</a:t>
            </a:r>
          </a:p>
        </p:txBody>
      </p:sp>
      <p:sp>
        <p:nvSpPr>
          <p:cNvPr id="6" name="Rectangle 5"/>
          <p:cNvSpPr/>
          <p:nvPr/>
        </p:nvSpPr>
        <p:spPr>
          <a:xfrm>
            <a:off x="502920" y="6473952"/>
            <a:ext cx="11183112" cy="10972"/>
          </a:xfrm>
          <a:prstGeom prst="rect">
            <a:avLst/>
          </a:prstGeom>
          <a:solidFill>
            <a:srgbClr val="5166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6519672"/>
            <a:ext cx="7315200" cy="164592"/>
          </a:xfrm>
          <a:prstGeom prst="rect">
            <a:avLst/>
          </a:prstGeom>
          <a:noFill/>
        </p:spPr>
        <p:txBody>
          <a:bodyPr wrap="square" lIns="0" tIns="0" rIns="0" bIns="0" anchor="t">
            <a:spAutoFit/>
          </a:bodyPr>
          <a:lstStyle/>
          <a:p>
            <a:pPr>
              <a:spcAft>
                <a:spcPts val="300"/>
              </a:spcAft>
              <a:defRPr sz="850" b="0">
                <a:solidFill>
                  <a:srgbClr val="B4C4D7"/>
                </a:solidFill>
                <a:latin typeface="Aptos"/>
              </a:defRPr>
            </a:pPr>
            <a:r>
              <a:t>ZenoBench  ·  CMU Agentic Library</a:t>
            </a:r>
          </a:p>
        </p:txBody>
      </p:sp>
      <p:sp>
        <p:nvSpPr>
          <p:cNvPr id="8" name="TextBox 7"/>
          <p:cNvSpPr txBox="1"/>
          <p:nvPr/>
        </p:nvSpPr>
        <p:spPr>
          <a:xfrm>
            <a:off x="11100816" y="6510528"/>
            <a:ext cx="566928" cy="182880"/>
          </a:xfrm>
          <a:prstGeom prst="rect">
            <a:avLst/>
          </a:prstGeom>
          <a:noFill/>
        </p:spPr>
        <p:txBody>
          <a:bodyPr wrap="square" lIns="0" tIns="0" rIns="0" bIns="0" anchor="t">
            <a:spAutoFit/>
          </a:bodyPr>
          <a:lstStyle/>
          <a:p>
            <a:pPr algn="r">
              <a:spcAft>
                <a:spcPts val="300"/>
              </a:spcAft>
              <a:defRPr sz="850" b="0">
                <a:solidFill>
                  <a:srgbClr val="58697B"/>
                </a:solidFill>
                <a:latin typeface="Aptos"/>
              </a:defRPr>
            </a:pPr>
            <a:r>
              <a:t>11 / 20</a:t>
            </a:r>
          </a:p>
        </p:txBody>
      </p:sp>
      <p:sp>
        <p:nvSpPr>
          <p:cNvPr id="9" name="Rounded Rectangle 8"/>
          <p:cNvSpPr/>
          <p:nvPr/>
        </p:nvSpPr>
        <p:spPr>
          <a:xfrm>
            <a:off x="557784" y="1965960"/>
            <a:ext cx="3465576" cy="2926080"/>
          </a:xfrm>
          <a:prstGeom prst="roundRect">
            <a:avLst/>
          </a:prstGeom>
          <a:solidFill>
            <a:srgbClr val="1B344E"/>
          </a:solidFill>
          <a:ln>
            <a:solidFill>
              <a:srgbClr val="4058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1965960"/>
            <a:ext cx="3465576" cy="109728"/>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31720"/>
            <a:ext cx="3017520" cy="411480"/>
          </a:xfrm>
          <a:prstGeom prst="rect">
            <a:avLst/>
          </a:prstGeom>
          <a:noFill/>
        </p:spPr>
        <p:txBody>
          <a:bodyPr wrap="square" lIns="0" tIns="0" rIns="0" bIns="0" anchor="t">
            <a:spAutoFit/>
          </a:bodyPr>
          <a:lstStyle/>
          <a:p>
            <a:pPr>
              <a:spcAft>
                <a:spcPts val="300"/>
              </a:spcAft>
              <a:defRPr sz="2000" b="1">
                <a:solidFill>
                  <a:srgbClr val="FFFFFF"/>
                </a:solidFill>
                <a:latin typeface="Aptos"/>
              </a:defRPr>
            </a:pPr>
            <a:r>
              <a:t>Same low-level skills</a:t>
            </a:r>
          </a:p>
        </p:txBody>
      </p:sp>
      <p:sp>
        <p:nvSpPr>
          <p:cNvPr id="12" name="TextBox 11"/>
          <p:cNvSpPr txBox="1"/>
          <p:nvPr/>
        </p:nvSpPr>
        <p:spPr>
          <a:xfrm>
            <a:off x="777240" y="2926080"/>
            <a:ext cx="3017520" cy="1645920"/>
          </a:xfrm>
          <a:prstGeom prst="rect">
            <a:avLst/>
          </a:prstGeom>
          <a:noFill/>
        </p:spPr>
        <p:txBody>
          <a:bodyPr wrap="square" lIns="0" tIns="0" rIns="0" bIns="0" anchor="t">
            <a:spAutoFit/>
          </a:bodyPr>
          <a:lstStyle/>
          <a:p>
            <a:pPr>
              <a:spcAft>
                <a:spcPts val="300"/>
              </a:spcAft>
              <a:defRPr sz="1450" b="0">
                <a:solidFill>
                  <a:srgbClr val="C4D4E4"/>
                </a:solidFill>
                <a:latin typeface="Aptos"/>
              </a:defRPr>
            </a:pPr>
            <a:r>
              <a:t>All planners call the same 70 SkillNodes; no new policy, no hidden retries (auto-recovery off)</a:t>
            </a:r>
          </a:p>
        </p:txBody>
      </p:sp>
      <p:sp>
        <p:nvSpPr>
          <p:cNvPr id="13" name="Rounded Rectangle 12"/>
          <p:cNvSpPr/>
          <p:nvPr/>
        </p:nvSpPr>
        <p:spPr>
          <a:xfrm>
            <a:off x="4379976" y="1965960"/>
            <a:ext cx="3465576" cy="2926080"/>
          </a:xfrm>
          <a:prstGeom prst="roundRect">
            <a:avLst/>
          </a:prstGeom>
          <a:solidFill>
            <a:srgbClr val="1B344E"/>
          </a:solidFill>
          <a:ln>
            <a:solidFill>
              <a:srgbClr val="4058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9976" y="1965960"/>
            <a:ext cx="3465576" cy="109728"/>
          </a:xfrm>
          <a:prstGeom prst="rect">
            <a:avLst/>
          </a:prstGeom>
          <a:solidFill>
            <a:srgbClr val="2468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9432" y="2331720"/>
            <a:ext cx="3017520" cy="411480"/>
          </a:xfrm>
          <a:prstGeom prst="rect">
            <a:avLst/>
          </a:prstGeom>
          <a:noFill/>
        </p:spPr>
        <p:txBody>
          <a:bodyPr wrap="square" lIns="0" tIns="0" rIns="0" bIns="0" anchor="t">
            <a:spAutoFit/>
          </a:bodyPr>
          <a:lstStyle/>
          <a:p>
            <a:pPr>
              <a:spcAft>
                <a:spcPts val="300"/>
              </a:spcAft>
              <a:defRPr sz="2000" b="1">
                <a:solidFill>
                  <a:srgbClr val="FFFFFF"/>
                </a:solidFill>
                <a:latin typeface="Aptos"/>
              </a:defRPr>
            </a:pPr>
            <a:r>
              <a:t>Limited observation</a:t>
            </a:r>
          </a:p>
        </p:txBody>
      </p:sp>
      <p:sp>
        <p:nvSpPr>
          <p:cNvPr id="16" name="TextBox 15"/>
          <p:cNvSpPr txBox="1"/>
          <p:nvPr/>
        </p:nvSpPr>
        <p:spPr>
          <a:xfrm>
            <a:off x="4599432" y="2926080"/>
            <a:ext cx="3017520" cy="1645920"/>
          </a:xfrm>
          <a:prstGeom prst="rect">
            <a:avLst/>
          </a:prstGeom>
          <a:noFill/>
        </p:spPr>
        <p:txBody>
          <a:bodyPr wrap="square" lIns="0" tIns="0" rIns="0" bIns="0" anchor="t">
            <a:spAutoFit/>
          </a:bodyPr>
          <a:lstStyle/>
          <a:p>
            <a:pPr>
              <a:spcAft>
                <a:spcPts val="300"/>
              </a:spcAft>
              <a:defRPr sz="1450" b="0">
                <a:solidFill>
                  <a:srgbClr val="C4D4E4"/>
                </a:solidFill>
                <a:latin typeface="Aptos"/>
              </a:defRPr>
            </a:pPr>
            <a:r>
              <a:t>First-person image, objects seen so far, known places, robot state, last feedback. No GT state</a:t>
            </a:r>
          </a:p>
        </p:txBody>
      </p:sp>
      <p:sp>
        <p:nvSpPr>
          <p:cNvPr id="17" name="Rounded Rectangle 16"/>
          <p:cNvSpPr/>
          <p:nvPr/>
        </p:nvSpPr>
        <p:spPr>
          <a:xfrm>
            <a:off x="8202167" y="1965960"/>
            <a:ext cx="3465576" cy="2926080"/>
          </a:xfrm>
          <a:prstGeom prst="roundRect">
            <a:avLst/>
          </a:prstGeom>
          <a:solidFill>
            <a:srgbClr val="1B344E"/>
          </a:solidFill>
          <a:ln>
            <a:solidFill>
              <a:srgbClr val="4058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02167" y="1965960"/>
            <a:ext cx="3465576" cy="109728"/>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21624" y="2331720"/>
            <a:ext cx="3017520" cy="411480"/>
          </a:xfrm>
          <a:prstGeom prst="rect">
            <a:avLst/>
          </a:prstGeom>
          <a:noFill/>
        </p:spPr>
        <p:txBody>
          <a:bodyPr wrap="square" lIns="0" tIns="0" rIns="0" bIns="0" anchor="t">
            <a:spAutoFit/>
          </a:bodyPr>
          <a:lstStyle/>
          <a:p>
            <a:pPr>
              <a:spcAft>
                <a:spcPts val="300"/>
              </a:spcAft>
              <a:defRPr sz="2000" b="1">
                <a:solidFill>
                  <a:srgbClr val="FFFFFF"/>
                </a:solidFill>
                <a:latin typeface="Aptos"/>
              </a:defRPr>
            </a:pPr>
            <a:r>
              <a:t>GT verifier decides</a:t>
            </a:r>
          </a:p>
        </p:txBody>
      </p:sp>
      <p:sp>
        <p:nvSpPr>
          <p:cNvPr id="20" name="TextBox 19"/>
          <p:cNvSpPr txBox="1"/>
          <p:nvPr/>
        </p:nvSpPr>
        <p:spPr>
          <a:xfrm>
            <a:off x="8421624" y="2926080"/>
            <a:ext cx="3017520" cy="1645920"/>
          </a:xfrm>
          <a:prstGeom prst="rect">
            <a:avLst/>
          </a:prstGeom>
          <a:noFill/>
        </p:spPr>
        <p:txBody>
          <a:bodyPr wrap="square" lIns="0" tIns="0" rIns="0" bIns="0" anchor="t">
            <a:spAutoFit/>
          </a:bodyPr>
          <a:lstStyle/>
          <a:p>
            <a:pPr>
              <a:spcAft>
                <a:spcPts val="300"/>
              </a:spcAft>
              <a:defRPr sz="1450" b="0">
                <a:solidFill>
                  <a:srgbClr val="C4D4E4"/>
                </a:solidFill>
                <a:latin typeface="Aptos"/>
              </a:defRPr>
            </a:pPr>
            <a:r>
              <a:t>Isaac Sim state after the run settles: goal atoms hold, nothing on the floor</a:t>
            </a:r>
          </a:p>
        </p:txBody>
      </p:sp>
      <p:sp>
        <p:nvSpPr>
          <p:cNvPr id="21" name="TextBox 20"/>
          <p:cNvSpPr txBox="1"/>
          <p:nvPr/>
        </p:nvSpPr>
        <p:spPr>
          <a:xfrm>
            <a:off x="603504" y="5303520"/>
            <a:ext cx="10972800" cy="640080"/>
          </a:xfrm>
          <a:prstGeom prst="rect">
            <a:avLst/>
          </a:prstGeom>
          <a:noFill/>
        </p:spPr>
        <p:txBody>
          <a:bodyPr wrap="square" lIns="0" tIns="0" rIns="0" bIns="0" anchor="t">
            <a:spAutoFit/>
          </a:bodyPr>
          <a:lstStyle/>
          <a:p>
            <a:pPr>
              <a:spcAft>
                <a:spcPts val="300"/>
              </a:spcAft>
              <a:defRPr sz="1700" b="1">
                <a:solidFill>
                  <a:srgbClr val="EFA33C"/>
                </a:solidFill>
                <a:latin typeface="Aptos"/>
              </a:defRPr>
            </a:pPr>
            <a:r>
              <a:t>Question: does the planner choose an effective fallback or alternative from its own observation and execution feedback?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210312"/>
          </a:xfrm>
          <a:prstGeom prst="rect">
            <a:avLst/>
          </a:prstGeom>
          <a:noFill/>
        </p:spPr>
        <p:txBody>
          <a:bodyPr wrap="square" lIns="0" tIns="0" rIns="0" bIns="0" anchor="t">
            <a:spAutoFit/>
          </a:bodyPr>
          <a:lstStyle/>
          <a:p>
            <a:pPr>
              <a:spcAft>
                <a:spcPts val="300"/>
              </a:spcAft>
              <a:defRPr sz="1000" b="1">
                <a:solidFill>
                  <a:srgbClr val="008F93"/>
                </a:solidFill>
                <a:latin typeface="Aptos"/>
              </a:defRPr>
            </a:pPr>
            <a:r>
              <a:t>OBSERVATION BOUNDARY</a:t>
            </a:r>
          </a:p>
        </p:txBody>
      </p:sp>
      <p:sp>
        <p:nvSpPr>
          <p:cNvPr id="4" name="TextBox 3"/>
          <p:cNvSpPr txBox="1"/>
          <p:nvPr/>
        </p:nvSpPr>
        <p:spPr>
          <a:xfrm>
            <a:off x="502920" y="585216"/>
            <a:ext cx="11018520" cy="685800"/>
          </a:xfrm>
          <a:prstGeom prst="rect">
            <a:avLst/>
          </a:prstGeom>
          <a:noFill/>
        </p:spPr>
        <p:txBody>
          <a:bodyPr wrap="square" lIns="0" tIns="0" rIns="0" bIns="0" anchor="t">
            <a:spAutoFit/>
          </a:bodyPr>
          <a:lstStyle/>
          <a:p>
            <a:pPr>
              <a:spcAft>
                <a:spcPts val="300"/>
              </a:spcAft>
              <a:defRPr sz="2800" b="1">
                <a:solidFill>
                  <a:srgbClr val="19283D"/>
                </a:solidFill>
                <a:latin typeface="Aptos"/>
              </a:defRPr>
            </a:pPr>
            <a:r>
              <a:t>What the planner sees, and what it may call</a:t>
            </a:r>
          </a:p>
        </p:txBody>
      </p:sp>
      <p:sp>
        <p:nvSpPr>
          <p:cNvPr id="5" name="TextBox 4"/>
          <p:cNvSpPr txBox="1"/>
          <p:nvPr/>
        </p:nvSpPr>
        <p:spPr>
          <a:xfrm>
            <a:off x="521207" y="1261872"/>
            <a:ext cx="10972800" cy="393192"/>
          </a:xfrm>
          <a:prstGeom prst="rect">
            <a:avLst/>
          </a:prstGeom>
          <a:noFill/>
        </p:spPr>
        <p:txBody>
          <a:bodyPr wrap="square" lIns="0" tIns="0" rIns="0" bIns="0" anchor="t">
            <a:spAutoFit/>
          </a:bodyPr>
          <a:lstStyle/>
          <a:p>
            <a:pPr>
              <a:spcAft>
                <a:spcPts val="300"/>
              </a:spcAft>
              <a:defRPr sz="1250" b="0">
                <a:solidFill>
                  <a:srgbClr val="58697B"/>
                </a:solidFill>
                <a:latin typeface="Aptos"/>
              </a:defRPr>
            </a:pPr>
            <a:r>
              <a:t>A call naming an object the robot has not observed is refused before anything moves.</a:t>
            </a:r>
          </a:p>
        </p:txBody>
      </p:sp>
      <p:sp>
        <p:nvSpPr>
          <p:cNvPr id="6" name="Rectangle 5"/>
          <p:cNvSpPr/>
          <p:nvPr/>
        </p:nvSpPr>
        <p:spPr>
          <a:xfrm>
            <a:off x="502920" y="6473952"/>
            <a:ext cx="11183112" cy="10972"/>
          </a:xfrm>
          <a:prstGeom prst="rect">
            <a:avLst/>
          </a:prstGeom>
          <a:solidFill>
            <a:srgbClr val="DB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6519672"/>
            <a:ext cx="7315200" cy="164592"/>
          </a:xfrm>
          <a:prstGeom prst="rect">
            <a:avLst/>
          </a:prstGeom>
          <a:noFill/>
        </p:spPr>
        <p:txBody>
          <a:bodyPr wrap="square" lIns="0" tIns="0" rIns="0" bIns="0" anchor="t">
            <a:spAutoFit/>
          </a:bodyPr>
          <a:lstStyle/>
          <a:p>
            <a:pPr>
              <a:spcAft>
                <a:spcPts val="300"/>
              </a:spcAft>
              <a:defRPr sz="850" b="0">
                <a:solidFill>
                  <a:srgbClr val="58697B"/>
                </a:solidFill>
                <a:latin typeface="Aptos"/>
              </a:defRPr>
            </a:pPr>
            <a:r>
              <a:t>ZenoBench  ·  CMU Agentic Library</a:t>
            </a:r>
          </a:p>
        </p:txBody>
      </p:sp>
      <p:sp>
        <p:nvSpPr>
          <p:cNvPr id="8" name="TextBox 7"/>
          <p:cNvSpPr txBox="1"/>
          <p:nvPr/>
        </p:nvSpPr>
        <p:spPr>
          <a:xfrm>
            <a:off x="11100816" y="6510528"/>
            <a:ext cx="566928" cy="182880"/>
          </a:xfrm>
          <a:prstGeom prst="rect">
            <a:avLst/>
          </a:prstGeom>
          <a:noFill/>
        </p:spPr>
        <p:txBody>
          <a:bodyPr wrap="square" lIns="0" tIns="0" rIns="0" bIns="0" anchor="t">
            <a:spAutoFit/>
          </a:bodyPr>
          <a:lstStyle/>
          <a:p>
            <a:pPr algn="r">
              <a:spcAft>
                <a:spcPts val="300"/>
              </a:spcAft>
              <a:defRPr sz="850" b="0">
                <a:solidFill>
                  <a:srgbClr val="58697B"/>
                </a:solidFill>
                <a:latin typeface="Aptos"/>
              </a:defRPr>
            </a:pPr>
            <a:r>
              <a:t>12 / 20</a:t>
            </a:r>
          </a:p>
        </p:txBody>
      </p:sp>
      <p:sp>
        <p:nvSpPr>
          <p:cNvPr id="9" name="Rounded Rectangle 8"/>
          <p:cNvSpPr/>
          <p:nvPr/>
        </p:nvSpPr>
        <p:spPr>
          <a:xfrm>
            <a:off x="557784" y="1810512"/>
            <a:ext cx="5440680" cy="406908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1810512"/>
            <a:ext cx="82296" cy="406908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993392"/>
            <a:ext cx="4937760" cy="365760"/>
          </a:xfrm>
          <a:prstGeom prst="rect">
            <a:avLst/>
          </a:prstGeom>
          <a:noFill/>
        </p:spPr>
        <p:txBody>
          <a:bodyPr wrap="square" lIns="0" tIns="0" rIns="0" bIns="0" anchor="t">
            <a:spAutoFit/>
          </a:bodyPr>
          <a:lstStyle/>
          <a:p>
            <a:pPr>
              <a:spcAft>
                <a:spcPts val="300"/>
              </a:spcAft>
              <a:defRPr sz="1900" b="1">
                <a:solidFill>
                  <a:srgbClr val="19283D"/>
                </a:solidFill>
                <a:latin typeface="Aptos"/>
              </a:defRPr>
            </a:pPr>
            <a:r>
              <a:t>Planner input</a:t>
            </a:r>
          </a:p>
        </p:txBody>
      </p:sp>
      <p:sp>
        <p:nvSpPr>
          <p:cNvPr id="12" name="TextBox 11"/>
          <p:cNvSpPr txBox="1"/>
          <p:nvPr/>
        </p:nvSpPr>
        <p:spPr>
          <a:xfrm>
            <a:off x="786384" y="2514600"/>
            <a:ext cx="5029200" cy="3108960"/>
          </a:xfrm>
          <a:prstGeom prst="rect">
            <a:avLst/>
          </a:prstGeom>
          <a:noFill/>
        </p:spPr>
        <p:txBody>
          <a:bodyPr wrap="square" lIns="0" tIns="0" rIns="0" bIns="0" anchor="t">
            <a:spAutoFit/>
          </a:bodyPr>
          <a:lstStyle/>
          <a:p>
            <a:pPr>
              <a:spcAft>
                <a:spcPts val="300"/>
              </a:spcAft>
              <a:defRPr sz="1420" b="0">
                <a:solidFill>
                  <a:srgbClr val="58697B"/>
                </a:solidFill>
                <a:latin typeface="Aptos"/>
              </a:defRPr>
            </a:pPr>
            <a:r>
              <a:t>• first-person camera image</a:t>
            </a:r>
          </a:p>
          <a:p>
            <a:pPr>
              <a:spcAft>
                <a:spcPts val="300"/>
              </a:spcAft>
              <a:defRPr sz="1420" b="0">
                <a:solidFill>
                  <a:srgbClr val="58697B"/>
                </a:solidFill>
                <a:latin typeface="Aptos"/>
              </a:defRPr>
            </a:pPr>
            <a:r>
              <a:t>• objects observed so far (observation cache)</a:t>
            </a:r>
          </a:p>
          <a:p>
            <a:pPr>
              <a:spcAft>
                <a:spcPts val="300"/>
              </a:spcAft>
              <a:defRPr sz="1420" b="0">
                <a:solidFill>
                  <a:srgbClr val="58697B"/>
                </a:solidFill>
                <a:latin typeface="Aptos"/>
              </a:defRPr>
            </a:pPr>
            <a:r>
              <a:t>• known places and receptacles</a:t>
            </a:r>
          </a:p>
          <a:p>
            <a:pPr>
              <a:spcAft>
                <a:spcPts val="300"/>
              </a:spcAft>
              <a:defRPr sz="1420" b="0">
                <a:solidFill>
                  <a:srgbClr val="58697B"/>
                </a:solidFill>
                <a:latin typeface="Aptos"/>
              </a:defRPr>
            </a:pPr>
            <a:r>
              <a:t>• robot pose, room, what each hand holds</a:t>
            </a:r>
          </a:p>
          <a:p>
            <a:pPr>
              <a:spcAft>
                <a:spcPts val="300"/>
              </a:spcAft>
              <a:defRPr sz="1420" b="0">
                <a:solidFill>
                  <a:srgbClr val="58697B"/>
                </a:solidFill>
                <a:latin typeface="Aptos"/>
              </a:defRPr>
            </a:pPr>
            <a:r>
              <a:t>• temperatures the robot has measured</a:t>
            </a:r>
          </a:p>
          <a:p>
            <a:pPr>
              <a:spcAft>
                <a:spcPts val="300"/>
              </a:spcAft>
              <a:defRPr sz="1420" b="0">
                <a:solidFill>
                  <a:srgbClr val="58697B"/>
                </a:solidFill>
                <a:latin typeface="Aptos"/>
              </a:defRPr>
            </a:pPr>
            <a:r>
              <a:t>• feedback of the last call: success, error code, message</a:t>
            </a:r>
          </a:p>
        </p:txBody>
      </p:sp>
      <p:sp>
        <p:nvSpPr>
          <p:cNvPr id="13" name="Rounded Rectangle 12"/>
          <p:cNvSpPr/>
          <p:nvPr/>
        </p:nvSpPr>
        <p:spPr>
          <a:xfrm>
            <a:off x="6199632" y="1810512"/>
            <a:ext cx="5440680" cy="406908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810512"/>
            <a:ext cx="82296" cy="4069080"/>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1993392"/>
            <a:ext cx="4937760" cy="365760"/>
          </a:xfrm>
          <a:prstGeom prst="rect">
            <a:avLst/>
          </a:prstGeom>
          <a:noFill/>
        </p:spPr>
        <p:txBody>
          <a:bodyPr wrap="square" lIns="0" tIns="0" rIns="0" bIns="0" anchor="t">
            <a:spAutoFit/>
          </a:bodyPr>
          <a:lstStyle/>
          <a:p>
            <a:pPr>
              <a:spcAft>
                <a:spcPts val="300"/>
              </a:spcAft>
              <a:defRPr sz="1900" b="1">
                <a:solidFill>
                  <a:srgbClr val="19283D"/>
                </a:solidFill>
                <a:latin typeface="Aptos"/>
              </a:defRPr>
            </a:pPr>
            <a:r>
              <a:t>Gate and feedback classes</a:t>
            </a:r>
          </a:p>
        </p:txBody>
      </p:sp>
      <p:sp>
        <p:nvSpPr>
          <p:cNvPr id="16" name="TextBox 15"/>
          <p:cNvSpPr txBox="1"/>
          <p:nvPr/>
        </p:nvSpPr>
        <p:spPr>
          <a:xfrm>
            <a:off x="6428232" y="2514600"/>
            <a:ext cx="5074920" cy="3108960"/>
          </a:xfrm>
          <a:prstGeom prst="rect">
            <a:avLst/>
          </a:prstGeom>
          <a:noFill/>
        </p:spPr>
        <p:txBody>
          <a:bodyPr wrap="square" lIns="0" tIns="0" rIns="0" bIns="0" anchor="t">
            <a:spAutoFit/>
          </a:bodyPr>
          <a:lstStyle/>
          <a:p>
            <a:pPr>
              <a:spcAft>
                <a:spcPts val="300"/>
              </a:spcAft>
              <a:defRPr sz="1420" b="0">
                <a:solidFill>
                  <a:srgbClr val="58697B"/>
                </a:solidFill>
                <a:latin typeface="Aptos"/>
              </a:defRPr>
            </a:pPr>
            <a:r>
              <a:t>• Grounding: NOT_OBSERVED · NOT_IN_VIEW · NOT_FOUND</a:t>
            </a:r>
          </a:p>
          <a:p>
            <a:pPr>
              <a:spcAft>
                <a:spcPts val="300"/>
              </a:spcAft>
              <a:defRPr sz="1420" b="0">
                <a:solidFill>
                  <a:srgbClr val="58697B"/>
                </a:solidFill>
                <a:latin typeface="Aptos"/>
              </a:defRPr>
            </a:pPr>
            <a:r>
              <a:t>   (an object that is not in the episode gets the same refusal)</a:t>
            </a:r>
          </a:p>
          <a:p>
            <a:pPr>
              <a:spcAft>
                <a:spcPts val="300"/>
              </a:spcAft>
              <a:defRPr sz="1420" b="0">
                <a:solidFill>
                  <a:srgbClr val="58697B"/>
                </a:solidFill>
                <a:latin typeface="Aptos"/>
              </a:defRPr>
            </a:pPr>
            <a:r>
              <a:t>• Precondition: PRECONDITION_FAILED · NO_PATH</a:t>
            </a:r>
          </a:p>
          <a:p>
            <a:pPr>
              <a:spcAft>
                <a:spcPts val="300"/>
              </a:spcAft>
              <a:defRPr sz="1420" b="0">
                <a:solidFill>
                  <a:srgbClr val="58697B"/>
                </a:solidFill>
                <a:latin typeface="Aptos"/>
              </a:defRPr>
            </a:pPr>
            <a:r>
              <a:t>   (nothing was executed)</a:t>
            </a:r>
          </a:p>
          <a:p>
            <a:pPr>
              <a:spcAft>
                <a:spcPts val="300"/>
              </a:spcAft>
              <a:defRPr sz="1420" b="0">
                <a:solidFill>
                  <a:srgbClr val="58697B"/>
                </a:solidFill>
                <a:latin typeface="Aptos"/>
              </a:defRPr>
            </a:pPr>
            <a:r>
              <a:t>• Execution: POLICY_FAILED · SUBSKILL_FAILED · POSTCONDITION_FAILED</a:t>
            </a:r>
          </a:p>
          <a:p>
            <a:pPr>
              <a:spcAft>
                <a:spcPts val="300"/>
              </a:spcAft>
              <a:defRPr sz="1420" b="0">
                <a:solidFill>
                  <a:srgbClr val="58697B"/>
                </a:solidFill>
                <a:latin typeface="Aptos"/>
              </a:defRPr>
            </a:pPr>
            <a:r>
              <a:t>   (the robot tried; the physics said no)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210312"/>
          </a:xfrm>
          <a:prstGeom prst="rect">
            <a:avLst/>
          </a:prstGeom>
          <a:noFill/>
        </p:spPr>
        <p:txBody>
          <a:bodyPr wrap="square" lIns="0" tIns="0" rIns="0" bIns="0" anchor="t">
            <a:spAutoFit/>
          </a:bodyPr>
          <a:lstStyle/>
          <a:p>
            <a:pPr>
              <a:spcAft>
                <a:spcPts val="300"/>
              </a:spcAft>
              <a:defRPr sz="1000" b="1">
                <a:solidFill>
                  <a:srgbClr val="008F93"/>
                </a:solidFill>
                <a:latin typeface="Aptos"/>
              </a:defRPr>
            </a:pPr>
            <a:r>
              <a:t>TASK DESIGN</a:t>
            </a:r>
          </a:p>
        </p:txBody>
      </p:sp>
      <p:sp>
        <p:nvSpPr>
          <p:cNvPr id="4" name="TextBox 3"/>
          <p:cNvSpPr txBox="1"/>
          <p:nvPr/>
        </p:nvSpPr>
        <p:spPr>
          <a:xfrm>
            <a:off x="502920" y="585216"/>
            <a:ext cx="11018520" cy="685800"/>
          </a:xfrm>
          <a:prstGeom prst="rect">
            <a:avLst/>
          </a:prstGeom>
          <a:noFill/>
        </p:spPr>
        <p:txBody>
          <a:bodyPr wrap="square" lIns="0" tIns="0" rIns="0" bIns="0" anchor="t">
            <a:spAutoFit/>
          </a:bodyPr>
          <a:lstStyle/>
          <a:p>
            <a:pPr>
              <a:spcAft>
                <a:spcPts val="300"/>
              </a:spcAft>
              <a:defRPr sz="2800" b="1">
                <a:solidFill>
                  <a:srgbClr val="19283D"/>
                </a:solidFill>
                <a:latin typeface="Aptos"/>
              </a:defRPr>
            </a:pPr>
            <a:r>
              <a:t>Ten tasks, three difficulty tiers</a:t>
            </a:r>
          </a:p>
        </p:txBody>
      </p:sp>
      <p:sp>
        <p:nvSpPr>
          <p:cNvPr id="5" name="TextBox 4"/>
          <p:cNvSpPr txBox="1"/>
          <p:nvPr/>
        </p:nvSpPr>
        <p:spPr>
          <a:xfrm>
            <a:off x="521207" y="1261872"/>
            <a:ext cx="10972800" cy="393192"/>
          </a:xfrm>
          <a:prstGeom prst="rect">
            <a:avLst/>
          </a:prstGeom>
          <a:noFill/>
        </p:spPr>
        <p:txBody>
          <a:bodyPr wrap="square" lIns="0" tIns="0" rIns="0" bIns="0" anchor="t">
            <a:spAutoFit/>
          </a:bodyPr>
          <a:lstStyle/>
          <a:p>
            <a:pPr>
              <a:spcAft>
                <a:spcPts val="300"/>
              </a:spcAft>
              <a:defRPr sz="1250" b="0">
                <a:solidFill>
                  <a:srgbClr val="58697B"/>
                </a:solidFill>
                <a:latin typeface="Aptos"/>
              </a:defRPr>
            </a:pPr>
            <a:r>
              <a:t>The instruction never changes across tiers; only the scene does. Medium adds one condition, hard adds a second.</a:t>
            </a:r>
          </a:p>
        </p:txBody>
      </p:sp>
      <p:sp>
        <p:nvSpPr>
          <p:cNvPr id="6" name="Rectangle 5"/>
          <p:cNvSpPr/>
          <p:nvPr/>
        </p:nvSpPr>
        <p:spPr>
          <a:xfrm>
            <a:off x="502920" y="6473952"/>
            <a:ext cx="11183112" cy="10972"/>
          </a:xfrm>
          <a:prstGeom prst="rect">
            <a:avLst/>
          </a:prstGeom>
          <a:solidFill>
            <a:srgbClr val="DB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6519672"/>
            <a:ext cx="7315200" cy="164592"/>
          </a:xfrm>
          <a:prstGeom prst="rect">
            <a:avLst/>
          </a:prstGeom>
          <a:noFill/>
        </p:spPr>
        <p:txBody>
          <a:bodyPr wrap="square" lIns="0" tIns="0" rIns="0" bIns="0" anchor="t">
            <a:spAutoFit/>
          </a:bodyPr>
          <a:lstStyle/>
          <a:p>
            <a:pPr>
              <a:spcAft>
                <a:spcPts val="300"/>
              </a:spcAft>
              <a:defRPr sz="850" b="0">
                <a:solidFill>
                  <a:srgbClr val="58697B"/>
                </a:solidFill>
                <a:latin typeface="Aptos"/>
              </a:defRPr>
            </a:pPr>
            <a:r>
              <a:t>ZenoBench  ·  CMU Agentic Library</a:t>
            </a:r>
          </a:p>
        </p:txBody>
      </p:sp>
      <p:sp>
        <p:nvSpPr>
          <p:cNvPr id="8" name="TextBox 7"/>
          <p:cNvSpPr txBox="1"/>
          <p:nvPr/>
        </p:nvSpPr>
        <p:spPr>
          <a:xfrm>
            <a:off x="11100816" y="6510528"/>
            <a:ext cx="566928" cy="182880"/>
          </a:xfrm>
          <a:prstGeom prst="rect">
            <a:avLst/>
          </a:prstGeom>
          <a:noFill/>
        </p:spPr>
        <p:txBody>
          <a:bodyPr wrap="square" lIns="0" tIns="0" rIns="0" bIns="0" anchor="t">
            <a:spAutoFit/>
          </a:bodyPr>
          <a:lstStyle/>
          <a:p>
            <a:pPr algn="r">
              <a:spcAft>
                <a:spcPts val="300"/>
              </a:spcAft>
              <a:defRPr sz="850" b="0">
                <a:solidFill>
                  <a:srgbClr val="58697B"/>
                </a:solidFill>
                <a:latin typeface="Aptos"/>
              </a:defRPr>
            </a:pPr>
            <a:r>
              <a:t>13 / 20</a:t>
            </a:r>
          </a:p>
        </p:txBody>
      </p:sp>
      <p:sp>
        <p:nvSpPr>
          <p:cNvPr id="9" name="Rounded Rectangle 8"/>
          <p:cNvSpPr/>
          <p:nvPr/>
        </p:nvSpPr>
        <p:spPr>
          <a:xfrm>
            <a:off x="557784" y="1810512"/>
            <a:ext cx="5422392" cy="694944"/>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1810512"/>
            <a:ext cx="68580" cy="694944"/>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 y="1920240"/>
            <a:ext cx="548640" cy="256032"/>
          </a:xfrm>
          <a:prstGeom prst="rect">
            <a:avLst/>
          </a:prstGeom>
          <a:noFill/>
        </p:spPr>
        <p:txBody>
          <a:bodyPr wrap="square" lIns="0" tIns="0" rIns="0" bIns="0" anchor="t">
            <a:spAutoFit/>
          </a:bodyPr>
          <a:lstStyle/>
          <a:p>
            <a:pPr>
              <a:spcAft>
                <a:spcPts val="300"/>
              </a:spcAft>
              <a:defRPr sz="1350" b="1">
                <a:solidFill>
                  <a:srgbClr val="008F93"/>
                </a:solidFill>
                <a:latin typeface="Aptos"/>
              </a:defRPr>
            </a:pPr>
            <a:r>
              <a:t>T01</a:t>
            </a:r>
          </a:p>
        </p:txBody>
      </p:sp>
      <p:sp>
        <p:nvSpPr>
          <p:cNvPr id="12" name="TextBox 11"/>
          <p:cNvSpPr txBox="1"/>
          <p:nvPr/>
        </p:nvSpPr>
        <p:spPr>
          <a:xfrm>
            <a:off x="1271016" y="1901952"/>
            <a:ext cx="3291840" cy="256032"/>
          </a:xfrm>
          <a:prstGeom prst="rect">
            <a:avLst/>
          </a:prstGeom>
          <a:noFill/>
        </p:spPr>
        <p:txBody>
          <a:bodyPr wrap="square" lIns="0" tIns="0" rIns="0" bIns="0" anchor="t">
            <a:spAutoFit/>
          </a:bodyPr>
          <a:lstStyle/>
          <a:p>
            <a:pPr>
              <a:spcAft>
                <a:spcPts val="300"/>
              </a:spcAft>
              <a:defRPr sz="1320" b="1">
                <a:solidFill>
                  <a:srgbClr val="19283D"/>
                </a:solidFill>
                <a:latin typeface="Aptos"/>
              </a:defRPr>
            </a:pPr>
            <a:r>
              <a:t>Paperback → dining table</a:t>
            </a:r>
          </a:p>
        </p:txBody>
      </p:sp>
      <p:sp>
        <p:nvSpPr>
          <p:cNvPr id="13" name="TextBox 12"/>
          <p:cNvSpPr txBox="1"/>
          <p:nvPr/>
        </p:nvSpPr>
        <p:spPr>
          <a:xfrm>
            <a:off x="1271016" y="2194560"/>
            <a:ext cx="4526280" cy="237744"/>
          </a:xfrm>
          <a:prstGeom prst="rect">
            <a:avLst/>
          </a:prstGeom>
          <a:noFill/>
        </p:spPr>
        <p:txBody>
          <a:bodyPr wrap="square" lIns="0" tIns="0" rIns="0" bIns="0" anchor="t">
            <a:spAutoFit/>
          </a:bodyPr>
          <a:lstStyle/>
          <a:p>
            <a:pPr>
              <a:spcAft>
                <a:spcPts val="300"/>
              </a:spcAft>
              <a:defRPr sz="1080" b="0">
                <a:solidFill>
                  <a:srgbClr val="58697B"/>
                </a:solidFill>
                <a:latin typeface="Aptos"/>
              </a:defRPr>
            </a:pPr>
            <a:r>
              <a:t>no overhang: pick fails → expose → pick</a:t>
            </a:r>
          </a:p>
        </p:txBody>
      </p:sp>
      <p:sp>
        <p:nvSpPr>
          <p:cNvPr id="14" name="Rounded Rectangle 13"/>
          <p:cNvSpPr/>
          <p:nvPr/>
        </p:nvSpPr>
        <p:spPr>
          <a:xfrm>
            <a:off x="4782312" y="1911095"/>
            <a:ext cx="1051560" cy="246888"/>
          </a:xfrm>
          <a:prstGeom prst="roundRect">
            <a:avLst/>
          </a:prstGeom>
          <a:solidFill>
            <a:srgbClr val="FFFFFF"/>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00600" y="1938528"/>
            <a:ext cx="1014984" cy="182880"/>
          </a:xfrm>
          <a:prstGeom prst="rect">
            <a:avLst/>
          </a:prstGeom>
          <a:noFill/>
        </p:spPr>
        <p:txBody>
          <a:bodyPr wrap="square" lIns="0" tIns="0" rIns="0" bIns="0" anchor="t">
            <a:spAutoFit/>
          </a:bodyPr>
          <a:lstStyle/>
          <a:p>
            <a:pPr algn="ctr">
              <a:spcAft>
                <a:spcPts val="300"/>
              </a:spcAft>
              <a:defRPr sz="900" b="1">
                <a:solidFill>
                  <a:srgbClr val="008F93"/>
                </a:solidFill>
                <a:latin typeface="Aptos"/>
              </a:defRPr>
            </a:pPr>
            <a:r>
              <a:t>fallback</a:t>
            </a:r>
          </a:p>
        </p:txBody>
      </p:sp>
      <p:sp>
        <p:nvSpPr>
          <p:cNvPr id="16" name="Rounded Rectangle 15"/>
          <p:cNvSpPr/>
          <p:nvPr/>
        </p:nvSpPr>
        <p:spPr>
          <a:xfrm>
            <a:off x="557784" y="2596896"/>
            <a:ext cx="5422392" cy="694944"/>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7784" y="2596896"/>
            <a:ext cx="68580" cy="694944"/>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2706624"/>
            <a:ext cx="548640" cy="256032"/>
          </a:xfrm>
          <a:prstGeom prst="rect">
            <a:avLst/>
          </a:prstGeom>
          <a:noFill/>
        </p:spPr>
        <p:txBody>
          <a:bodyPr wrap="square" lIns="0" tIns="0" rIns="0" bIns="0" anchor="t">
            <a:spAutoFit/>
          </a:bodyPr>
          <a:lstStyle/>
          <a:p>
            <a:pPr>
              <a:spcAft>
                <a:spcPts val="300"/>
              </a:spcAft>
              <a:defRPr sz="1350" b="1">
                <a:solidFill>
                  <a:srgbClr val="008F93"/>
                </a:solidFill>
                <a:latin typeface="Aptos"/>
              </a:defRPr>
            </a:pPr>
            <a:r>
              <a:t>T02</a:t>
            </a:r>
          </a:p>
        </p:txBody>
      </p:sp>
      <p:sp>
        <p:nvSpPr>
          <p:cNvPr id="19" name="TextBox 18"/>
          <p:cNvSpPr txBox="1"/>
          <p:nvPr/>
        </p:nvSpPr>
        <p:spPr>
          <a:xfrm>
            <a:off x="1271016" y="2688336"/>
            <a:ext cx="3291840" cy="256032"/>
          </a:xfrm>
          <a:prstGeom prst="rect">
            <a:avLst/>
          </a:prstGeom>
          <a:noFill/>
        </p:spPr>
        <p:txBody>
          <a:bodyPr wrap="square" lIns="0" tIns="0" rIns="0" bIns="0" anchor="t">
            <a:spAutoFit/>
          </a:bodyPr>
          <a:lstStyle/>
          <a:p>
            <a:pPr>
              <a:spcAft>
                <a:spcPts val="300"/>
              </a:spcAft>
              <a:defRPr sz="1320" b="1">
                <a:solidFill>
                  <a:srgbClr val="19283D"/>
                </a:solidFill>
                <a:latin typeface="Aptos"/>
              </a:defRPr>
            </a:pPr>
            <a:r>
              <a:t>Stack two blocks</a:t>
            </a:r>
          </a:p>
        </p:txBody>
      </p:sp>
      <p:sp>
        <p:nvSpPr>
          <p:cNvPr id="20" name="TextBox 19"/>
          <p:cNvSpPr txBox="1"/>
          <p:nvPr/>
        </p:nvSpPr>
        <p:spPr>
          <a:xfrm>
            <a:off x="1271016" y="2980944"/>
            <a:ext cx="4526280" cy="237744"/>
          </a:xfrm>
          <a:prstGeom prst="rect">
            <a:avLst/>
          </a:prstGeom>
          <a:noFill/>
        </p:spPr>
        <p:txBody>
          <a:bodyPr wrap="square" lIns="0" tIns="0" rIns="0" bIns="0" anchor="t">
            <a:spAutoFit/>
          </a:bodyPr>
          <a:lstStyle/>
          <a:p>
            <a:pPr>
              <a:spcAft>
                <a:spcPts val="300"/>
              </a:spcAft>
              <a:defRPr sz="1080" b="0">
                <a:solidFill>
                  <a:srgbClr val="58697B"/>
                </a:solidFill>
                <a:latin typeface="Aptos"/>
              </a:defRPr>
            </a:pPr>
            <a:r>
              <a:t>boxed in: pick fails → separate / push → pick</a:t>
            </a:r>
          </a:p>
        </p:txBody>
      </p:sp>
      <p:sp>
        <p:nvSpPr>
          <p:cNvPr id="21" name="Rounded Rectangle 20"/>
          <p:cNvSpPr/>
          <p:nvPr/>
        </p:nvSpPr>
        <p:spPr>
          <a:xfrm>
            <a:off x="4782312" y="2697479"/>
            <a:ext cx="1051560" cy="246888"/>
          </a:xfrm>
          <a:prstGeom prst="roundRect">
            <a:avLst/>
          </a:prstGeom>
          <a:solidFill>
            <a:srgbClr val="FFFFFF"/>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2724912"/>
            <a:ext cx="1014984" cy="182880"/>
          </a:xfrm>
          <a:prstGeom prst="rect">
            <a:avLst/>
          </a:prstGeom>
          <a:noFill/>
        </p:spPr>
        <p:txBody>
          <a:bodyPr wrap="square" lIns="0" tIns="0" rIns="0" bIns="0" anchor="t">
            <a:spAutoFit/>
          </a:bodyPr>
          <a:lstStyle/>
          <a:p>
            <a:pPr algn="ctr">
              <a:spcAft>
                <a:spcPts val="300"/>
              </a:spcAft>
              <a:defRPr sz="900" b="1">
                <a:solidFill>
                  <a:srgbClr val="008F93"/>
                </a:solidFill>
                <a:latin typeface="Aptos"/>
              </a:defRPr>
            </a:pPr>
            <a:r>
              <a:t>fallback</a:t>
            </a:r>
          </a:p>
        </p:txBody>
      </p:sp>
      <p:sp>
        <p:nvSpPr>
          <p:cNvPr id="23" name="Rounded Rectangle 22"/>
          <p:cNvSpPr/>
          <p:nvPr/>
        </p:nvSpPr>
        <p:spPr>
          <a:xfrm>
            <a:off x="557784" y="3383280"/>
            <a:ext cx="5422392" cy="694944"/>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7784" y="3383280"/>
            <a:ext cx="68580" cy="694944"/>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3493008"/>
            <a:ext cx="548640" cy="256032"/>
          </a:xfrm>
          <a:prstGeom prst="rect">
            <a:avLst/>
          </a:prstGeom>
          <a:noFill/>
        </p:spPr>
        <p:txBody>
          <a:bodyPr wrap="square" lIns="0" tIns="0" rIns="0" bIns="0" anchor="t">
            <a:spAutoFit/>
          </a:bodyPr>
          <a:lstStyle/>
          <a:p>
            <a:pPr>
              <a:spcAft>
                <a:spcPts val="300"/>
              </a:spcAft>
              <a:defRPr sz="1350" b="1">
                <a:solidFill>
                  <a:srgbClr val="EFA33C"/>
                </a:solidFill>
                <a:latin typeface="Aptos"/>
              </a:defRPr>
            </a:pPr>
            <a:r>
              <a:t>T03</a:t>
            </a:r>
          </a:p>
        </p:txBody>
      </p:sp>
      <p:sp>
        <p:nvSpPr>
          <p:cNvPr id="26" name="TextBox 25"/>
          <p:cNvSpPr txBox="1"/>
          <p:nvPr/>
        </p:nvSpPr>
        <p:spPr>
          <a:xfrm>
            <a:off x="1271016" y="3474720"/>
            <a:ext cx="3291840" cy="256032"/>
          </a:xfrm>
          <a:prstGeom prst="rect">
            <a:avLst/>
          </a:prstGeom>
          <a:noFill/>
        </p:spPr>
        <p:txBody>
          <a:bodyPr wrap="square" lIns="0" tIns="0" rIns="0" bIns="0" anchor="t">
            <a:spAutoFit/>
          </a:bodyPr>
          <a:lstStyle/>
          <a:p>
            <a:pPr>
              <a:spcAft>
                <a:spcPts val="300"/>
              </a:spcAft>
              <a:defRPr sz="1320" b="1">
                <a:solidFill>
                  <a:srgbClr val="19283D"/>
                </a:solidFill>
                <a:latin typeface="Aptos"/>
              </a:defRPr>
            </a:pPr>
            <a:r>
              <a:t>Pin + spoon in one container</a:t>
            </a:r>
          </a:p>
        </p:txBody>
      </p:sp>
      <p:sp>
        <p:nvSpPr>
          <p:cNvPr id="27" name="TextBox 26"/>
          <p:cNvSpPr txBox="1"/>
          <p:nvPr/>
        </p:nvSpPr>
        <p:spPr>
          <a:xfrm>
            <a:off x="1271016" y="3767328"/>
            <a:ext cx="4526280" cy="237744"/>
          </a:xfrm>
          <a:prstGeom prst="rect">
            <a:avLst/>
          </a:prstGeom>
          <a:noFill/>
        </p:spPr>
        <p:txBody>
          <a:bodyPr wrap="square" lIns="0" tIns="0" rIns="0" bIns="0" anchor="t">
            <a:spAutoFit/>
          </a:bodyPr>
          <a:lstStyle/>
          <a:p>
            <a:pPr>
              <a:spcAft>
                <a:spcPts val="300"/>
              </a:spcAft>
              <a:defRPr sz="1080" b="0">
                <a:solidFill>
                  <a:srgbClr val="58697B"/>
                </a:solidFill>
                <a:latin typeface="Aptos"/>
              </a:defRPr>
            </a:pPr>
            <a:r>
              <a:t>pin does not fit the mug → storage bin</a:t>
            </a:r>
          </a:p>
        </p:txBody>
      </p:sp>
      <p:sp>
        <p:nvSpPr>
          <p:cNvPr id="28" name="Rounded Rectangle 27"/>
          <p:cNvSpPr/>
          <p:nvPr/>
        </p:nvSpPr>
        <p:spPr>
          <a:xfrm>
            <a:off x="4782312" y="3483864"/>
            <a:ext cx="1051560" cy="246888"/>
          </a:xfrm>
          <a:prstGeom prst="roundRect">
            <a:avLst/>
          </a:prstGeom>
          <a:solidFill>
            <a:srgbClr val="FFFFFF"/>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00600" y="3511296"/>
            <a:ext cx="1014984" cy="182880"/>
          </a:xfrm>
          <a:prstGeom prst="rect">
            <a:avLst/>
          </a:prstGeom>
          <a:noFill/>
        </p:spPr>
        <p:txBody>
          <a:bodyPr wrap="square" lIns="0" tIns="0" rIns="0" bIns="0" anchor="t">
            <a:spAutoFit/>
          </a:bodyPr>
          <a:lstStyle/>
          <a:p>
            <a:pPr algn="ctr">
              <a:spcAft>
                <a:spcPts val="300"/>
              </a:spcAft>
              <a:defRPr sz="900" b="1">
                <a:solidFill>
                  <a:srgbClr val="EFA33C"/>
                </a:solidFill>
                <a:latin typeface="Aptos"/>
              </a:defRPr>
            </a:pPr>
            <a:r>
              <a:t>alternative</a:t>
            </a:r>
          </a:p>
        </p:txBody>
      </p:sp>
      <p:sp>
        <p:nvSpPr>
          <p:cNvPr id="30" name="Rounded Rectangle 29"/>
          <p:cNvSpPr/>
          <p:nvPr/>
        </p:nvSpPr>
        <p:spPr>
          <a:xfrm>
            <a:off x="557784" y="4169664"/>
            <a:ext cx="5422392" cy="694944"/>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7784" y="4169664"/>
            <a:ext cx="68580" cy="694944"/>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6" y="4279392"/>
            <a:ext cx="548640" cy="256032"/>
          </a:xfrm>
          <a:prstGeom prst="rect">
            <a:avLst/>
          </a:prstGeom>
          <a:noFill/>
        </p:spPr>
        <p:txBody>
          <a:bodyPr wrap="square" lIns="0" tIns="0" rIns="0" bIns="0" anchor="t">
            <a:spAutoFit/>
          </a:bodyPr>
          <a:lstStyle/>
          <a:p>
            <a:pPr>
              <a:spcAft>
                <a:spcPts val="300"/>
              </a:spcAft>
              <a:defRPr sz="1350" b="1">
                <a:solidFill>
                  <a:srgbClr val="EFA33C"/>
                </a:solidFill>
                <a:latin typeface="Aptos"/>
              </a:defRPr>
            </a:pPr>
            <a:r>
              <a:t>T04</a:t>
            </a:r>
          </a:p>
        </p:txBody>
      </p:sp>
      <p:sp>
        <p:nvSpPr>
          <p:cNvPr id="33" name="TextBox 32"/>
          <p:cNvSpPr txBox="1"/>
          <p:nvPr/>
        </p:nvSpPr>
        <p:spPr>
          <a:xfrm>
            <a:off x="1271016" y="4261104"/>
            <a:ext cx="3291840" cy="256032"/>
          </a:xfrm>
          <a:prstGeom prst="rect">
            <a:avLst/>
          </a:prstGeom>
          <a:noFill/>
        </p:spPr>
        <p:txBody>
          <a:bodyPr wrap="square" lIns="0" tIns="0" rIns="0" bIns="0" anchor="t">
            <a:spAutoFit/>
          </a:bodyPr>
          <a:lstStyle/>
          <a:p>
            <a:pPr>
              <a:spcAft>
                <a:spcPts val="300"/>
              </a:spcAft>
              <a:defRPr sz="1320" b="1">
                <a:solidFill>
                  <a:srgbClr val="19283D"/>
                </a:solidFill>
                <a:latin typeface="Aptos"/>
              </a:defRPr>
            </a:pPr>
            <a:r>
              <a:t>Cup (or mug) on wall cabinet</a:t>
            </a:r>
          </a:p>
        </p:txBody>
      </p:sp>
      <p:sp>
        <p:nvSpPr>
          <p:cNvPr id="34" name="TextBox 33"/>
          <p:cNvSpPr txBox="1"/>
          <p:nvPr/>
        </p:nvSpPr>
        <p:spPr>
          <a:xfrm>
            <a:off x="1271016" y="4553712"/>
            <a:ext cx="4526280" cy="237744"/>
          </a:xfrm>
          <a:prstGeom prst="rect">
            <a:avLst/>
          </a:prstGeom>
          <a:noFill/>
        </p:spPr>
        <p:txBody>
          <a:bodyPr wrap="square" lIns="0" tIns="0" rIns="0" bIns="0" anchor="t">
            <a:spAutoFit/>
          </a:bodyPr>
          <a:lstStyle/>
          <a:p>
            <a:pPr>
              <a:spcAft>
                <a:spcPts val="300"/>
              </a:spcAft>
              <a:defRPr sz="1080" b="0">
                <a:solidFill>
                  <a:srgbClr val="58697B"/>
                </a:solidFill>
                <a:latin typeface="Aptos"/>
              </a:defRPr>
            </a:pPr>
            <a:r>
              <a:t>no cup: count 0, search fails → mug</a:t>
            </a:r>
          </a:p>
        </p:txBody>
      </p:sp>
      <p:sp>
        <p:nvSpPr>
          <p:cNvPr id="35" name="Rounded Rectangle 34"/>
          <p:cNvSpPr/>
          <p:nvPr/>
        </p:nvSpPr>
        <p:spPr>
          <a:xfrm>
            <a:off x="4782312" y="4270248"/>
            <a:ext cx="1051560" cy="246888"/>
          </a:xfrm>
          <a:prstGeom prst="roundRect">
            <a:avLst/>
          </a:prstGeom>
          <a:solidFill>
            <a:srgbClr val="FFFFFF"/>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00600" y="4297680"/>
            <a:ext cx="1014984" cy="182880"/>
          </a:xfrm>
          <a:prstGeom prst="rect">
            <a:avLst/>
          </a:prstGeom>
          <a:noFill/>
        </p:spPr>
        <p:txBody>
          <a:bodyPr wrap="square" lIns="0" tIns="0" rIns="0" bIns="0" anchor="t">
            <a:spAutoFit/>
          </a:bodyPr>
          <a:lstStyle/>
          <a:p>
            <a:pPr algn="ctr">
              <a:spcAft>
                <a:spcPts val="300"/>
              </a:spcAft>
              <a:defRPr sz="900" b="1">
                <a:solidFill>
                  <a:srgbClr val="EFA33C"/>
                </a:solidFill>
                <a:latin typeface="Aptos"/>
              </a:defRPr>
            </a:pPr>
            <a:r>
              <a:t>alternative</a:t>
            </a:r>
          </a:p>
        </p:txBody>
      </p:sp>
      <p:sp>
        <p:nvSpPr>
          <p:cNvPr id="37" name="Rounded Rectangle 36"/>
          <p:cNvSpPr/>
          <p:nvPr/>
        </p:nvSpPr>
        <p:spPr>
          <a:xfrm>
            <a:off x="557784" y="4956048"/>
            <a:ext cx="5422392" cy="694944"/>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57784" y="4956048"/>
            <a:ext cx="68580" cy="694944"/>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2376" y="5065776"/>
            <a:ext cx="548640" cy="256032"/>
          </a:xfrm>
          <a:prstGeom prst="rect">
            <a:avLst/>
          </a:prstGeom>
          <a:noFill/>
        </p:spPr>
        <p:txBody>
          <a:bodyPr wrap="square" lIns="0" tIns="0" rIns="0" bIns="0" anchor="t">
            <a:spAutoFit/>
          </a:bodyPr>
          <a:lstStyle/>
          <a:p>
            <a:pPr>
              <a:spcAft>
                <a:spcPts val="300"/>
              </a:spcAft>
              <a:defRPr sz="1350" b="1">
                <a:solidFill>
                  <a:srgbClr val="EFA33C"/>
                </a:solidFill>
                <a:latin typeface="Aptos"/>
              </a:defRPr>
            </a:pPr>
            <a:r>
              <a:t>T05</a:t>
            </a:r>
          </a:p>
        </p:txBody>
      </p:sp>
      <p:sp>
        <p:nvSpPr>
          <p:cNvPr id="40" name="TextBox 39"/>
          <p:cNvSpPr txBox="1"/>
          <p:nvPr/>
        </p:nvSpPr>
        <p:spPr>
          <a:xfrm>
            <a:off x="1271016" y="5047488"/>
            <a:ext cx="3291840" cy="256032"/>
          </a:xfrm>
          <a:prstGeom prst="rect">
            <a:avLst/>
          </a:prstGeom>
          <a:noFill/>
        </p:spPr>
        <p:txBody>
          <a:bodyPr wrap="square" lIns="0" tIns="0" rIns="0" bIns="0" anchor="t">
            <a:spAutoFit/>
          </a:bodyPr>
          <a:lstStyle/>
          <a:p>
            <a:pPr>
              <a:spcAft>
                <a:spcPts val="300"/>
              </a:spcAft>
              <a:defRPr sz="1320" b="1">
                <a:solidFill>
                  <a:srgbClr val="19283D"/>
                </a:solidFill>
                <a:latin typeface="Aptos"/>
              </a:defRPr>
            </a:pPr>
            <a:r>
              <a:t>Pen (or pencil) to the desk</a:t>
            </a:r>
          </a:p>
        </p:txBody>
      </p:sp>
      <p:sp>
        <p:nvSpPr>
          <p:cNvPr id="41" name="TextBox 40"/>
          <p:cNvSpPr txBox="1"/>
          <p:nvPr/>
        </p:nvSpPr>
        <p:spPr>
          <a:xfrm>
            <a:off x="1271016" y="5340096"/>
            <a:ext cx="4526280" cy="237744"/>
          </a:xfrm>
          <a:prstGeom prst="rect">
            <a:avLst/>
          </a:prstGeom>
          <a:noFill/>
        </p:spPr>
        <p:txBody>
          <a:bodyPr wrap="square" lIns="0" tIns="0" rIns="0" bIns="0" anchor="t">
            <a:spAutoFit/>
          </a:bodyPr>
          <a:lstStyle/>
          <a:p>
            <a:pPr>
              <a:spcAft>
                <a:spcPts val="300"/>
              </a:spcAft>
              <a:defRPr sz="1080" b="0">
                <a:solidFill>
                  <a:srgbClr val="58697B"/>
                </a:solidFill>
                <a:latin typeface="Aptos"/>
              </a:defRPr>
            </a:pPr>
            <a:r>
              <a:t>no pen → pencil (no easy tier)</a:t>
            </a:r>
          </a:p>
        </p:txBody>
      </p:sp>
      <p:sp>
        <p:nvSpPr>
          <p:cNvPr id="42" name="Rounded Rectangle 41"/>
          <p:cNvSpPr/>
          <p:nvPr/>
        </p:nvSpPr>
        <p:spPr>
          <a:xfrm>
            <a:off x="4782312" y="5056632"/>
            <a:ext cx="1051560" cy="246888"/>
          </a:xfrm>
          <a:prstGeom prst="roundRect">
            <a:avLst/>
          </a:prstGeom>
          <a:solidFill>
            <a:srgbClr val="FFFFFF"/>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00600" y="5084064"/>
            <a:ext cx="1014984" cy="182880"/>
          </a:xfrm>
          <a:prstGeom prst="rect">
            <a:avLst/>
          </a:prstGeom>
          <a:noFill/>
        </p:spPr>
        <p:txBody>
          <a:bodyPr wrap="square" lIns="0" tIns="0" rIns="0" bIns="0" anchor="t">
            <a:spAutoFit/>
          </a:bodyPr>
          <a:lstStyle/>
          <a:p>
            <a:pPr algn="ctr">
              <a:spcAft>
                <a:spcPts val="300"/>
              </a:spcAft>
              <a:defRPr sz="900" b="1">
                <a:solidFill>
                  <a:srgbClr val="EFA33C"/>
                </a:solidFill>
                <a:latin typeface="Aptos"/>
              </a:defRPr>
            </a:pPr>
            <a:r>
              <a:t>alternative</a:t>
            </a:r>
          </a:p>
        </p:txBody>
      </p:sp>
      <p:sp>
        <p:nvSpPr>
          <p:cNvPr id="44" name="Rounded Rectangle 43"/>
          <p:cNvSpPr/>
          <p:nvPr/>
        </p:nvSpPr>
        <p:spPr>
          <a:xfrm>
            <a:off x="6291072" y="1810512"/>
            <a:ext cx="5422392" cy="694944"/>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291072" y="1810512"/>
            <a:ext cx="68580" cy="694944"/>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55664" y="1920240"/>
            <a:ext cx="548640" cy="256032"/>
          </a:xfrm>
          <a:prstGeom prst="rect">
            <a:avLst/>
          </a:prstGeom>
          <a:noFill/>
        </p:spPr>
        <p:txBody>
          <a:bodyPr wrap="square" lIns="0" tIns="0" rIns="0" bIns="0" anchor="t">
            <a:spAutoFit/>
          </a:bodyPr>
          <a:lstStyle/>
          <a:p>
            <a:pPr>
              <a:spcAft>
                <a:spcPts val="300"/>
              </a:spcAft>
              <a:defRPr sz="1350" b="1">
                <a:solidFill>
                  <a:srgbClr val="EFA33C"/>
                </a:solidFill>
                <a:latin typeface="Aptos"/>
              </a:defRPr>
            </a:pPr>
            <a:r>
              <a:t>T06</a:t>
            </a:r>
          </a:p>
        </p:txBody>
      </p:sp>
      <p:sp>
        <p:nvSpPr>
          <p:cNvPr id="47" name="TextBox 46"/>
          <p:cNvSpPr txBox="1"/>
          <p:nvPr/>
        </p:nvSpPr>
        <p:spPr>
          <a:xfrm>
            <a:off x="7004304" y="1901952"/>
            <a:ext cx="3291840" cy="256032"/>
          </a:xfrm>
          <a:prstGeom prst="rect">
            <a:avLst/>
          </a:prstGeom>
          <a:noFill/>
        </p:spPr>
        <p:txBody>
          <a:bodyPr wrap="square" lIns="0" tIns="0" rIns="0" bIns="0" anchor="t">
            <a:spAutoFit/>
          </a:bodyPr>
          <a:lstStyle/>
          <a:p>
            <a:pPr>
              <a:spcAft>
                <a:spcPts val="300"/>
              </a:spcAft>
              <a:defRPr sz="1320" b="1">
                <a:solidFill>
                  <a:srgbClr val="19283D"/>
                </a:solidFill>
                <a:latin typeface="Aptos"/>
              </a:defRPr>
            </a:pPr>
            <a:r>
              <a:t>Block on display</a:t>
            </a:r>
          </a:p>
        </p:txBody>
      </p:sp>
      <p:sp>
        <p:nvSpPr>
          <p:cNvPr id="48" name="TextBox 47"/>
          <p:cNvSpPr txBox="1"/>
          <p:nvPr/>
        </p:nvSpPr>
        <p:spPr>
          <a:xfrm>
            <a:off x="7004304" y="2194560"/>
            <a:ext cx="4526280" cy="237744"/>
          </a:xfrm>
          <a:prstGeom prst="rect">
            <a:avLst/>
          </a:prstGeom>
          <a:noFill/>
        </p:spPr>
        <p:txBody>
          <a:bodyPr wrap="square" lIns="0" tIns="0" rIns="0" bIns="0" anchor="t">
            <a:spAutoFit/>
          </a:bodyPr>
          <a:lstStyle/>
          <a:p>
            <a:pPr>
              <a:spcAft>
                <a:spcPts val="300"/>
              </a:spcAft>
              <a:defRPr sz="1080" b="0">
                <a:solidFill>
                  <a:srgbClr val="58697B"/>
                </a:solidFill>
                <a:latin typeface="Aptos"/>
              </a:defRPr>
            </a:pPr>
            <a:r>
              <a:t>cabinet top full: place fails → TV stand</a:t>
            </a:r>
          </a:p>
        </p:txBody>
      </p:sp>
      <p:sp>
        <p:nvSpPr>
          <p:cNvPr id="49" name="Rounded Rectangle 48"/>
          <p:cNvSpPr/>
          <p:nvPr/>
        </p:nvSpPr>
        <p:spPr>
          <a:xfrm>
            <a:off x="10515600" y="1911095"/>
            <a:ext cx="1051560" cy="246888"/>
          </a:xfrm>
          <a:prstGeom prst="roundRect">
            <a:avLst/>
          </a:prstGeom>
          <a:solidFill>
            <a:srgbClr val="FFFFFF"/>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33888" y="1938528"/>
            <a:ext cx="1014984" cy="182880"/>
          </a:xfrm>
          <a:prstGeom prst="rect">
            <a:avLst/>
          </a:prstGeom>
          <a:noFill/>
        </p:spPr>
        <p:txBody>
          <a:bodyPr wrap="square" lIns="0" tIns="0" rIns="0" bIns="0" anchor="t">
            <a:spAutoFit/>
          </a:bodyPr>
          <a:lstStyle/>
          <a:p>
            <a:pPr algn="ctr">
              <a:spcAft>
                <a:spcPts val="300"/>
              </a:spcAft>
              <a:defRPr sz="900" b="1">
                <a:solidFill>
                  <a:srgbClr val="EFA33C"/>
                </a:solidFill>
                <a:latin typeface="Aptos"/>
              </a:defRPr>
            </a:pPr>
            <a:r>
              <a:t>alternative</a:t>
            </a:r>
          </a:p>
        </p:txBody>
      </p:sp>
      <p:sp>
        <p:nvSpPr>
          <p:cNvPr id="51" name="Rounded Rectangle 50"/>
          <p:cNvSpPr/>
          <p:nvPr/>
        </p:nvSpPr>
        <p:spPr>
          <a:xfrm>
            <a:off x="6291072" y="2596896"/>
            <a:ext cx="5422392" cy="694944"/>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291072" y="2596896"/>
            <a:ext cx="68580" cy="694944"/>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55664" y="2706624"/>
            <a:ext cx="548640" cy="256032"/>
          </a:xfrm>
          <a:prstGeom prst="rect">
            <a:avLst/>
          </a:prstGeom>
          <a:noFill/>
        </p:spPr>
        <p:txBody>
          <a:bodyPr wrap="square" lIns="0" tIns="0" rIns="0" bIns="0" anchor="t">
            <a:spAutoFit/>
          </a:bodyPr>
          <a:lstStyle/>
          <a:p>
            <a:pPr>
              <a:spcAft>
                <a:spcPts val="300"/>
              </a:spcAft>
              <a:defRPr sz="1350" b="1">
                <a:solidFill>
                  <a:srgbClr val="EFA33C"/>
                </a:solidFill>
                <a:latin typeface="Aptos"/>
              </a:defRPr>
            </a:pPr>
            <a:r>
              <a:t>T07</a:t>
            </a:r>
          </a:p>
        </p:txBody>
      </p:sp>
      <p:sp>
        <p:nvSpPr>
          <p:cNvPr id="54" name="TextBox 53"/>
          <p:cNvSpPr txBox="1"/>
          <p:nvPr/>
        </p:nvSpPr>
        <p:spPr>
          <a:xfrm>
            <a:off x="7004304" y="2688336"/>
            <a:ext cx="3291840" cy="256032"/>
          </a:xfrm>
          <a:prstGeom prst="rect">
            <a:avLst/>
          </a:prstGeom>
          <a:noFill/>
        </p:spPr>
        <p:txBody>
          <a:bodyPr wrap="square" lIns="0" tIns="0" rIns="0" bIns="0" anchor="t">
            <a:spAutoFit/>
          </a:bodyPr>
          <a:lstStyle/>
          <a:p>
            <a:pPr>
              <a:spcAft>
                <a:spcPts val="300"/>
              </a:spcAft>
              <a:defRPr sz="1320" b="1">
                <a:solidFill>
                  <a:srgbClr val="19283D"/>
                </a:solidFill>
                <a:latin typeface="Aptos"/>
              </a:defRPr>
            </a:pPr>
            <a:r>
              <a:t>Warm oatmeal ≥ 40 °C</a:t>
            </a:r>
          </a:p>
        </p:txBody>
      </p:sp>
      <p:sp>
        <p:nvSpPr>
          <p:cNvPr id="55" name="TextBox 54"/>
          <p:cNvSpPr txBox="1"/>
          <p:nvPr/>
        </p:nvSpPr>
        <p:spPr>
          <a:xfrm>
            <a:off x="7004304" y="2980944"/>
            <a:ext cx="4526280" cy="237744"/>
          </a:xfrm>
          <a:prstGeom prst="rect">
            <a:avLst/>
          </a:prstGeom>
          <a:noFill/>
        </p:spPr>
        <p:txBody>
          <a:bodyPr wrap="square" lIns="0" tIns="0" rIns="0" bIns="0" anchor="t">
            <a:spAutoFit/>
          </a:bodyPr>
          <a:lstStyle/>
          <a:p>
            <a:pPr>
              <a:spcAft>
                <a:spcPts val="300"/>
              </a:spcAft>
              <a:defRPr sz="1080" b="0">
                <a:solidFill>
                  <a:srgbClr val="58697B"/>
                </a:solidFill>
                <a:latin typeface="Aptos"/>
              </a:defRPr>
            </a:pPr>
            <a:r>
              <a:t>microwave does not heat → stove</a:t>
            </a:r>
          </a:p>
        </p:txBody>
      </p:sp>
      <p:sp>
        <p:nvSpPr>
          <p:cNvPr id="56" name="Rounded Rectangle 55"/>
          <p:cNvSpPr/>
          <p:nvPr/>
        </p:nvSpPr>
        <p:spPr>
          <a:xfrm>
            <a:off x="10515600" y="2697479"/>
            <a:ext cx="1051560" cy="246888"/>
          </a:xfrm>
          <a:prstGeom prst="roundRect">
            <a:avLst/>
          </a:prstGeom>
          <a:solidFill>
            <a:srgbClr val="FFFFFF"/>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33888" y="2724912"/>
            <a:ext cx="1014984" cy="182880"/>
          </a:xfrm>
          <a:prstGeom prst="rect">
            <a:avLst/>
          </a:prstGeom>
          <a:noFill/>
        </p:spPr>
        <p:txBody>
          <a:bodyPr wrap="square" lIns="0" tIns="0" rIns="0" bIns="0" anchor="t">
            <a:spAutoFit/>
          </a:bodyPr>
          <a:lstStyle/>
          <a:p>
            <a:pPr algn="ctr">
              <a:spcAft>
                <a:spcPts val="300"/>
              </a:spcAft>
              <a:defRPr sz="900" b="1">
                <a:solidFill>
                  <a:srgbClr val="EFA33C"/>
                </a:solidFill>
                <a:latin typeface="Aptos"/>
              </a:defRPr>
            </a:pPr>
            <a:r>
              <a:t>alternative</a:t>
            </a:r>
          </a:p>
        </p:txBody>
      </p:sp>
      <p:sp>
        <p:nvSpPr>
          <p:cNvPr id="58" name="Rounded Rectangle 57"/>
          <p:cNvSpPr/>
          <p:nvPr/>
        </p:nvSpPr>
        <p:spPr>
          <a:xfrm>
            <a:off x="6291072" y="3383280"/>
            <a:ext cx="5422392" cy="694944"/>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91072" y="3383280"/>
            <a:ext cx="68580" cy="694944"/>
          </a:xfrm>
          <a:prstGeom prst="rect">
            <a:avLst/>
          </a:prstGeom>
          <a:solidFill>
            <a:srgbClr val="2468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55664" y="3493008"/>
            <a:ext cx="548640" cy="256032"/>
          </a:xfrm>
          <a:prstGeom prst="rect">
            <a:avLst/>
          </a:prstGeom>
          <a:noFill/>
        </p:spPr>
        <p:txBody>
          <a:bodyPr wrap="square" lIns="0" tIns="0" rIns="0" bIns="0" anchor="t">
            <a:spAutoFit/>
          </a:bodyPr>
          <a:lstStyle/>
          <a:p>
            <a:pPr>
              <a:spcAft>
                <a:spcPts val="300"/>
              </a:spcAft>
              <a:defRPr sz="1350" b="1">
                <a:solidFill>
                  <a:srgbClr val="2468BC"/>
                </a:solidFill>
                <a:latin typeface="Aptos"/>
              </a:defRPr>
            </a:pPr>
            <a:r>
              <a:t>T08</a:t>
            </a:r>
          </a:p>
        </p:txBody>
      </p:sp>
      <p:sp>
        <p:nvSpPr>
          <p:cNvPr id="61" name="TextBox 60"/>
          <p:cNvSpPr txBox="1"/>
          <p:nvPr/>
        </p:nvSpPr>
        <p:spPr>
          <a:xfrm>
            <a:off x="7004304" y="3474720"/>
            <a:ext cx="3291840" cy="256032"/>
          </a:xfrm>
          <a:prstGeom prst="rect">
            <a:avLst/>
          </a:prstGeom>
          <a:noFill/>
        </p:spPr>
        <p:txBody>
          <a:bodyPr wrap="square" lIns="0" tIns="0" rIns="0" bIns="0" anchor="t">
            <a:spAutoFit/>
          </a:bodyPr>
          <a:lstStyle/>
          <a:p>
            <a:pPr>
              <a:spcAft>
                <a:spcPts val="300"/>
              </a:spcAft>
              <a:defRPr sz="1320" b="1">
                <a:solidFill>
                  <a:srgbClr val="19283D"/>
                </a:solidFill>
                <a:latin typeface="Aptos"/>
              </a:defRPr>
            </a:pPr>
            <a:r>
              <a:t>Wipe the island</a:t>
            </a:r>
          </a:p>
        </p:txBody>
      </p:sp>
      <p:sp>
        <p:nvSpPr>
          <p:cNvPr id="62" name="TextBox 61"/>
          <p:cNvSpPr txBox="1"/>
          <p:nvPr/>
        </p:nvSpPr>
        <p:spPr>
          <a:xfrm>
            <a:off x="7004304" y="3767328"/>
            <a:ext cx="4526280" cy="237744"/>
          </a:xfrm>
          <a:prstGeom prst="rect">
            <a:avLst/>
          </a:prstGeom>
          <a:noFill/>
        </p:spPr>
        <p:txBody>
          <a:bodyPr wrap="square" lIns="0" tIns="0" rIns="0" bIns="0" anchor="t">
            <a:spAutoFit/>
          </a:bodyPr>
          <a:lstStyle/>
          <a:p>
            <a:pPr>
              <a:spcAft>
                <a:spcPts val="300"/>
              </a:spcAft>
              <a:defRPr sz="1080" b="0">
                <a:solidFill>
                  <a:srgbClr val="58697B"/>
                </a:solidFill>
                <a:latin typeface="Aptos"/>
              </a:defRPr>
            </a:pPr>
            <a:r>
              <a:t>sponge elsewhere → fetch, approach, wipe</a:t>
            </a:r>
          </a:p>
        </p:txBody>
      </p:sp>
      <p:sp>
        <p:nvSpPr>
          <p:cNvPr id="63" name="Rounded Rectangle 62"/>
          <p:cNvSpPr/>
          <p:nvPr/>
        </p:nvSpPr>
        <p:spPr>
          <a:xfrm>
            <a:off x="10515600" y="3483864"/>
            <a:ext cx="1051560" cy="246888"/>
          </a:xfrm>
          <a:prstGeom prst="roundRect">
            <a:avLst/>
          </a:prstGeom>
          <a:solidFill>
            <a:srgbClr val="FFFFFF"/>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533888" y="3511296"/>
            <a:ext cx="1014984" cy="182880"/>
          </a:xfrm>
          <a:prstGeom prst="rect">
            <a:avLst/>
          </a:prstGeom>
          <a:noFill/>
        </p:spPr>
        <p:txBody>
          <a:bodyPr wrap="square" lIns="0" tIns="0" rIns="0" bIns="0" anchor="t">
            <a:spAutoFit/>
          </a:bodyPr>
          <a:lstStyle/>
          <a:p>
            <a:pPr algn="ctr">
              <a:spcAft>
                <a:spcPts val="300"/>
              </a:spcAft>
              <a:defRPr sz="900" b="1">
                <a:solidFill>
                  <a:srgbClr val="2468BC"/>
                </a:solidFill>
                <a:latin typeface="Aptos"/>
              </a:defRPr>
            </a:pPr>
            <a:r>
              <a:t>search</a:t>
            </a:r>
          </a:p>
        </p:txBody>
      </p:sp>
      <p:sp>
        <p:nvSpPr>
          <p:cNvPr id="65" name="Rounded Rectangle 64"/>
          <p:cNvSpPr/>
          <p:nvPr/>
        </p:nvSpPr>
        <p:spPr>
          <a:xfrm>
            <a:off x="6291072" y="4169664"/>
            <a:ext cx="5422392" cy="694944"/>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91072" y="4169664"/>
            <a:ext cx="68580" cy="694944"/>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55664" y="4279392"/>
            <a:ext cx="548640" cy="256032"/>
          </a:xfrm>
          <a:prstGeom prst="rect">
            <a:avLst/>
          </a:prstGeom>
          <a:noFill/>
        </p:spPr>
        <p:txBody>
          <a:bodyPr wrap="square" lIns="0" tIns="0" rIns="0" bIns="0" anchor="t">
            <a:spAutoFit/>
          </a:bodyPr>
          <a:lstStyle/>
          <a:p>
            <a:pPr>
              <a:spcAft>
                <a:spcPts val="300"/>
              </a:spcAft>
              <a:defRPr sz="1350" b="1">
                <a:solidFill>
                  <a:srgbClr val="008F93"/>
                </a:solidFill>
                <a:latin typeface="Aptos"/>
              </a:defRPr>
            </a:pPr>
            <a:r>
              <a:t>T09</a:t>
            </a:r>
          </a:p>
        </p:txBody>
      </p:sp>
      <p:sp>
        <p:nvSpPr>
          <p:cNvPr id="68" name="TextBox 67"/>
          <p:cNvSpPr txBox="1"/>
          <p:nvPr/>
        </p:nvSpPr>
        <p:spPr>
          <a:xfrm>
            <a:off x="7004304" y="4261104"/>
            <a:ext cx="3291840" cy="256032"/>
          </a:xfrm>
          <a:prstGeom prst="rect">
            <a:avLst/>
          </a:prstGeom>
          <a:noFill/>
        </p:spPr>
        <p:txBody>
          <a:bodyPr wrap="square" lIns="0" tIns="0" rIns="0" bIns="0" anchor="t">
            <a:spAutoFit/>
          </a:bodyPr>
          <a:lstStyle/>
          <a:p>
            <a:pPr>
              <a:spcAft>
                <a:spcPts val="300"/>
              </a:spcAft>
              <a:defRPr sz="1320" b="1">
                <a:solidFill>
                  <a:srgbClr val="19283D"/>
                </a:solidFill>
                <a:latin typeface="Aptos"/>
              </a:defRPr>
            </a:pPr>
            <a:r>
              <a:t>Tomato soup</a:t>
            </a:r>
          </a:p>
        </p:txBody>
      </p:sp>
      <p:sp>
        <p:nvSpPr>
          <p:cNvPr id="69" name="TextBox 68"/>
          <p:cNvSpPr txBox="1"/>
          <p:nvPr/>
        </p:nvSpPr>
        <p:spPr>
          <a:xfrm>
            <a:off x="7004304" y="4553712"/>
            <a:ext cx="4526280" cy="237744"/>
          </a:xfrm>
          <a:prstGeom prst="rect">
            <a:avLst/>
          </a:prstGeom>
          <a:noFill/>
        </p:spPr>
        <p:txBody>
          <a:bodyPr wrap="square" lIns="0" tIns="0" rIns="0" bIns="0" anchor="t">
            <a:spAutoFit/>
          </a:bodyPr>
          <a:lstStyle/>
          <a:p>
            <a:pPr>
              <a:spcAft>
                <a:spcPts val="300"/>
              </a:spcAft>
              <a:defRPr sz="1080" b="0">
                <a:solidFill>
                  <a:srgbClr val="58697B"/>
                </a:solidFill>
                <a:latin typeface="Aptos"/>
              </a:defRPr>
            </a:pPr>
            <a:r>
              <a:t>lid on: collect refused → uncover → collect</a:t>
            </a:r>
          </a:p>
        </p:txBody>
      </p:sp>
      <p:sp>
        <p:nvSpPr>
          <p:cNvPr id="70" name="Rounded Rectangle 69"/>
          <p:cNvSpPr/>
          <p:nvPr/>
        </p:nvSpPr>
        <p:spPr>
          <a:xfrm>
            <a:off x="10515600" y="4270248"/>
            <a:ext cx="1051560" cy="246888"/>
          </a:xfrm>
          <a:prstGeom prst="roundRect">
            <a:avLst/>
          </a:prstGeom>
          <a:solidFill>
            <a:srgbClr val="FFFFFF"/>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533888" y="4297680"/>
            <a:ext cx="1014984" cy="182880"/>
          </a:xfrm>
          <a:prstGeom prst="rect">
            <a:avLst/>
          </a:prstGeom>
          <a:noFill/>
        </p:spPr>
        <p:txBody>
          <a:bodyPr wrap="square" lIns="0" tIns="0" rIns="0" bIns="0" anchor="t">
            <a:spAutoFit/>
          </a:bodyPr>
          <a:lstStyle/>
          <a:p>
            <a:pPr algn="ctr">
              <a:spcAft>
                <a:spcPts val="300"/>
              </a:spcAft>
              <a:defRPr sz="900" b="1">
                <a:solidFill>
                  <a:srgbClr val="008F93"/>
                </a:solidFill>
                <a:latin typeface="Aptos"/>
              </a:defRPr>
            </a:pPr>
            <a:r>
              <a:t>fallback</a:t>
            </a:r>
          </a:p>
        </p:txBody>
      </p:sp>
      <p:sp>
        <p:nvSpPr>
          <p:cNvPr id="72" name="Rounded Rectangle 71"/>
          <p:cNvSpPr/>
          <p:nvPr/>
        </p:nvSpPr>
        <p:spPr>
          <a:xfrm>
            <a:off x="6291072" y="4956048"/>
            <a:ext cx="5422392" cy="694944"/>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91072" y="4956048"/>
            <a:ext cx="68580" cy="694944"/>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455664" y="5065776"/>
            <a:ext cx="548640" cy="256032"/>
          </a:xfrm>
          <a:prstGeom prst="rect">
            <a:avLst/>
          </a:prstGeom>
          <a:noFill/>
        </p:spPr>
        <p:txBody>
          <a:bodyPr wrap="square" lIns="0" tIns="0" rIns="0" bIns="0" anchor="t">
            <a:spAutoFit/>
          </a:bodyPr>
          <a:lstStyle/>
          <a:p>
            <a:pPr>
              <a:spcAft>
                <a:spcPts val="300"/>
              </a:spcAft>
              <a:defRPr sz="1350" b="1">
                <a:solidFill>
                  <a:srgbClr val="008F93"/>
                </a:solidFill>
                <a:latin typeface="Aptos"/>
              </a:defRPr>
            </a:pPr>
            <a:r>
              <a:t>T10</a:t>
            </a:r>
          </a:p>
        </p:txBody>
      </p:sp>
      <p:sp>
        <p:nvSpPr>
          <p:cNvPr id="75" name="TextBox 74"/>
          <p:cNvSpPr txBox="1"/>
          <p:nvPr/>
        </p:nvSpPr>
        <p:spPr>
          <a:xfrm>
            <a:off x="7004304" y="5047488"/>
            <a:ext cx="3291840" cy="256032"/>
          </a:xfrm>
          <a:prstGeom prst="rect">
            <a:avLst/>
          </a:prstGeom>
          <a:noFill/>
        </p:spPr>
        <p:txBody>
          <a:bodyPr wrap="square" lIns="0" tIns="0" rIns="0" bIns="0" anchor="t">
            <a:spAutoFit/>
          </a:bodyPr>
          <a:lstStyle/>
          <a:p>
            <a:pPr>
              <a:spcAft>
                <a:spcPts val="300"/>
              </a:spcAft>
              <a:defRPr sz="1320" b="1">
                <a:solidFill>
                  <a:srgbClr val="19283D"/>
                </a:solidFill>
                <a:latin typeface="Aptos"/>
              </a:defRPr>
            </a:pPr>
            <a:r>
              <a:t>Can into the trash</a:t>
            </a:r>
          </a:p>
        </p:txBody>
      </p:sp>
      <p:sp>
        <p:nvSpPr>
          <p:cNvPr id="76" name="TextBox 75"/>
          <p:cNvSpPr txBox="1"/>
          <p:nvPr/>
        </p:nvSpPr>
        <p:spPr>
          <a:xfrm>
            <a:off x="7004304" y="5340096"/>
            <a:ext cx="4526280" cy="237744"/>
          </a:xfrm>
          <a:prstGeom prst="rect">
            <a:avLst/>
          </a:prstGeom>
          <a:noFill/>
        </p:spPr>
        <p:txBody>
          <a:bodyPr wrap="square" lIns="0" tIns="0" rIns="0" bIns="0" anchor="t">
            <a:spAutoFit/>
          </a:bodyPr>
          <a:lstStyle/>
          <a:p>
            <a:pPr>
              <a:spcAft>
                <a:spcPts val="300"/>
              </a:spcAft>
              <a:defRPr sz="1080" b="0">
                <a:solidFill>
                  <a:srgbClr val="58697B"/>
                </a:solidFill>
                <a:latin typeface="Aptos"/>
              </a:defRPr>
            </a:pPr>
            <a:r>
              <a:t>can not observed: pick refused → search</a:t>
            </a:r>
          </a:p>
        </p:txBody>
      </p:sp>
      <p:sp>
        <p:nvSpPr>
          <p:cNvPr id="77" name="Rounded Rectangle 76"/>
          <p:cNvSpPr/>
          <p:nvPr/>
        </p:nvSpPr>
        <p:spPr>
          <a:xfrm>
            <a:off x="10515600" y="5056632"/>
            <a:ext cx="1051560" cy="246888"/>
          </a:xfrm>
          <a:prstGeom prst="roundRect">
            <a:avLst/>
          </a:prstGeom>
          <a:solidFill>
            <a:srgbClr val="FFFFFF"/>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533888" y="5084064"/>
            <a:ext cx="1014984" cy="182880"/>
          </a:xfrm>
          <a:prstGeom prst="rect">
            <a:avLst/>
          </a:prstGeom>
          <a:noFill/>
        </p:spPr>
        <p:txBody>
          <a:bodyPr wrap="square" lIns="0" tIns="0" rIns="0" bIns="0" anchor="t">
            <a:spAutoFit/>
          </a:bodyPr>
          <a:lstStyle/>
          <a:p>
            <a:pPr algn="ctr">
              <a:spcAft>
                <a:spcPts val="300"/>
              </a:spcAft>
              <a:defRPr sz="900" b="1">
                <a:solidFill>
                  <a:srgbClr val="008F93"/>
                </a:solidFill>
                <a:latin typeface="Aptos"/>
              </a:defRPr>
            </a:pPr>
            <a:r>
              <a:t>fallback</a:t>
            </a:r>
          </a:p>
        </p:txBody>
      </p:sp>
      <p:sp>
        <p:nvSpPr>
          <p:cNvPr id="79" name="TextBox 78"/>
          <p:cNvSpPr txBox="1"/>
          <p:nvPr/>
        </p:nvSpPr>
        <p:spPr>
          <a:xfrm>
            <a:off x="576072" y="5806440"/>
            <a:ext cx="11064240" cy="548640"/>
          </a:xfrm>
          <a:prstGeom prst="rect">
            <a:avLst/>
          </a:prstGeom>
          <a:noFill/>
        </p:spPr>
        <p:txBody>
          <a:bodyPr wrap="square" lIns="0" tIns="0" rIns="0" bIns="0" anchor="t">
            <a:spAutoFit/>
          </a:bodyPr>
          <a:lstStyle/>
          <a:p>
            <a:pPr>
              <a:spcAft>
                <a:spcPts val="300"/>
              </a:spcAft>
              <a:defRPr sz="1100" b="0">
                <a:solidFill>
                  <a:srgbClr val="58697B"/>
                </a:solidFill>
                <a:latin typeface="Aptos"/>
              </a:defRPr>
            </a:pPr>
            <a:r>
              <a:t>Fallback: a real failure, an auxiliary skill repairs the state, the same action is retried.   Alternative: another object, skill or destination reaches the same goal.   29 task × tier combinations + 21 single-skill probes.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210312"/>
          </a:xfrm>
          <a:prstGeom prst="rect">
            <a:avLst/>
          </a:prstGeom>
          <a:noFill/>
        </p:spPr>
        <p:txBody>
          <a:bodyPr wrap="square" lIns="0" tIns="0" rIns="0" bIns="0" anchor="t">
            <a:spAutoFit/>
          </a:bodyPr>
          <a:lstStyle/>
          <a:p>
            <a:pPr>
              <a:spcAft>
                <a:spcPts val="300"/>
              </a:spcAft>
              <a:defRPr sz="1000" b="1">
                <a:solidFill>
                  <a:srgbClr val="008F93"/>
                </a:solidFill>
                <a:latin typeface="Aptos"/>
              </a:defRPr>
            </a:pPr>
            <a:r>
              <a:t>TASK DEMO</a:t>
            </a:r>
          </a:p>
        </p:txBody>
      </p:sp>
      <p:sp>
        <p:nvSpPr>
          <p:cNvPr id="4" name="TextBox 3"/>
          <p:cNvSpPr txBox="1"/>
          <p:nvPr/>
        </p:nvSpPr>
        <p:spPr>
          <a:xfrm>
            <a:off x="502920" y="585216"/>
            <a:ext cx="11018520" cy="685800"/>
          </a:xfrm>
          <a:prstGeom prst="rect">
            <a:avLst/>
          </a:prstGeom>
          <a:noFill/>
        </p:spPr>
        <p:txBody>
          <a:bodyPr wrap="square" lIns="0" tIns="0" rIns="0" bIns="0" anchor="t">
            <a:spAutoFit/>
          </a:bodyPr>
          <a:lstStyle/>
          <a:p>
            <a:pPr>
              <a:spcAft>
                <a:spcPts val="300"/>
              </a:spcAft>
              <a:defRPr sz="2800" b="1">
                <a:solidFill>
                  <a:srgbClr val="19283D"/>
                </a:solidFill>
                <a:latin typeface="Aptos"/>
              </a:defRPr>
            </a:pPr>
            <a:r>
              <a:t>Example: T01 fallback, seen from the robot</a:t>
            </a:r>
          </a:p>
        </p:txBody>
      </p:sp>
      <p:sp>
        <p:nvSpPr>
          <p:cNvPr id="5" name="TextBox 4"/>
          <p:cNvSpPr txBox="1"/>
          <p:nvPr/>
        </p:nvSpPr>
        <p:spPr>
          <a:xfrm>
            <a:off x="521207" y="1261872"/>
            <a:ext cx="10972800" cy="393192"/>
          </a:xfrm>
          <a:prstGeom prst="rect">
            <a:avLst/>
          </a:prstGeom>
          <a:noFill/>
        </p:spPr>
        <p:txBody>
          <a:bodyPr wrap="square" lIns="0" tIns="0" rIns="0" bIns="0" anchor="t">
            <a:spAutoFit/>
          </a:bodyPr>
          <a:lstStyle/>
          <a:p>
            <a:pPr>
              <a:spcAft>
                <a:spcPts val="300"/>
              </a:spcAft>
              <a:defRPr sz="1250" b="0">
                <a:solidFill>
                  <a:srgbClr val="58697B"/>
                </a:solidFill>
                <a:latin typeface="Aptos"/>
              </a:defRPr>
            </a:pPr>
            <a:r>
              <a:t>Medium tier: the book lies flat, with no overhang to pinch. Frames from the head camera after each call.</a:t>
            </a:r>
          </a:p>
        </p:txBody>
      </p:sp>
      <p:sp>
        <p:nvSpPr>
          <p:cNvPr id="6" name="Rectangle 5"/>
          <p:cNvSpPr/>
          <p:nvPr/>
        </p:nvSpPr>
        <p:spPr>
          <a:xfrm>
            <a:off x="502920" y="6473952"/>
            <a:ext cx="11183112" cy="10972"/>
          </a:xfrm>
          <a:prstGeom prst="rect">
            <a:avLst/>
          </a:prstGeom>
          <a:solidFill>
            <a:srgbClr val="DB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6519672"/>
            <a:ext cx="7315200" cy="164592"/>
          </a:xfrm>
          <a:prstGeom prst="rect">
            <a:avLst/>
          </a:prstGeom>
          <a:noFill/>
        </p:spPr>
        <p:txBody>
          <a:bodyPr wrap="square" lIns="0" tIns="0" rIns="0" bIns="0" anchor="t">
            <a:spAutoFit/>
          </a:bodyPr>
          <a:lstStyle/>
          <a:p>
            <a:pPr>
              <a:spcAft>
                <a:spcPts val="300"/>
              </a:spcAft>
              <a:defRPr sz="850" b="0">
                <a:solidFill>
                  <a:srgbClr val="58697B"/>
                </a:solidFill>
                <a:latin typeface="Aptos"/>
              </a:defRPr>
            </a:pPr>
            <a:r>
              <a:t>ZenoBench  ·  CMU Agentic Library</a:t>
            </a:r>
          </a:p>
        </p:txBody>
      </p:sp>
      <p:sp>
        <p:nvSpPr>
          <p:cNvPr id="8" name="TextBox 7"/>
          <p:cNvSpPr txBox="1"/>
          <p:nvPr/>
        </p:nvSpPr>
        <p:spPr>
          <a:xfrm>
            <a:off x="11100816" y="6510528"/>
            <a:ext cx="566928" cy="182880"/>
          </a:xfrm>
          <a:prstGeom prst="rect">
            <a:avLst/>
          </a:prstGeom>
          <a:noFill/>
        </p:spPr>
        <p:txBody>
          <a:bodyPr wrap="square" lIns="0" tIns="0" rIns="0" bIns="0" anchor="t">
            <a:spAutoFit/>
          </a:bodyPr>
          <a:lstStyle/>
          <a:p>
            <a:pPr algn="r">
              <a:spcAft>
                <a:spcPts val="300"/>
              </a:spcAft>
              <a:defRPr sz="850" b="0">
                <a:solidFill>
                  <a:srgbClr val="58697B"/>
                </a:solidFill>
                <a:latin typeface="Aptos"/>
              </a:defRPr>
            </a:pPr>
            <a:r>
              <a:t>14 / 20</a:t>
            </a:r>
          </a:p>
        </p:txBody>
      </p:sp>
      <p:sp>
        <p:nvSpPr>
          <p:cNvPr id="9" name="Rounded Rectangle 8"/>
          <p:cNvSpPr/>
          <p:nvPr/>
        </p:nvSpPr>
        <p:spPr>
          <a:xfrm>
            <a:off x="530352" y="1810512"/>
            <a:ext cx="2670048" cy="3182112"/>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ench_t01_navigate.jpg"/>
          <p:cNvPicPr>
            <a:picLocks noChangeAspect="1"/>
          </p:cNvPicPr>
          <p:nvPr/>
        </p:nvPicPr>
        <p:blipFill>
          <a:blip r:embed="rId1"/>
          <a:srcRect/>
          <a:stretch>
            <a:fillRect/>
          </a:stretch>
        </p:blipFill>
        <p:spPr>
          <a:xfrm>
            <a:off x="603503" y="1883664"/>
            <a:ext cx="2523744" cy="1892807"/>
          </a:xfrm>
          <a:prstGeom prst="rect">
            <a:avLst/>
          </a:prstGeom>
        </p:spPr>
      </p:pic>
      <p:sp>
        <p:nvSpPr>
          <p:cNvPr id="11" name="Rectangle 10"/>
          <p:cNvSpPr/>
          <p:nvPr/>
        </p:nvSpPr>
        <p:spPr>
          <a:xfrm>
            <a:off x="603503" y="3840480"/>
            <a:ext cx="2523744" cy="64008"/>
          </a:xfrm>
          <a:prstGeom prst="rect">
            <a:avLst/>
          </a:prstGeom>
          <a:solidFill>
            <a:srgbClr val="2468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4041648"/>
            <a:ext cx="2395728" cy="329184"/>
          </a:xfrm>
          <a:prstGeom prst="rect">
            <a:avLst/>
          </a:prstGeom>
          <a:noFill/>
        </p:spPr>
        <p:txBody>
          <a:bodyPr wrap="square" lIns="0" tIns="0" rIns="0" bIns="0" anchor="t">
            <a:spAutoFit/>
          </a:bodyPr>
          <a:lstStyle/>
          <a:p>
            <a:pPr>
              <a:spcAft>
                <a:spcPts val="300"/>
              </a:spcAft>
              <a:defRPr sz="1400" b="1">
                <a:solidFill>
                  <a:srgbClr val="19283D"/>
                </a:solidFill>
                <a:latin typeface="Aptos"/>
              </a:defRPr>
            </a:pPr>
            <a:r>
              <a:t>navigate</a:t>
            </a:r>
          </a:p>
        </p:txBody>
      </p:sp>
      <p:sp>
        <p:nvSpPr>
          <p:cNvPr id="13" name="TextBox 12"/>
          <p:cNvSpPr txBox="1"/>
          <p:nvPr/>
        </p:nvSpPr>
        <p:spPr>
          <a:xfrm>
            <a:off x="694944" y="4443984"/>
            <a:ext cx="2395728" cy="457200"/>
          </a:xfrm>
          <a:prstGeom prst="rect">
            <a:avLst/>
          </a:prstGeom>
          <a:noFill/>
        </p:spPr>
        <p:txBody>
          <a:bodyPr wrap="square" lIns="0" tIns="0" rIns="0" bIns="0" anchor="t">
            <a:spAutoFit/>
          </a:bodyPr>
          <a:lstStyle/>
          <a:p>
            <a:pPr>
              <a:spcAft>
                <a:spcPts val="300"/>
              </a:spcAft>
              <a:defRPr sz="1150" b="0">
                <a:solidFill>
                  <a:srgbClr val="58697B"/>
                </a:solidFill>
                <a:latin typeface="Aptos"/>
              </a:defRPr>
            </a:pPr>
            <a:r>
              <a:t>book flat on the island</a:t>
            </a:r>
          </a:p>
        </p:txBody>
      </p:sp>
      <p:sp>
        <p:nvSpPr>
          <p:cNvPr id="14" name="TextBox 13"/>
          <p:cNvSpPr txBox="1"/>
          <p:nvPr/>
        </p:nvSpPr>
        <p:spPr>
          <a:xfrm>
            <a:off x="3209544" y="2606040"/>
            <a:ext cx="228600" cy="356616"/>
          </a:xfrm>
          <a:prstGeom prst="rect">
            <a:avLst/>
          </a:prstGeom>
          <a:noFill/>
        </p:spPr>
        <p:txBody>
          <a:bodyPr wrap="square" lIns="0" tIns="0" rIns="0" bIns="0" anchor="t">
            <a:spAutoFit/>
          </a:bodyPr>
          <a:lstStyle/>
          <a:p>
            <a:pPr>
              <a:spcAft>
                <a:spcPts val="300"/>
              </a:spcAft>
              <a:defRPr sz="2000" b="1">
                <a:solidFill>
                  <a:srgbClr val="2468BC"/>
                </a:solidFill>
                <a:latin typeface="Aptos"/>
              </a:defRPr>
            </a:pPr>
            <a:r>
              <a:t>→</a:t>
            </a:r>
          </a:p>
        </p:txBody>
      </p:sp>
      <p:sp>
        <p:nvSpPr>
          <p:cNvPr id="15" name="Rounded Rectangle 14"/>
          <p:cNvSpPr/>
          <p:nvPr/>
        </p:nvSpPr>
        <p:spPr>
          <a:xfrm>
            <a:off x="3410712" y="1810512"/>
            <a:ext cx="2670048" cy="3182112"/>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bench_t01_pick_fail.jpg"/>
          <p:cNvPicPr>
            <a:picLocks noChangeAspect="1"/>
          </p:cNvPicPr>
          <p:nvPr/>
        </p:nvPicPr>
        <p:blipFill>
          <a:blip r:embed="rId2"/>
          <a:srcRect/>
          <a:stretch>
            <a:fillRect/>
          </a:stretch>
        </p:blipFill>
        <p:spPr>
          <a:xfrm>
            <a:off x="3483864" y="1883664"/>
            <a:ext cx="2523744" cy="1892807"/>
          </a:xfrm>
          <a:prstGeom prst="rect">
            <a:avLst/>
          </a:prstGeom>
        </p:spPr>
      </p:pic>
      <p:sp>
        <p:nvSpPr>
          <p:cNvPr id="17" name="Rectangle 16"/>
          <p:cNvSpPr/>
          <p:nvPr/>
        </p:nvSpPr>
        <p:spPr>
          <a:xfrm>
            <a:off x="3483864" y="3840480"/>
            <a:ext cx="2523744" cy="64008"/>
          </a:xfrm>
          <a:prstGeom prst="rect">
            <a:avLst/>
          </a:prstGeom>
          <a:solidFill>
            <a:srgbClr val="C44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75304" y="4041648"/>
            <a:ext cx="2395728" cy="329184"/>
          </a:xfrm>
          <a:prstGeom prst="rect">
            <a:avLst/>
          </a:prstGeom>
          <a:noFill/>
        </p:spPr>
        <p:txBody>
          <a:bodyPr wrap="square" lIns="0" tIns="0" rIns="0" bIns="0" anchor="t">
            <a:spAutoFit/>
          </a:bodyPr>
          <a:lstStyle/>
          <a:p>
            <a:pPr>
              <a:spcAft>
                <a:spcPts val="300"/>
              </a:spcAft>
              <a:defRPr sz="1400" b="1">
                <a:solidFill>
                  <a:srgbClr val="19283D"/>
                </a:solidFill>
                <a:latin typeface="Aptos"/>
              </a:defRPr>
            </a:pPr>
            <a:r>
              <a:t>pick → POLICY_FAILED</a:t>
            </a:r>
          </a:p>
        </p:txBody>
      </p:sp>
      <p:sp>
        <p:nvSpPr>
          <p:cNvPr id="19" name="TextBox 18"/>
          <p:cNvSpPr txBox="1"/>
          <p:nvPr/>
        </p:nvSpPr>
        <p:spPr>
          <a:xfrm>
            <a:off x="3575304" y="4443984"/>
            <a:ext cx="2395728" cy="457200"/>
          </a:xfrm>
          <a:prstGeom prst="rect">
            <a:avLst/>
          </a:prstGeom>
          <a:noFill/>
        </p:spPr>
        <p:txBody>
          <a:bodyPr wrap="square" lIns="0" tIns="0" rIns="0" bIns="0" anchor="t">
            <a:spAutoFit/>
          </a:bodyPr>
          <a:lstStyle/>
          <a:p>
            <a:pPr>
              <a:spcAft>
                <a:spcPts val="300"/>
              </a:spcAft>
              <a:defRPr sz="1150" b="0">
                <a:solidFill>
                  <a:srgbClr val="58697B"/>
                </a:solidFill>
                <a:latin typeface="Aptos"/>
              </a:defRPr>
            </a:pPr>
            <a:r>
              <a:t>edge pinch: not held (lift 0.000 m)</a:t>
            </a:r>
          </a:p>
        </p:txBody>
      </p:sp>
      <p:sp>
        <p:nvSpPr>
          <p:cNvPr id="20" name="TextBox 19"/>
          <p:cNvSpPr txBox="1"/>
          <p:nvPr/>
        </p:nvSpPr>
        <p:spPr>
          <a:xfrm>
            <a:off x="6089904" y="2606040"/>
            <a:ext cx="228600" cy="356616"/>
          </a:xfrm>
          <a:prstGeom prst="rect">
            <a:avLst/>
          </a:prstGeom>
          <a:noFill/>
        </p:spPr>
        <p:txBody>
          <a:bodyPr wrap="square" lIns="0" tIns="0" rIns="0" bIns="0" anchor="t">
            <a:spAutoFit/>
          </a:bodyPr>
          <a:lstStyle/>
          <a:p>
            <a:pPr>
              <a:spcAft>
                <a:spcPts val="300"/>
              </a:spcAft>
              <a:defRPr sz="2000" b="1">
                <a:solidFill>
                  <a:srgbClr val="2468BC"/>
                </a:solidFill>
                <a:latin typeface="Aptos"/>
              </a:defRPr>
            </a:pPr>
            <a:r>
              <a:t>→</a:t>
            </a:r>
          </a:p>
        </p:txBody>
      </p:sp>
      <p:sp>
        <p:nvSpPr>
          <p:cNvPr id="21" name="Rounded Rectangle 20"/>
          <p:cNvSpPr/>
          <p:nvPr/>
        </p:nvSpPr>
        <p:spPr>
          <a:xfrm>
            <a:off x="6291072" y="1810512"/>
            <a:ext cx="2670048" cy="3182112"/>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bench_t01_expose.jpg"/>
          <p:cNvPicPr>
            <a:picLocks noChangeAspect="1"/>
          </p:cNvPicPr>
          <p:nvPr/>
        </p:nvPicPr>
        <p:blipFill>
          <a:blip r:embed="rId3"/>
          <a:srcRect/>
          <a:stretch>
            <a:fillRect/>
          </a:stretch>
        </p:blipFill>
        <p:spPr>
          <a:xfrm>
            <a:off x="6364224" y="1883664"/>
            <a:ext cx="2523744" cy="1892807"/>
          </a:xfrm>
          <a:prstGeom prst="rect">
            <a:avLst/>
          </a:prstGeom>
        </p:spPr>
      </p:pic>
      <p:sp>
        <p:nvSpPr>
          <p:cNvPr id="23" name="Rectangle 22"/>
          <p:cNvSpPr/>
          <p:nvPr/>
        </p:nvSpPr>
        <p:spPr>
          <a:xfrm>
            <a:off x="6364224" y="3840480"/>
            <a:ext cx="2523744" cy="64008"/>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55664" y="4041648"/>
            <a:ext cx="2395728" cy="329184"/>
          </a:xfrm>
          <a:prstGeom prst="rect">
            <a:avLst/>
          </a:prstGeom>
          <a:noFill/>
        </p:spPr>
        <p:txBody>
          <a:bodyPr wrap="square" lIns="0" tIns="0" rIns="0" bIns="0" anchor="t">
            <a:spAutoFit/>
          </a:bodyPr>
          <a:lstStyle/>
          <a:p>
            <a:pPr>
              <a:spcAft>
                <a:spcPts val="300"/>
              </a:spcAft>
              <a:defRPr sz="1400" b="1">
                <a:solidFill>
                  <a:srgbClr val="19283D"/>
                </a:solidFill>
                <a:latin typeface="Aptos"/>
              </a:defRPr>
            </a:pPr>
            <a:r>
              <a:t>expose</a:t>
            </a:r>
          </a:p>
        </p:txBody>
      </p:sp>
      <p:sp>
        <p:nvSpPr>
          <p:cNvPr id="25" name="TextBox 24"/>
          <p:cNvSpPr txBox="1"/>
          <p:nvPr/>
        </p:nvSpPr>
        <p:spPr>
          <a:xfrm>
            <a:off x="6455664" y="4443984"/>
            <a:ext cx="2395728" cy="457200"/>
          </a:xfrm>
          <a:prstGeom prst="rect">
            <a:avLst/>
          </a:prstGeom>
          <a:noFill/>
        </p:spPr>
        <p:txBody>
          <a:bodyPr wrap="square" lIns="0" tIns="0" rIns="0" bIns="0" anchor="t">
            <a:spAutoFit/>
          </a:bodyPr>
          <a:lstStyle/>
          <a:p>
            <a:pPr>
              <a:spcAft>
                <a:spcPts val="300"/>
              </a:spcAft>
              <a:defRPr sz="1150" b="0">
                <a:solidFill>
                  <a:srgbClr val="58697B"/>
                </a:solidFill>
                <a:latin typeface="Aptos"/>
              </a:defRPr>
            </a:pPr>
            <a:r>
              <a:t>slide the book over the edge</a:t>
            </a:r>
          </a:p>
        </p:txBody>
      </p:sp>
      <p:sp>
        <p:nvSpPr>
          <p:cNvPr id="26" name="TextBox 25"/>
          <p:cNvSpPr txBox="1"/>
          <p:nvPr/>
        </p:nvSpPr>
        <p:spPr>
          <a:xfrm>
            <a:off x="8970264" y="2606040"/>
            <a:ext cx="228600" cy="356616"/>
          </a:xfrm>
          <a:prstGeom prst="rect">
            <a:avLst/>
          </a:prstGeom>
          <a:noFill/>
        </p:spPr>
        <p:txBody>
          <a:bodyPr wrap="square" lIns="0" tIns="0" rIns="0" bIns="0" anchor="t">
            <a:spAutoFit/>
          </a:bodyPr>
          <a:lstStyle/>
          <a:p>
            <a:pPr>
              <a:spcAft>
                <a:spcPts val="300"/>
              </a:spcAft>
              <a:defRPr sz="2000" b="1">
                <a:solidFill>
                  <a:srgbClr val="2468BC"/>
                </a:solidFill>
                <a:latin typeface="Aptos"/>
              </a:defRPr>
            </a:pPr>
            <a:r>
              <a:t>→</a:t>
            </a:r>
          </a:p>
        </p:txBody>
      </p:sp>
      <p:sp>
        <p:nvSpPr>
          <p:cNvPr id="27" name="Rounded Rectangle 26"/>
          <p:cNvSpPr/>
          <p:nvPr/>
        </p:nvSpPr>
        <p:spPr>
          <a:xfrm>
            <a:off x="9171432" y="1810512"/>
            <a:ext cx="2670048" cy="3182112"/>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bench_t01_place.jpg"/>
          <p:cNvPicPr>
            <a:picLocks noChangeAspect="1"/>
          </p:cNvPicPr>
          <p:nvPr/>
        </p:nvPicPr>
        <p:blipFill>
          <a:blip r:embed="rId4"/>
          <a:srcRect/>
          <a:stretch>
            <a:fillRect/>
          </a:stretch>
        </p:blipFill>
        <p:spPr>
          <a:xfrm>
            <a:off x="9244584" y="1883664"/>
            <a:ext cx="2523744" cy="1892807"/>
          </a:xfrm>
          <a:prstGeom prst="rect">
            <a:avLst/>
          </a:prstGeom>
        </p:spPr>
      </p:pic>
      <p:sp>
        <p:nvSpPr>
          <p:cNvPr id="29" name="Rectangle 28"/>
          <p:cNvSpPr/>
          <p:nvPr/>
        </p:nvSpPr>
        <p:spPr>
          <a:xfrm>
            <a:off x="9244584" y="3840480"/>
            <a:ext cx="2523744" cy="64008"/>
          </a:xfrm>
          <a:prstGeom prst="rect">
            <a:avLst/>
          </a:prstGeom>
          <a:solidFill>
            <a:srgbClr val="2693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36024" y="4041648"/>
            <a:ext cx="2395728" cy="329184"/>
          </a:xfrm>
          <a:prstGeom prst="rect">
            <a:avLst/>
          </a:prstGeom>
          <a:noFill/>
        </p:spPr>
        <p:txBody>
          <a:bodyPr wrap="square" lIns="0" tIns="0" rIns="0" bIns="0" anchor="t">
            <a:spAutoFit/>
          </a:bodyPr>
          <a:lstStyle/>
          <a:p>
            <a:pPr>
              <a:spcAft>
                <a:spcPts val="300"/>
              </a:spcAft>
              <a:defRPr sz="1400" b="1">
                <a:solidFill>
                  <a:srgbClr val="19283D"/>
                </a:solidFill>
                <a:latin typeface="Aptos"/>
              </a:defRPr>
            </a:pPr>
            <a:r>
              <a:t>pick → navigate → place</a:t>
            </a:r>
          </a:p>
        </p:txBody>
      </p:sp>
      <p:sp>
        <p:nvSpPr>
          <p:cNvPr id="31" name="TextBox 30"/>
          <p:cNvSpPr txBox="1"/>
          <p:nvPr/>
        </p:nvSpPr>
        <p:spPr>
          <a:xfrm>
            <a:off x="9336024" y="4443984"/>
            <a:ext cx="2395728" cy="457200"/>
          </a:xfrm>
          <a:prstGeom prst="rect">
            <a:avLst/>
          </a:prstGeom>
          <a:noFill/>
        </p:spPr>
        <p:txBody>
          <a:bodyPr wrap="square" lIns="0" tIns="0" rIns="0" bIns="0" anchor="t">
            <a:spAutoFit/>
          </a:bodyPr>
          <a:lstStyle/>
          <a:p>
            <a:pPr>
              <a:spcAft>
                <a:spcPts val="300"/>
              </a:spcAft>
              <a:defRPr sz="1150" b="0">
                <a:solidFill>
                  <a:srgbClr val="58697B"/>
                </a:solidFill>
                <a:latin typeface="Aptos"/>
              </a:defRPr>
            </a:pPr>
            <a:r>
              <a:t>book on the dining table</a:t>
            </a:r>
          </a:p>
        </p:txBody>
      </p:sp>
      <p:sp>
        <p:nvSpPr>
          <p:cNvPr id="32" name="Rounded Rectangle 31"/>
          <p:cNvSpPr/>
          <p:nvPr/>
        </p:nvSpPr>
        <p:spPr>
          <a:xfrm>
            <a:off x="585216" y="5303520"/>
            <a:ext cx="11009376" cy="548640"/>
          </a:xfrm>
          <a:prstGeom prst="roundRect">
            <a:avLst/>
          </a:prstGeom>
          <a:solidFill>
            <a:srgbClr val="E7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440680"/>
            <a:ext cx="10607040" cy="283464"/>
          </a:xfrm>
          <a:prstGeom prst="rect">
            <a:avLst/>
          </a:prstGeom>
          <a:noFill/>
        </p:spPr>
        <p:txBody>
          <a:bodyPr wrap="square" lIns="0" tIns="0" rIns="0" bIns="0" anchor="t">
            <a:spAutoFit/>
          </a:bodyPr>
          <a:lstStyle/>
          <a:p>
            <a:pPr>
              <a:spcAft>
                <a:spcPts val="300"/>
              </a:spcAft>
              <a:defRPr sz="1450" b="1">
                <a:solidFill>
                  <a:srgbClr val="269365"/>
                </a:solidFill>
                <a:latin typeface="Aptos"/>
              </a:defRPr>
            </a:pPr>
            <a:r>
              <a:t>Retest on current code: nominal 2/2 · fallback_expose 2/2 · hard 1/2 (seed 1: the book slips during place)</a:t>
            </a:r>
          </a:p>
        </p:txBody>
      </p:sp>
      <p:sp>
        <p:nvSpPr>
          <p:cNvPr id="34" name="TextBox 33"/>
          <p:cNvSpPr txBox="1"/>
          <p:nvPr/>
        </p:nvSpPr>
        <p:spPr>
          <a:xfrm>
            <a:off x="603504" y="6053328"/>
            <a:ext cx="10881360" cy="228600"/>
          </a:xfrm>
          <a:prstGeom prst="rect">
            <a:avLst/>
          </a:prstGeom>
          <a:noFill/>
        </p:spPr>
        <p:txBody>
          <a:bodyPr wrap="square" lIns="0" tIns="0" rIns="0" bIns="0" anchor="t">
            <a:spAutoFit/>
          </a:bodyPr>
          <a:lstStyle/>
          <a:p>
            <a:pPr>
              <a:spcAft>
                <a:spcPts val="300"/>
              </a:spcAft>
              <a:defRPr sz="1080" b="0">
                <a:solidFill>
                  <a:srgbClr val="58697B"/>
                </a:solidFill>
                <a:latin typeface="Aptos"/>
              </a:defRPr>
            </a:pPr>
            <a:r>
              <a:t>fixed (nominal plan once) stops after the failed pick; the book stays on the island.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210312"/>
          </a:xfrm>
          <a:prstGeom prst="rect">
            <a:avLst/>
          </a:prstGeom>
          <a:noFill/>
        </p:spPr>
        <p:txBody>
          <a:bodyPr wrap="square" lIns="0" tIns="0" rIns="0" bIns="0" anchor="t">
            <a:spAutoFit/>
          </a:bodyPr>
          <a:lstStyle/>
          <a:p>
            <a:pPr>
              <a:spcAft>
                <a:spcPts val="300"/>
              </a:spcAft>
              <a:defRPr sz="1000" b="1">
                <a:solidFill>
                  <a:srgbClr val="008F93"/>
                </a:solidFill>
                <a:latin typeface="Aptos"/>
              </a:defRPr>
            </a:pPr>
            <a:r>
              <a:t>TASK DEMO</a:t>
            </a:r>
          </a:p>
        </p:txBody>
      </p:sp>
      <p:sp>
        <p:nvSpPr>
          <p:cNvPr id="4" name="TextBox 3"/>
          <p:cNvSpPr txBox="1"/>
          <p:nvPr/>
        </p:nvSpPr>
        <p:spPr>
          <a:xfrm>
            <a:off x="502920" y="585216"/>
            <a:ext cx="11018520" cy="685800"/>
          </a:xfrm>
          <a:prstGeom prst="rect">
            <a:avLst/>
          </a:prstGeom>
          <a:noFill/>
        </p:spPr>
        <p:txBody>
          <a:bodyPr wrap="square" lIns="0" tIns="0" rIns="0" bIns="0" anchor="t">
            <a:spAutoFit/>
          </a:bodyPr>
          <a:lstStyle/>
          <a:p>
            <a:pPr>
              <a:spcAft>
                <a:spcPts val="300"/>
              </a:spcAft>
              <a:defRPr sz="2800" b="1">
                <a:solidFill>
                  <a:srgbClr val="19283D"/>
                </a:solidFill>
                <a:latin typeface="Aptos"/>
              </a:defRPr>
            </a:pPr>
            <a:r>
              <a:t>Other recoveries in the suite</a:t>
            </a:r>
          </a:p>
        </p:txBody>
      </p:sp>
      <p:sp>
        <p:nvSpPr>
          <p:cNvPr id="5" name="TextBox 4"/>
          <p:cNvSpPr txBox="1"/>
          <p:nvPr/>
        </p:nvSpPr>
        <p:spPr>
          <a:xfrm>
            <a:off x="521207" y="1261872"/>
            <a:ext cx="10972800" cy="393192"/>
          </a:xfrm>
          <a:prstGeom prst="rect">
            <a:avLst/>
          </a:prstGeom>
          <a:noFill/>
        </p:spPr>
        <p:txBody>
          <a:bodyPr wrap="square" lIns="0" tIns="0" rIns="0" bIns="0" anchor="t">
            <a:spAutoFit/>
          </a:bodyPr>
          <a:lstStyle/>
          <a:p>
            <a:pPr>
              <a:spcAft>
                <a:spcPts val="300"/>
              </a:spcAft>
              <a:defRPr sz="1250" b="0">
                <a:solidFill>
                  <a:srgbClr val="58697B"/>
                </a:solidFill>
                <a:latin typeface="Aptos"/>
              </a:defRPr>
            </a:pPr>
            <a:r>
              <a:t>Each one starts with a real refusal or failure that the planner has to read.</a:t>
            </a:r>
          </a:p>
        </p:txBody>
      </p:sp>
      <p:sp>
        <p:nvSpPr>
          <p:cNvPr id="6" name="Rectangle 5"/>
          <p:cNvSpPr/>
          <p:nvPr/>
        </p:nvSpPr>
        <p:spPr>
          <a:xfrm>
            <a:off x="502920" y="6473952"/>
            <a:ext cx="11183112" cy="10972"/>
          </a:xfrm>
          <a:prstGeom prst="rect">
            <a:avLst/>
          </a:prstGeom>
          <a:solidFill>
            <a:srgbClr val="DB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6519672"/>
            <a:ext cx="7315200" cy="164592"/>
          </a:xfrm>
          <a:prstGeom prst="rect">
            <a:avLst/>
          </a:prstGeom>
          <a:noFill/>
        </p:spPr>
        <p:txBody>
          <a:bodyPr wrap="square" lIns="0" tIns="0" rIns="0" bIns="0" anchor="t">
            <a:spAutoFit/>
          </a:bodyPr>
          <a:lstStyle/>
          <a:p>
            <a:pPr>
              <a:spcAft>
                <a:spcPts val="300"/>
              </a:spcAft>
              <a:defRPr sz="850" b="0">
                <a:solidFill>
                  <a:srgbClr val="58697B"/>
                </a:solidFill>
                <a:latin typeface="Aptos"/>
              </a:defRPr>
            </a:pPr>
            <a:r>
              <a:t>ZenoBench  ·  CMU Agentic Library</a:t>
            </a:r>
          </a:p>
        </p:txBody>
      </p:sp>
      <p:sp>
        <p:nvSpPr>
          <p:cNvPr id="8" name="TextBox 7"/>
          <p:cNvSpPr txBox="1"/>
          <p:nvPr/>
        </p:nvSpPr>
        <p:spPr>
          <a:xfrm>
            <a:off x="11100816" y="6510528"/>
            <a:ext cx="566928" cy="182880"/>
          </a:xfrm>
          <a:prstGeom prst="rect">
            <a:avLst/>
          </a:prstGeom>
          <a:noFill/>
        </p:spPr>
        <p:txBody>
          <a:bodyPr wrap="square" lIns="0" tIns="0" rIns="0" bIns="0" anchor="t">
            <a:spAutoFit/>
          </a:bodyPr>
          <a:lstStyle/>
          <a:p>
            <a:pPr algn="r">
              <a:spcAft>
                <a:spcPts val="300"/>
              </a:spcAft>
              <a:defRPr sz="850" b="0">
                <a:solidFill>
                  <a:srgbClr val="58697B"/>
                </a:solidFill>
                <a:latin typeface="Aptos"/>
              </a:defRPr>
            </a:pPr>
            <a:r>
              <a:t>15 / 20</a:t>
            </a:r>
          </a:p>
        </p:txBody>
      </p:sp>
      <p:sp>
        <p:nvSpPr>
          <p:cNvPr id="9" name="Rounded Rectangle 8"/>
          <p:cNvSpPr/>
          <p:nvPr/>
        </p:nvSpPr>
        <p:spPr>
          <a:xfrm>
            <a:off x="548640" y="1819656"/>
            <a:ext cx="3474720" cy="402336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ench_t02_pick_fail.jpg"/>
          <p:cNvPicPr>
            <a:picLocks noChangeAspect="1"/>
          </p:cNvPicPr>
          <p:nvPr/>
        </p:nvPicPr>
        <p:blipFill>
          <a:blip r:embed="rId1"/>
          <a:srcRect t="3407" b="3407"/>
          <a:stretch>
            <a:fillRect/>
          </a:stretch>
        </p:blipFill>
        <p:spPr>
          <a:xfrm>
            <a:off x="630936" y="1901952"/>
            <a:ext cx="3310128" cy="2313432"/>
          </a:xfrm>
          <a:prstGeom prst="rect">
            <a:avLst/>
          </a:prstGeom>
        </p:spPr>
      </p:pic>
      <p:sp>
        <p:nvSpPr>
          <p:cNvPr id="11" name="Rectangle 10"/>
          <p:cNvSpPr/>
          <p:nvPr/>
        </p:nvSpPr>
        <p:spPr>
          <a:xfrm>
            <a:off x="630936" y="4297680"/>
            <a:ext cx="3310128" cy="7315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526280"/>
            <a:ext cx="3063240" cy="365760"/>
          </a:xfrm>
          <a:prstGeom prst="rect">
            <a:avLst/>
          </a:prstGeom>
          <a:noFill/>
        </p:spPr>
        <p:txBody>
          <a:bodyPr wrap="square" lIns="0" tIns="0" rIns="0" bIns="0" anchor="t">
            <a:spAutoFit/>
          </a:bodyPr>
          <a:lstStyle/>
          <a:p>
            <a:pPr>
              <a:spcAft>
                <a:spcPts val="300"/>
              </a:spcAft>
              <a:defRPr sz="1600" b="1">
                <a:solidFill>
                  <a:srgbClr val="19283D"/>
                </a:solidFill>
                <a:latin typeface="Aptos"/>
              </a:defRPr>
            </a:pPr>
            <a:r>
              <a:t>T02 · pick fails → push</a:t>
            </a:r>
          </a:p>
        </p:txBody>
      </p:sp>
      <p:sp>
        <p:nvSpPr>
          <p:cNvPr id="13" name="TextBox 12"/>
          <p:cNvSpPr txBox="1"/>
          <p:nvPr/>
        </p:nvSpPr>
        <p:spPr>
          <a:xfrm>
            <a:off x="758952" y="5001768"/>
            <a:ext cx="3054096" cy="731520"/>
          </a:xfrm>
          <a:prstGeom prst="rect">
            <a:avLst/>
          </a:prstGeom>
          <a:noFill/>
        </p:spPr>
        <p:txBody>
          <a:bodyPr wrap="square" lIns="0" tIns="0" rIns="0" bIns="0" anchor="t">
            <a:spAutoFit/>
          </a:bodyPr>
          <a:lstStyle/>
          <a:p>
            <a:pPr>
              <a:spcAft>
                <a:spcPts val="300"/>
              </a:spcAft>
              <a:defRPr sz="1260" b="0">
                <a:solidFill>
                  <a:srgbClr val="58697B"/>
                </a:solidFill>
                <a:latin typeface="Aptos"/>
              </a:defRPr>
            </a:pPr>
            <a:r>
              <a:t>Block boxed in by a bowl and the rolling pin; push it free, pick again, stack</a:t>
            </a:r>
          </a:p>
        </p:txBody>
      </p:sp>
      <p:sp>
        <p:nvSpPr>
          <p:cNvPr id="14" name="Rounded Rectangle 13"/>
          <p:cNvSpPr/>
          <p:nvPr/>
        </p:nvSpPr>
        <p:spPr>
          <a:xfrm>
            <a:off x="4370831" y="1819656"/>
            <a:ext cx="3474720" cy="402336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bench_t09_uncover.jpg"/>
          <p:cNvPicPr>
            <a:picLocks noChangeAspect="1"/>
          </p:cNvPicPr>
          <p:nvPr/>
        </p:nvPicPr>
        <p:blipFill>
          <a:blip r:embed="rId2"/>
          <a:srcRect t="3407" b="3407"/>
          <a:stretch>
            <a:fillRect/>
          </a:stretch>
        </p:blipFill>
        <p:spPr>
          <a:xfrm>
            <a:off x="4453127" y="1901952"/>
            <a:ext cx="3310128" cy="2313432"/>
          </a:xfrm>
          <a:prstGeom prst="rect">
            <a:avLst/>
          </a:prstGeom>
        </p:spPr>
      </p:pic>
      <p:sp>
        <p:nvSpPr>
          <p:cNvPr id="16" name="Rectangle 15"/>
          <p:cNvSpPr/>
          <p:nvPr/>
        </p:nvSpPr>
        <p:spPr>
          <a:xfrm>
            <a:off x="4453127" y="4297680"/>
            <a:ext cx="3310128" cy="73152"/>
          </a:xfrm>
          <a:prstGeom prst="rect">
            <a:avLst/>
          </a:prstGeom>
          <a:solidFill>
            <a:srgbClr val="2468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4526280"/>
            <a:ext cx="3063240" cy="365760"/>
          </a:xfrm>
          <a:prstGeom prst="rect">
            <a:avLst/>
          </a:prstGeom>
          <a:noFill/>
        </p:spPr>
        <p:txBody>
          <a:bodyPr wrap="square" lIns="0" tIns="0" rIns="0" bIns="0" anchor="t">
            <a:spAutoFit/>
          </a:bodyPr>
          <a:lstStyle/>
          <a:p>
            <a:pPr>
              <a:spcAft>
                <a:spcPts val="300"/>
              </a:spcAft>
              <a:defRPr sz="1600" b="1">
                <a:solidFill>
                  <a:srgbClr val="19283D"/>
                </a:solidFill>
                <a:latin typeface="Aptos"/>
              </a:defRPr>
            </a:pPr>
            <a:r>
              <a:t>T09 · collect refused → uncover</a:t>
            </a:r>
          </a:p>
        </p:txBody>
      </p:sp>
      <p:sp>
        <p:nvSpPr>
          <p:cNvPr id="18" name="TextBox 17"/>
          <p:cNvSpPr txBox="1"/>
          <p:nvPr/>
        </p:nvSpPr>
        <p:spPr>
          <a:xfrm>
            <a:off x="4581144" y="5001768"/>
            <a:ext cx="3054096" cy="731520"/>
          </a:xfrm>
          <a:prstGeom prst="rect">
            <a:avLst/>
          </a:prstGeom>
          <a:noFill/>
        </p:spPr>
        <p:txBody>
          <a:bodyPr wrap="square" lIns="0" tIns="0" rIns="0" bIns="0" anchor="t">
            <a:spAutoFit/>
          </a:bodyPr>
          <a:lstStyle/>
          <a:p>
            <a:pPr>
              <a:spcAft>
                <a:spcPts val="300"/>
              </a:spcAft>
              <a:defRPr sz="1260" b="0">
                <a:solidFill>
                  <a:srgbClr val="58697B"/>
                </a:solidFill>
                <a:latin typeface="Aptos"/>
              </a:defRPr>
            </a:pPr>
            <a:r>
              <a:t>The pot lid is on; uncover, then collect the tomatoes, stir, cover, heat</a:t>
            </a:r>
          </a:p>
        </p:txBody>
      </p:sp>
      <p:sp>
        <p:nvSpPr>
          <p:cNvPr id="19" name="Rounded Rectangle 18"/>
          <p:cNvSpPr/>
          <p:nvPr/>
        </p:nvSpPr>
        <p:spPr>
          <a:xfrm>
            <a:off x="8193023" y="1819656"/>
            <a:ext cx="3474720" cy="402336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bench_t07_stove.jpg"/>
          <p:cNvPicPr>
            <a:picLocks noChangeAspect="1"/>
          </p:cNvPicPr>
          <p:nvPr/>
        </p:nvPicPr>
        <p:blipFill>
          <a:blip r:embed="rId3"/>
          <a:srcRect t="3407" b="3407"/>
          <a:stretch>
            <a:fillRect/>
          </a:stretch>
        </p:blipFill>
        <p:spPr>
          <a:xfrm>
            <a:off x="8275319" y="1901952"/>
            <a:ext cx="3310128" cy="2313432"/>
          </a:xfrm>
          <a:prstGeom prst="rect">
            <a:avLst/>
          </a:prstGeom>
        </p:spPr>
      </p:pic>
      <p:sp>
        <p:nvSpPr>
          <p:cNvPr id="21" name="Rectangle 20"/>
          <p:cNvSpPr/>
          <p:nvPr/>
        </p:nvSpPr>
        <p:spPr>
          <a:xfrm>
            <a:off x="8275319" y="4297680"/>
            <a:ext cx="3310128" cy="73152"/>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3336" y="4526280"/>
            <a:ext cx="3063240" cy="365760"/>
          </a:xfrm>
          <a:prstGeom prst="rect">
            <a:avLst/>
          </a:prstGeom>
          <a:noFill/>
        </p:spPr>
        <p:txBody>
          <a:bodyPr wrap="square" lIns="0" tIns="0" rIns="0" bIns="0" anchor="t">
            <a:spAutoFit/>
          </a:bodyPr>
          <a:lstStyle/>
          <a:p>
            <a:pPr>
              <a:spcAft>
                <a:spcPts val="300"/>
              </a:spcAft>
              <a:defRPr sz="1600" b="1">
                <a:solidFill>
                  <a:srgbClr val="19283D"/>
                </a:solidFill>
                <a:latin typeface="Aptos"/>
              </a:defRPr>
            </a:pPr>
            <a:r>
              <a:t>T07 · heat fails → stove</a:t>
            </a:r>
          </a:p>
        </p:txBody>
      </p:sp>
      <p:sp>
        <p:nvSpPr>
          <p:cNvPr id="23" name="TextBox 22"/>
          <p:cNvSpPr txBox="1"/>
          <p:nvPr/>
        </p:nvSpPr>
        <p:spPr>
          <a:xfrm>
            <a:off x="8403336" y="5001768"/>
            <a:ext cx="3054096" cy="731520"/>
          </a:xfrm>
          <a:prstGeom prst="rect">
            <a:avLst/>
          </a:prstGeom>
          <a:noFill/>
        </p:spPr>
        <p:txBody>
          <a:bodyPr wrap="square" lIns="0" tIns="0" rIns="0" bIns="0" anchor="t">
            <a:spAutoFit/>
          </a:bodyPr>
          <a:lstStyle/>
          <a:p>
            <a:pPr>
              <a:spcAft>
                <a:spcPts val="300"/>
              </a:spcAft>
              <a:defRPr sz="1260" b="0">
                <a:solidFill>
                  <a:srgbClr val="58697B"/>
                </a:solidFill>
                <a:latin typeface="Aptos"/>
              </a:defRPr>
            </a:pPr>
            <a:r>
              <a:t>The microwave does not heat; stop it, take the oatmeal out, use the stove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210312"/>
          </a:xfrm>
          <a:prstGeom prst="rect">
            <a:avLst/>
          </a:prstGeom>
          <a:noFill/>
        </p:spPr>
        <p:txBody>
          <a:bodyPr wrap="square" lIns="0" tIns="0" rIns="0" bIns="0" anchor="t">
            <a:spAutoFit/>
          </a:bodyPr>
          <a:lstStyle/>
          <a:p>
            <a:pPr>
              <a:spcAft>
                <a:spcPts val="300"/>
              </a:spcAft>
              <a:defRPr sz="1000" b="1">
                <a:solidFill>
                  <a:srgbClr val="008F93"/>
                </a:solidFill>
                <a:latin typeface="Aptos"/>
              </a:defRPr>
            </a:pPr>
            <a:r>
              <a:t>EVALUATION</a:t>
            </a:r>
          </a:p>
        </p:txBody>
      </p:sp>
      <p:sp>
        <p:nvSpPr>
          <p:cNvPr id="4" name="TextBox 3"/>
          <p:cNvSpPr txBox="1"/>
          <p:nvPr/>
        </p:nvSpPr>
        <p:spPr>
          <a:xfrm>
            <a:off x="502920" y="585216"/>
            <a:ext cx="11018520" cy="685800"/>
          </a:xfrm>
          <a:prstGeom prst="rect">
            <a:avLst/>
          </a:prstGeom>
          <a:noFill/>
        </p:spPr>
        <p:txBody>
          <a:bodyPr wrap="square" lIns="0" tIns="0" rIns="0" bIns="0" anchor="t">
            <a:spAutoFit/>
          </a:bodyPr>
          <a:lstStyle/>
          <a:p>
            <a:pPr>
              <a:spcAft>
                <a:spcPts val="300"/>
              </a:spcAft>
              <a:defRPr sz="2800" b="1">
                <a:solidFill>
                  <a:srgbClr val="19283D"/>
                </a:solidFill>
                <a:latin typeface="Aptos"/>
              </a:defRPr>
            </a:pPr>
            <a:r>
              <a:t>How a planner is scored</a:t>
            </a:r>
          </a:p>
        </p:txBody>
      </p:sp>
      <p:sp>
        <p:nvSpPr>
          <p:cNvPr id="5" name="TextBox 4"/>
          <p:cNvSpPr txBox="1"/>
          <p:nvPr/>
        </p:nvSpPr>
        <p:spPr>
          <a:xfrm>
            <a:off x="521207" y="1261872"/>
            <a:ext cx="10972800" cy="393192"/>
          </a:xfrm>
          <a:prstGeom prst="rect">
            <a:avLst/>
          </a:prstGeom>
          <a:noFill/>
        </p:spPr>
        <p:txBody>
          <a:bodyPr wrap="square" lIns="0" tIns="0" rIns="0" bIns="0" anchor="t">
            <a:spAutoFit/>
          </a:bodyPr>
          <a:lstStyle/>
          <a:p>
            <a:pPr>
              <a:spcAft>
                <a:spcPts val="300"/>
              </a:spcAft>
              <a:defRPr sz="1250" b="0">
                <a:solidFill>
                  <a:srgbClr val="58697B"/>
                </a:solidFill>
                <a:latin typeface="Aptos"/>
              </a:defRPr>
            </a:pPr>
            <a:r>
              <a:t>Task success and skill success are reported separately. Crashed runs are 'incomplete', never a success or a failure.</a:t>
            </a:r>
          </a:p>
        </p:txBody>
      </p:sp>
      <p:sp>
        <p:nvSpPr>
          <p:cNvPr id="6" name="Rectangle 5"/>
          <p:cNvSpPr/>
          <p:nvPr/>
        </p:nvSpPr>
        <p:spPr>
          <a:xfrm>
            <a:off x="502920" y="6473952"/>
            <a:ext cx="11183112" cy="10972"/>
          </a:xfrm>
          <a:prstGeom prst="rect">
            <a:avLst/>
          </a:prstGeom>
          <a:solidFill>
            <a:srgbClr val="DB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6519672"/>
            <a:ext cx="7315200" cy="164592"/>
          </a:xfrm>
          <a:prstGeom prst="rect">
            <a:avLst/>
          </a:prstGeom>
          <a:noFill/>
        </p:spPr>
        <p:txBody>
          <a:bodyPr wrap="square" lIns="0" tIns="0" rIns="0" bIns="0" anchor="t">
            <a:spAutoFit/>
          </a:bodyPr>
          <a:lstStyle/>
          <a:p>
            <a:pPr>
              <a:spcAft>
                <a:spcPts val="300"/>
              </a:spcAft>
              <a:defRPr sz="850" b="0">
                <a:solidFill>
                  <a:srgbClr val="58697B"/>
                </a:solidFill>
                <a:latin typeface="Aptos"/>
              </a:defRPr>
            </a:pPr>
            <a:r>
              <a:t>ZenoBench  ·  CMU Agentic Library</a:t>
            </a:r>
          </a:p>
        </p:txBody>
      </p:sp>
      <p:sp>
        <p:nvSpPr>
          <p:cNvPr id="8" name="TextBox 7"/>
          <p:cNvSpPr txBox="1"/>
          <p:nvPr/>
        </p:nvSpPr>
        <p:spPr>
          <a:xfrm>
            <a:off x="11100816" y="6510528"/>
            <a:ext cx="566928" cy="182880"/>
          </a:xfrm>
          <a:prstGeom prst="rect">
            <a:avLst/>
          </a:prstGeom>
          <a:noFill/>
        </p:spPr>
        <p:txBody>
          <a:bodyPr wrap="square" lIns="0" tIns="0" rIns="0" bIns="0" anchor="t">
            <a:spAutoFit/>
          </a:bodyPr>
          <a:lstStyle/>
          <a:p>
            <a:pPr algn="r">
              <a:spcAft>
                <a:spcPts val="300"/>
              </a:spcAft>
              <a:defRPr sz="850" b="0">
                <a:solidFill>
                  <a:srgbClr val="58697B"/>
                </a:solidFill>
                <a:latin typeface="Aptos"/>
              </a:defRPr>
            </a:pPr>
            <a:r>
              <a:t>16 / 20</a:t>
            </a:r>
          </a:p>
        </p:txBody>
      </p:sp>
      <p:sp>
        <p:nvSpPr>
          <p:cNvPr id="9" name="Rounded Rectangle 8"/>
          <p:cNvSpPr/>
          <p:nvPr/>
        </p:nvSpPr>
        <p:spPr>
          <a:xfrm>
            <a:off x="557784" y="1810512"/>
            <a:ext cx="2633472" cy="96012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1810512"/>
            <a:ext cx="2633472" cy="73152"/>
          </a:xfrm>
          <a:prstGeom prst="rect">
            <a:avLst/>
          </a:prstGeom>
          <a:solidFill>
            <a:srgbClr val="586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1975104"/>
            <a:ext cx="2286000" cy="320040"/>
          </a:xfrm>
          <a:prstGeom prst="rect">
            <a:avLst/>
          </a:prstGeom>
          <a:noFill/>
        </p:spPr>
        <p:txBody>
          <a:bodyPr wrap="square" lIns="0" tIns="0" rIns="0" bIns="0" anchor="t">
            <a:spAutoFit/>
          </a:bodyPr>
          <a:lstStyle/>
          <a:p>
            <a:pPr>
              <a:spcAft>
                <a:spcPts val="300"/>
              </a:spcAft>
              <a:defRPr sz="1600" b="1">
                <a:solidFill>
                  <a:srgbClr val="19283D"/>
                </a:solidFill>
                <a:latin typeface="Aptos"/>
              </a:defRPr>
            </a:pPr>
            <a:r>
              <a:t>fixed</a:t>
            </a:r>
          </a:p>
        </p:txBody>
      </p:sp>
      <p:sp>
        <p:nvSpPr>
          <p:cNvPr id="12" name="TextBox 11"/>
          <p:cNvSpPr txBox="1"/>
          <p:nvPr/>
        </p:nvSpPr>
        <p:spPr>
          <a:xfrm>
            <a:off x="740664" y="2340864"/>
            <a:ext cx="2286000" cy="274320"/>
          </a:xfrm>
          <a:prstGeom prst="rect">
            <a:avLst/>
          </a:prstGeom>
          <a:noFill/>
        </p:spPr>
        <p:txBody>
          <a:bodyPr wrap="square" lIns="0" tIns="0" rIns="0" bIns="0" anchor="t">
            <a:spAutoFit/>
          </a:bodyPr>
          <a:lstStyle/>
          <a:p>
            <a:pPr>
              <a:spcAft>
                <a:spcPts val="300"/>
              </a:spcAft>
              <a:defRPr sz="1200" b="0">
                <a:solidFill>
                  <a:srgbClr val="58697B"/>
                </a:solidFill>
                <a:latin typeface="Aptos"/>
              </a:defRPr>
            </a:pPr>
            <a:r>
              <a:t>nominal plan once</a:t>
            </a:r>
          </a:p>
        </p:txBody>
      </p:sp>
      <p:sp>
        <p:nvSpPr>
          <p:cNvPr id="13" name="Rounded Rectangle 12"/>
          <p:cNvSpPr/>
          <p:nvPr/>
        </p:nvSpPr>
        <p:spPr>
          <a:xfrm>
            <a:off x="3429000" y="1810512"/>
            <a:ext cx="2633472" cy="96012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29000" y="1810512"/>
            <a:ext cx="2633472" cy="73152"/>
          </a:xfrm>
          <a:prstGeom prst="rect">
            <a:avLst/>
          </a:prstGeom>
          <a:solidFill>
            <a:srgbClr val="586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1975104"/>
            <a:ext cx="2286000" cy="320040"/>
          </a:xfrm>
          <a:prstGeom prst="rect">
            <a:avLst/>
          </a:prstGeom>
          <a:noFill/>
        </p:spPr>
        <p:txBody>
          <a:bodyPr wrap="square" lIns="0" tIns="0" rIns="0" bIns="0" anchor="t">
            <a:spAutoFit/>
          </a:bodyPr>
          <a:lstStyle/>
          <a:p>
            <a:pPr>
              <a:spcAft>
                <a:spcPts val="300"/>
              </a:spcAft>
              <a:defRPr sz="1600" b="1">
                <a:solidFill>
                  <a:srgbClr val="19283D"/>
                </a:solidFill>
                <a:latin typeface="Aptos"/>
              </a:defRPr>
            </a:pPr>
            <a:r>
              <a:t>retry</a:t>
            </a:r>
          </a:p>
        </p:txBody>
      </p:sp>
      <p:sp>
        <p:nvSpPr>
          <p:cNvPr id="16" name="TextBox 15"/>
          <p:cNvSpPr txBox="1"/>
          <p:nvPr/>
        </p:nvSpPr>
        <p:spPr>
          <a:xfrm>
            <a:off x="3611880" y="2340864"/>
            <a:ext cx="2286000" cy="274320"/>
          </a:xfrm>
          <a:prstGeom prst="rect">
            <a:avLst/>
          </a:prstGeom>
          <a:noFill/>
        </p:spPr>
        <p:txBody>
          <a:bodyPr wrap="square" lIns="0" tIns="0" rIns="0" bIns="0" anchor="t">
            <a:spAutoFit/>
          </a:bodyPr>
          <a:lstStyle/>
          <a:p>
            <a:pPr>
              <a:spcAft>
                <a:spcPts val="300"/>
              </a:spcAft>
              <a:defRPr sz="1200" b="0">
                <a:solidFill>
                  <a:srgbClr val="58697B"/>
                </a:solidFill>
                <a:latin typeface="Aptos"/>
              </a:defRPr>
            </a:pPr>
            <a:r>
              <a:t>repeat a failed call ≤ 2×</a:t>
            </a:r>
          </a:p>
        </p:txBody>
      </p:sp>
      <p:sp>
        <p:nvSpPr>
          <p:cNvPr id="17" name="Rounded Rectangle 16"/>
          <p:cNvSpPr/>
          <p:nvPr/>
        </p:nvSpPr>
        <p:spPr>
          <a:xfrm>
            <a:off x="6300216" y="1810512"/>
            <a:ext cx="2633472" cy="96012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0216" y="1810512"/>
            <a:ext cx="2633472" cy="7315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3096" y="1975104"/>
            <a:ext cx="2286000" cy="320040"/>
          </a:xfrm>
          <a:prstGeom prst="rect">
            <a:avLst/>
          </a:prstGeom>
          <a:noFill/>
        </p:spPr>
        <p:txBody>
          <a:bodyPr wrap="square" lIns="0" tIns="0" rIns="0" bIns="0" anchor="t">
            <a:spAutoFit/>
          </a:bodyPr>
          <a:lstStyle/>
          <a:p>
            <a:pPr>
              <a:spcAft>
                <a:spcPts val="300"/>
              </a:spcAft>
              <a:defRPr sz="1600" b="1">
                <a:solidFill>
                  <a:srgbClr val="19283D"/>
                </a:solidFill>
                <a:latin typeface="Aptos"/>
              </a:defRPr>
            </a:pPr>
            <a:r>
              <a:t>VLM (recovery)</a:t>
            </a:r>
          </a:p>
        </p:txBody>
      </p:sp>
      <p:sp>
        <p:nvSpPr>
          <p:cNvPr id="20" name="TextBox 19"/>
          <p:cNvSpPr txBox="1"/>
          <p:nvPr/>
        </p:nvSpPr>
        <p:spPr>
          <a:xfrm>
            <a:off x="6483096" y="2340864"/>
            <a:ext cx="2286000" cy="274320"/>
          </a:xfrm>
          <a:prstGeom prst="rect">
            <a:avLst/>
          </a:prstGeom>
          <a:noFill/>
        </p:spPr>
        <p:txBody>
          <a:bodyPr wrap="square" lIns="0" tIns="0" rIns="0" bIns="0" anchor="t">
            <a:spAutoFit/>
          </a:bodyPr>
          <a:lstStyle/>
          <a:p>
            <a:pPr>
              <a:spcAft>
                <a:spcPts val="300"/>
              </a:spcAft>
              <a:defRPr sz="1200" b="0">
                <a:solidFill>
                  <a:srgbClr val="58697B"/>
                </a:solidFill>
                <a:latin typeface="Aptos"/>
              </a:defRPr>
            </a:pPr>
            <a:r>
              <a:t>closed loop, ≤ max_calls</a:t>
            </a:r>
          </a:p>
        </p:txBody>
      </p:sp>
      <p:sp>
        <p:nvSpPr>
          <p:cNvPr id="21" name="Rounded Rectangle 20"/>
          <p:cNvSpPr/>
          <p:nvPr/>
        </p:nvSpPr>
        <p:spPr>
          <a:xfrm>
            <a:off x="9171432" y="1810512"/>
            <a:ext cx="2633472" cy="96012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71432" y="1810512"/>
            <a:ext cx="2633472" cy="73152"/>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54311" y="1975104"/>
            <a:ext cx="2286000" cy="320040"/>
          </a:xfrm>
          <a:prstGeom prst="rect">
            <a:avLst/>
          </a:prstGeom>
          <a:noFill/>
        </p:spPr>
        <p:txBody>
          <a:bodyPr wrap="square" lIns="0" tIns="0" rIns="0" bIns="0" anchor="t">
            <a:spAutoFit/>
          </a:bodyPr>
          <a:lstStyle/>
          <a:p>
            <a:pPr>
              <a:spcAft>
                <a:spcPts val="300"/>
              </a:spcAft>
              <a:defRPr sz="1600" b="1">
                <a:solidFill>
                  <a:srgbClr val="19283D"/>
                </a:solidFill>
                <a:latin typeface="Aptos"/>
              </a:defRPr>
            </a:pPr>
            <a:r>
              <a:t>oracle</a:t>
            </a:r>
          </a:p>
        </p:txBody>
      </p:sp>
      <p:sp>
        <p:nvSpPr>
          <p:cNvPr id="24" name="TextBox 23"/>
          <p:cNvSpPr txBox="1"/>
          <p:nvPr/>
        </p:nvSpPr>
        <p:spPr>
          <a:xfrm>
            <a:off x="9354311" y="2340864"/>
            <a:ext cx="2286000" cy="274320"/>
          </a:xfrm>
          <a:prstGeom prst="rect">
            <a:avLst/>
          </a:prstGeom>
          <a:noFill/>
        </p:spPr>
        <p:txBody>
          <a:bodyPr wrap="square" lIns="0" tIns="0" rIns="0" bIns="0" anchor="t">
            <a:spAutoFit/>
          </a:bodyPr>
          <a:lstStyle/>
          <a:p>
            <a:pPr>
              <a:spcAft>
                <a:spcPts val="300"/>
              </a:spcAft>
              <a:defRPr sz="1200" b="0">
                <a:solidFill>
                  <a:srgbClr val="58697B"/>
                </a:solidFill>
                <a:latin typeface="Aptos"/>
              </a:defRPr>
            </a:pPr>
            <a:r>
              <a:t>GT route, upper bound</a:t>
            </a:r>
          </a:p>
        </p:txBody>
      </p:sp>
      <p:sp>
        <p:nvSpPr>
          <p:cNvPr id="25" name="TextBox 24"/>
          <p:cNvSpPr txBox="1"/>
          <p:nvPr/>
        </p:nvSpPr>
        <p:spPr>
          <a:xfrm>
            <a:off x="603504" y="3035808"/>
            <a:ext cx="2514600" cy="274320"/>
          </a:xfrm>
          <a:prstGeom prst="rect">
            <a:avLst/>
          </a:prstGeom>
          <a:noFill/>
        </p:spPr>
        <p:txBody>
          <a:bodyPr wrap="square" lIns="0" tIns="0" rIns="0" bIns="0" anchor="t">
            <a:spAutoFit/>
          </a:bodyPr>
          <a:lstStyle/>
          <a:p>
            <a:pPr>
              <a:spcAft>
                <a:spcPts val="300"/>
              </a:spcAft>
              <a:defRPr sz="1350" b="1">
                <a:solidFill>
                  <a:srgbClr val="2468BC"/>
                </a:solidFill>
                <a:latin typeface="Aptos"/>
              </a:defRPr>
            </a:pPr>
            <a:r>
              <a:t>SR</a:t>
            </a:r>
          </a:p>
        </p:txBody>
      </p:sp>
      <p:sp>
        <p:nvSpPr>
          <p:cNvPr id="26" name="TextBox 25"/>
          <p:cNvSpPr txBox="1"/>
          <p:nvPr/>
        </p:nvSpPr>
        <p:spPr>
          <a:xfrm>
            <a:off x="3154680" y="3035808"/>
            <a:ext cx="8412480" cy="274320"/>
          </a:xfrm>
          <a:prstGeom prst="rect">
            <a:avLst/>
          </a:prstGeom>
          <a:noFill/>
        </p:spPr>
        <p:txBody>
          <a:bodyPr wrap="square" lIns="0" tIns="0" rIns="0" bIns="0" anchor="t">
            <a:spAutoFit/>
          </a:bodyPr>
          <a:lstStyle/>
          <a:p>
            <a:pPr>
              <a:spcAft>
                <a:spcPts val="300"/>
              </a:spcAft>
              <a:defRPr sz="1300" b="0">
                <a:solidFill>
                  <a:srgbClr val="58697B"/>
                </a:solidFill>
                <a:latin typeface="Aptos"/>
              </a:defRPr>
            </a:pPr>
            <a:r>
              <a:t>Task Success: every GT goal atom holds, nothing dropped</a:t>
            </a:r>
          </a:p>
        </p:txBody>
      </p:sp>
      <p:sp>
        <p:nvSpPr>
          <p:cNvPr id="27" name="TextBox 26"/>
          <p:cNvSpPr txBox="1"/>
          <p:nvPr/>
        </p:nvSpPr>
        <p:spPr>
          <a:xfrm>
            <a:off x="603504" y="3493008"/>
            <a:ext cx="2514600" cy="274320"/>
          </a:xfrm>
          <a:prstGeom prst="rect">
            <a:avLst/>
          </a:prstGeom>
          <a:noFill/>
        </p:spPr>
        <p:txBody>
          <a:bodyPr wrap="square" lIns="0" tIns="0" rIns="0" bIns="0" anchor="t">
            <a:spAutoFit/>
          </a:bodyPr>
          <a:lstStyle/>
          <a:p>
            <a:pPr>
              <a:spcAft>
                <a:spcPts val="300"/>
              </a:spcAft>
              <a:defRPr sz="1350" b="1">
                <a:solidFill>
                  <a:srgbClr val="2468BC"/>
                </a:solidFill>
                <a:latin typeface="Aptos"/>
              </a:defRPr>
            </a:pPr>
            <a:r>
              <a:t>skill_SR / GC</a:t>
            </a:r>
          </a:p>
        </p:txBody>
      </p:sp>
      <p:sp>
        <p:nvSpPr>
          <p:cNvPr id="28" name="TextBox 27"/>
          <p:cNvSpPr txBox="1"/>
          <p:nvPr/>
        </p:nvSpPr>
        <p:spPr>
          <a:xfrm>
            <a:off x="3154680" y="3493008"/>
            <a:ext cx="8412480" cy="274320"/>
          </a:xfrm>
          <a:prstGeom prst="rect">
            <a:avLst/>
          </a:prstGeom>
          <a:noFill/>
        </p:spPr>
        <p:txBody>
          <a:bodyPr wrap="square" lIns="0" tIns="0" rIns="0" bIns="0" anchor="t">
            <a:spAutoFit/>
          </a:bodyPr>
          <a:lstStyle/>
          <a:p>
            <a:pPr>
              <a:spcAft>
                <a:spcPts val="300"/>
              </a:spcAft>
              <a:defRPr sz="1300" b="0">
                <a:solidFill>
                  <a:srgbClr val="58697B"/>
                </a:solidFill>
                <a:latin typeface="Aptos"/>
              </a:defRPr>
            </a:pPr>
            <a:r>
              <a:t>Successful calls / calls; share of goal atoms reached</a:t>
            </a:r>
          </a:p>
        </p:txBody>
      </p:sp>
      <p:sp>
        <p:nvSpPr>
          <p:cNvPr id="29" name="TextBox 28"/>
          <p:cNvSpPr txBox="1"/>
          <p:nvPr/>
        </p:nvSpPr>
        <p:spPr>
          <a:xfrm>
            <a:off x="603504" y="3950208"/>
            <a:ext cx="2514600" cy="274320"/>
          </a:xfrm>
          <a:prstGeom prst="rect">
            <a:avLst/>
          </a:prstGeom>
          <a:noFill/>
        </p:spPr>
        <p:txBody>
          <a:bodyPr wrap="square" lIns="0" tIns="0" rIns="0" bIns="0" anchor="t">
            <a:spAutoFit/>
          </a:bodyPr>
          <a:lstStyle/>
          <a:p>
            <a:pPr>
              <a:spcAft>
                <a:spcPts val="300"/>
              </a:spcAft>
              <a:defRPr sz="1350" b="1">
                <a:solidFill>
                  <a:srgbClr val="2468BC"/>
                </a:solidFill>
                <a:latin typeface="Aptos"/>
              </a:defRPr>
            </a:pPr>
            <a:r>
              <a:t>SPL-c</a:t>
            </a:r>
          </a:p>
        </p:txBody>
      </p:sp>
      <p:sp>
        <p:nvSpPr>
          <p:cNvPr id="30" name="TextBox 29"/>
          <p:cNvSpPr txBox="1"/>
          <p:nvPr/>
        </p:nvSpPr>
        <p:spPr>
          <a:xfrm>
            <a:off x="3154680" y="3950208"/>
            <a:ext cx="8412480" cy="274320"/>
          </a:xfrm>
          <a:prstGeom prst="rect">
            <a:avLst/>
          </a:prstGeom>
          <a:noFill/>
        </p:spPr>
        <p:txBody>
          <a:bodyPr wrap="square" lIns="0" tIns="0" rIns="0" bIns="0" anchor="t">
            <a:spAutoFit/>
          </a:bodyPr>
          <a:lstStyle/>
          <a:p>
            <a:pPr>
              <a:spcAft>
                <a:spcPts val="300"/>
              </a:spcAft>
              <a:defRPr sz="1300" b="0">
                <a:solidFill>
                  <a:srgbClr val="58697B"/>
                </a:solidFill>
                <a:latin typeface="Aptos"/>
              </a:defRPr>
            </a:pPr>
            <a:r>
              <a:t>Success weighted by calls vs. the verified oracle route; N/A if that route never passed</a:t>
            </a:r>
          </a:p>
        </p:txBody>
      </p:sp>
      <p:sp>
        <p:nvSpPr>
          <p:cNvPr id="31" name="TextBox 30"/>
          <p:cNvSpPr txBox="1"/>
          <p:nvPr/>
        </p:nvSpPr>
        <p:spPr>
          <a:xfrm>
            <a:off x="603504" y="4407408"/>
            <a:ext cx="2514600" cy="274320"/>
          </a:xfrm>
          <a:prstGeom prst="rect">
            <a:avLst/>
          </a:prstGeom>
          <a:noFill/>
        </p:spPr>
        <p:txBody>
          <a:bodyPr wrap="square" lIns="0" tIns="0" rIns="0" bIns="0" anchor="t">
            <a:spAutoFit/>
          </a:bodyPr>
          <a:lstStyle/>
          <a:p>
            <a:pPr>
              <a:spcAft>
                <a:spcPts val="300"/>
              </a:spcAft>
              <a:defRPr sz="1350" b="1">
                <a:solidFill>
                  <a:srgbClr val="2468BC"/>
                </a:solidFill>
                <a:latin typeface="Aptos"/>
              </a:defRPr>
            </a:pPr>
            <a:r>
              <a:t>recov_gate / pre / exec</a:t>
            </a:r>
          </a:p>
        </p:txBody>
      </p:sp>
      <p:sp>
        <p:nvSpPr>
          <p:cNvPr id="32" name="TextBox 31"/>
          <p:cNvSpPr txBox="1"/>
          <p:nvPr/>
        </p:nvSpPr>
        <p:spPr>
          <a:xfrm>
            <a:off x="3154680" y="4407408"/>
            <a:ext cx="8412480" cy="274320"/>
          </a:xfrm>
          <a:prstGeom prst="rect">
            <a:avLst/>
          </a:prstGeom>
          <a:noFill/>
        </p:spPr>
        <p:txBody>
          <a:bodyPr wrap="square" lIns="0" tIns="0" rIns="0" bIns="0" anchor="t">
            <a:spAutoFit/>
          </a:bodyPr>
          <a:lstStyle/>
          <a:p>
            <a:pPr>
              <a:spcAft>
                <a:spcPts val="300"/>
              </a:spcAft>
              <a:defRPr sz="1300" b="0">
                <a:solidFill>
                  <a:srgbClr val="58697B"/>
                </a:solidFill>
                <a:latin typeface="Aptos"/>
              </a:defRPr>
            </a:pPr>
            <a:r>
              <a:t>Of episodes with that failure class, the share that still succeeded (denominator shown)</a:t>
            </a:r>
          </a:p>
        </p:txBody>
      </p:sp>
      <p:sp>
        <p:nvSpPr>
          <p:cNvPr id="33" name="TextBox 32"/>
          <p:cNvSpPr txBox="1"/>
          <p:nvPr/>
        </p:nvSpPr>
        <p:spPr>
          <a:xfrm>
            <a:off x="603504" y="4864608"/>
            <a:ext cx="2514600" cy="274320"/>
          </a:xfrm>
          <a:prstGeom prst="rect">
            <a:avLst/>
          </a:prstGeom>
          <a:noFill/>
        </p:spPr>
        <p:txBody>
          <a:bodyPr wrap="square" lIns="0" tIns="0" rIns="0" bIns="0" anchor="t">
            <a:spAutoFit/>
          </a:bodyPr>
          <a:lstStyle/>
          <a:p>
            <a:pPr>
              <a:spcAft>
                <a:spcPts val="300"/>
              </a:spcAft>
              <a:defRPr sz="1350" b="1">
                <a:solidFill>
                  <a:srgbClr val="2468BC"/>
                </a:solidFill>
                <a:latin typeface="Aptos"/>
              </a:defRPr>
            </a:pPr>
            <a:r>
              <a:t>repeat</a:t>
            </a:r>
          </a:p>
        </p:txBody>
      </p:sp>
      <p:sp>
        <p:nvSpPr>
          <p:cNvPr id="34" name="TextBox 33"/>
          <p:cNvSpPr txBox="1"/>
          <p:nvPr/>
        </p:nvSpPr>
        <p:spPr>
          <a:xfrm>
            <a:off x="3154680" y="4864608"/>
            <a:ext cx="8412480" cy="274320"/>
          </a:xfrm>
          <a:prstGeom prst="rect">
            <a:avLst/>
          </a:prstGeom>
          <a:noFill/>
        </p:spPr>
        <p:txBody>
          <a:bodyPr wrap="square" lIns="0" tIns="0" rIns="0" bIns="0" anchor="t">
            <a:spAutoFit/>
          </a:bodyPr>
          <a:lstStyle/>
          <a:p>
            <a:pPr>
              <a:spcAft>
                <a:spcPts val="300"/>
              </a:spcAft>
              <a:defRPr sz="1300" b="0">
                <a:solidFill>
                  <a:srgbClr val="58697B"/>
                </a:solidFill>
                <a:latin typeface="Aptos"/>
              </a:defRPr>
            </a:pPr>
            <a:r>
              <a:t>Share of failures followed by the identical call (blind retry)</a:t>
            </a:r>
          </a:p>
        </p:txBody>
      </p:sp>
      <p:sp>
        <p:nvSpPr>
          <p:cNvPr id="35" name="Rounded Rectangle 34"/>
          <p:cNvSpPr/>
          <p:nvPr/>
        </p:nvSpPr>
        <p:spPr>
          <a:xfrm>
            <a:off x="585216" y="5440680"/>
            <a:ext cx="11009376" cy="566928"/>
          </a:xfrm>
          <a:prstGeom prst="roundRect">
            <a:avLst/>
          </a:prstGeom>
          <a:solidFill>
            <a:srgbClr val="E8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586984"/>
            <a:ext cx="10607040" cy="283464"/>
          </a:xfrm>
          <a:prstGeom prst="rect">
            <a:avLst/>
          </a:prstGeom>
          <a:noFill/>
        </p:spPr>
        <p:txBody>
          <a:bodyPr wrap="square" lIns="0" tIns="0" rIns="0" bIns="0" anchor="t">
            <a:spAutoFit/>
          </a:bodyPr>
          <a:lstStyle/>
          <a:p>
            <a:pPr>
              <a:spcAft>
                <a:spcPts val="300"/>
              </a:spcAft>
              <a:defRPr sz="1450" b="1">
                <a:solidFill>
                  <a:srgbClr val="101F34"/>
                </a:solidFill>
                <a:latin typeface="Aptos"/>
              </a:defRPr>
            </a:pPr>
            <a:r>
              <a:t>Eval grid: 29 task × tier combinations × 2 seeds = 58 episodes per planner (174 for the three baselines)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210312"/>
          </a:xfrm>
          <a:prstGeom prst="rect">
            <a:avLst/>
          </a:prstGeom>
          <a:noFill/>
        </p:spPr>
        <p:txBody>
          <a:bodyPr wrap="square" lIns="0" tIns="0" rIns="0" bIns="0" anchor="t">
            <a:spAutoFit/>
          </a:bodyPr>
          <a:lstStyle/>
          <a:p>
            <a:pPr>
              <a:spcAft>
                <a:spcPts val="300"/>
              </a:spcAft>
              <a:defRPr sz="1000" b="1">
                <a:solidFill>
                  <a:srgbClr val="008F93"/>
                </a:solidFill>
                <a:latin typeface="Aptos"/>
              </a:defRPr>
            </a:pPr>
            <a:r>
              <a:t>STATUS · 2026-10-18</a:t>
            </a:r>
          </a:p>
        </p:txBody>
      </p:sp>
      <p:sp>
        <p:nvSpPr>
          <p:cNvPr id="4" name="TextBox 3"/>
          <p:cNvSpPr txBox="1"/>
          <p:nvPr/>
        </p:nvSpPr>
        <p:spPr>
          <a:xfrm>
            <a:off x="502920" y="585216"/>
            <a:ext cx="11018520" cy="685800"/>
          </a:xfrm>
          <a:prstGeom prst="rect">
            <a:avLst/>
          </a:prstGeom>
          <a:noFill/>
        </p:spPr>
        <p:txBody>
          <a:bodyPr wrap="square" lIns="0" tIns="0" rIns="0" bIns="0" anchor="t">
            <a:spAutoFit/>
          </a:bodyPr>
          <a:lstStyle/>
          <a:p>
            <a:pPr>
              <a:spcAft>
                <a:spcPts val="300"/>
              </a:spcAft>
              <a:defRPr sz="2800" b="1">
                <a:solidFill>
                  <a:srgbClr val="19283D"/>
                </a:solidFill>
                <a:latin typeface="Aptos"/>
              </a:defRPr>
            </a:pPr>
            <a:r>
              <a:t>Where it stands</a:t>
            </a:r>
          </a:p>
        </p:txBody>
      </p:sp>
      <p:sp>
        <p:nvSpPr>
          <p:cNvPr id="5" name="TextBox 4"/>
          <p:cNvSpPr txBox="1"/>
          <p:nvPr/>
        </p:nvSpPr>
        <p:spPr>
          <a:xfrm>
            <a:off x="521207" y="1261872"/>
            <a:ext cx="10972800" cy="393192"/>
          </a:xfrm>
          <a:prstGeom prst="rect">
            <a:avLst/>
          </a:prstGeom>
          <a:noFill/>
        </p:spPr>
        <p:txBody>
          <a:bodyPr wrap="square" lIns="0" tIns="0" rIns="0" bIns="0" anchor="t">
            <a:spAutoFit/>
          </a:bodyPr>
          <a:lstStyle/>
          <a:p>
            <a:pPr>
              <a:spcAft>
                <a:spcPts val="300"/>
              </a:spcAft>
              <a:defRPr sz="1250" b="0">
                <a:solidFill>
                  <a:srgbClr val="58697B"/>
                </a:solidFill>
                <a:latin typeface="Aptos"/>
              </a:defRPr>
            </a:pPr>
            <a:r>
              <a:t>Route evidence shows the tasks are physically solvable with the existing skills. Planner numbers come later.</a:t>
            </a:r>
          </a:p>
        </p:txBody>
      </p:sp>
      <p:sp>
        <p:nvSpPr>
          <p:cNvPr id="6" name="Rectangle 5"/>
          <p:cNvSpPr/>
          <p:nvPr/>
        </p:nvSpPr>
        <p:spPr>
          <a:xfrm>
            <a:off x="502920" y="6473952"/>
            <a:ext cx="11183112" cy="10972"/>
          </a:xfrm>
          <a:prstGeom prst="rect">
            <a:avLst/>
          </a:prstGeom>
          <a:solidFill>
            <a:srgbClr val="DB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6519672"/>
            <a:ext cx="7315200" cy="164592"/>
          </a:xfrm>
          <a:prstGeom prst="rect">
            <a:avLst/>
          </a:prstGeom>
          <a:noFill/>
        </p:spPr>
        <p:txBody>
          <a:bodyPr wrap="square" lIns="0" tIns="0" rIns="0" bIns="0" anchor="t">
            <a:spAutoFit/>
          </a:bodyPr>
          <a:lstStyle/>
          <a:p>
            <a:pPr>
              <a:spcAft>
                <a:spcPts val="300"/>
              </a:spcAft>
              <a:defRPr sz="850" b="0">
                <a:solidFill>
                  <a:srgbClr val="58697B"/>
                </a:solidFill>
                <a:latin typeface="Aptos"/>
              </a:defRPr>
            </a:pPr>
            <a:r>
              <a:t>ZenoBench  ·  CMU Agentic Library</a:t>
            </a:r>
          </a:p>
        </p:txBody>
      </p:sp>
      <p:sp>
        <p:nvSpPr>
          <p:cNvPr id="8" name="TextBox 7"/>
          <p:cNvSpPr txBox="1"/>
          <p:nvPr/>
        </p:nvSpPr>
        <p:spPr>
          <a:xfrm>
            <a:off x="11100816" y="6510528"/>
            <a:ext cx="566928" cy="182880"/>
          </a:xfrm>
          <a:prstGeom prst="rect">
            <a:avLst/>
          </a:prstGeom>
          <a:noFill/>
        </p:spPr>
        <p:txBody>
          <a:bodyPr wrap="square" lIns="0" tIns="0" rIns="0" bIns="0" anchor="t">
            <a:spAutoFit/>
          </a:bodyPr>
          <a:lstStyle/>
          <a:p>
            <a:pPr algn="r">
              <a:spcAft>
                <a:spcPts val="300"/>
              </a:spcAft>
              <a:defRPr sz="850" b="0">
                <a:solidFill>
                  <a:srgbClr val="58697B"/>
                </a:solidFill>
                <a:latin typeface="Aptos"/>
              </a:defRPr>
            </a:pPr>
            <a:r>
              <a:t>17 / 20</a:t>
            </a:r>
          </a:p>
        </p:txBody>
      </p:sp>
      <p:sp>
        <p:nvSpPr>
          <p:cNvPr id="9" name="Rounded Rectangle 8"/>
          <p:cNvSpPr/>
          <p:nvPr/>
        </p:nvSpPr>
        <p:spPr>
          <a:xfrm>
            <a:off x="557784" y="1810512"/>
            <a:ext cx="2633472" cy="233172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1810512"/>
            <a:ext cx="2633472" cy="91440"/>
          </a:xfrm>
          <a:prstGeom prst="rect">
            <a:avLst/>
          </a:prstGeom>
          <a:solidFill>
            <a:srgbClr val="2693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103120"/>
            <a:ext cx="2286000" cy="548640"/>
          </a:xfrm>
          <a:prstGeom prst="rect">
            <a:avLst/>
          </a:prstGeom>
          <a:noFill/>
        </p:spPr>
        <p:txBody>
          <a:bodyPr wrap="square" lIns="0" tIns="0" rIns="0" bIns="0" anchor="t">
            <a:spAutoFit/>
          </a:bodyPr>
          <a:lstStyle/>
          <a:p>
            <a:pPr>
              <a:spcAft>
                <a:spcPts val="300"/>
              </a:spcAft>
              <a:defRPr sz="3000" b="1">
                <a:solidFill>
                  <a:srgbClr val="269365"/>
                </a:solidFill>
                <a:latin typeface="Aptos"/>
              </a:defRPr>
            </a:pPr>
            <a:r>
              <a:t>59 / 62</a:t>
            </a:r>
          </a:p>
        </p:txBody>
      </p:sp>
      <p:sp>
        <p:nvSpPr>
          <p:cNvPr id="12" name="TextBox 11"/>
          <p:cNvSpPr txBox="1"/>
          <p:nvPr/>
        </p:nvSpPr>
        <p:spPr>
          <a:xfrm>
            <a:off x="758952" y="2816352"/>
            <a:ext cx="2286000" cy="548640"/>
          </a:xfrm>
          <a:prstGeom prst="rect">
            <a:avLst/>
          </a:prstGeom>
          <a:noFill/>
        </p:spPr>
        <p:txBody>
          <a:bodyPr wrap="square" lIns="0" tIns="0" rIns="0" bIns="0" anchor="t">
            <a:spAutoFit/>
          </a:bodyPr>
          <a:lstStyle/>
          <a:p>
            <a:pPr>
              <a:spcAft>
                <a:spcPts val="300"/>
              </a:spcAft>
              <a:defRPr sz="1350" b="1">
                <a:solidFill>
                  <a:srgbClr val="19283D"/>
                </a:solidFill>
                <a:latin typeface="Aptos"/>
              </a:defRPr>
            </a:pPr>
            <a:r>
              <a:t>declared route episodes pass</a:t>
            </a:r>
          </a:p>
        </p:txBody>
      </p:sp>
      <p:sp>
        <p:nvSpPr>
          <p:cNvPr id="13" name="TextBox 12"/>
          <p:cNvSpPr txBox="1"/>
          <p:nvPr/>
        </p:nvSpPr>
        <p:spPr>
          <a:xfrm>
            <a:off x="758952" y="3474720"/>
            <a:ext cx="2286000" cy="548640"/>
          </a:xfrm>
          <a:prstGeom prst="rect">
            <a:avLst/>
          </a:prstGeom>
          <a:noFill/>
        </p:spPr>
        <p:txBody>
          <a:bodyPr wrap="square" lIns="0" tIns="0" rIns="0" bIns="0" anchor="t">
            <a:spAutoFit/>
          </a:bodyPr>
          <a:lstStyle/>
          <a:p>
            <a:pPr>
              <a:spcAft>
                <a:spcPts val="300"/>
              </a:spcAft>
              <a:defRPr sz="1150" b="0">
                <a:solidFill>
                  <a:srgbClr val="58697B"/>
                </a:solidFill>
                <a:latin typeface="Aptos"/>
              </a:defRPr>
            </a:pPr>
            <a:r>
              <a:t>27 stable · 3 flaky routes</a:t>
            </a:r>
          </a:p>
        </p:txBody>
      </p:sp>
      <p:sp>
        <p:nvSpPr>
          <p:cNvPr id="14" name="Rounded Rectangle 13"/>
          <p:cNvSpPr/>
          <p:nvPr/>
        </p:nvSpPr>
        <p:spPr>
          <a:xfrm>
            <a:off x="3429000" y="1810512"/>
            <a:ext cx="2633472" cy="233172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29000" y="1810512"/>
            <a:ext cx="2633472" cy="91440"/>
          </a:xfrm>
          <a:prstGeom prst="rect">
            <a:avLst/>
          </a:prstGeom>
          <a:solidFill>
            <a:srgbClr val="2468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168" y="2103120"/>
            <a:ext cx="2286000" cy="548640"/>
          </a:xfrm>
          <a:prstGeom prst="rect">
            <a:avLst/>
          </a:prstGeom>
          <a:noFill/>
        </p:spPr>
        <p:txBody>
          <a:bodyPr wrap="square" lIns="0" tIns="0" rIns="0" bIns="0" anchor="t">
            <a:spAutoFit/>
          </a:bodyPr>
          <a:lstStyle/>
          <a:p>
            <a:pPr>
              <a:spcAft>
                <a:spcPts val="300"/>
              </a:spcAft>
              <a:defRPr sz="3000" b="1">
                <a:solidFill>
                  <a:srgbClr val="2468BC"/>
                </a:solidFill>
                <a:latin typeface="Aptos"/>
              </a:defRPr>
            </a:pPr>
            <a:r>
              <a:t>9 / 10</a:t>
            </a:r>
          </a:p>
        </p:txBody>
      </p:sp>
      <p:sp>
        <p:nvSpPr>
          <p:cNvPr id="17" name="TextBox 16"/>
          <p:cNvSpPr txBox="1"/>
          <p:nvPr/>
        </p:nvSpPr>
        <p:spPr>
          <a:xfrm>
            <a:off x="3630168" y="2816352"/>
            <a:ext cx="2286000" cy="548640"/>
          </a:xfrm>
          <a:prstGeom prst="rect">
            <a:avLst/>
          </a:prstGeom>
          <a:noFill/>
        </p:spPr>
        <p:txBody>
          <a:bodyPr wrap="square" lIns="0" tIns="0" rIns="0" bIns="0" anchor="t">
            <a:spAutoFit/>
          </a:bodyPr>
          <a:lstStyle/>
          <a:p>
            <a:pPr>
              <a:spcAft>
                <a:spcPts val="300"/>
              </a:spcAft>
              <a:defRPr sz="1350" b="1">
                <a:solidFill>
                  <a:srgbClr val="19283D"/>
                </a:solidFill>
                <a:latin typeface="Aptos"/>
              </a:defRPr>
            </a:pPr>
            <a:r>
              <a:t>tasks solved by the oracle</a:t>
            </a:r>
          </a:p>
        </p:txBody>
      </p:sp>
      <p:sp>
        <p:nvSpPr>
          <p:cNvPr id="18" name="TextBox 17"/>
          <p:cNvSpPr txBox="1"/>
          <p:nvPr/>
        </p:nvSpPr>
        <p:spPr>
          <a:xfrm>
            <a:off x="3630168" y="3474720"/>
            <a:ext cx="2286000" cy="548640"/>
          </a:xfrm>
          <a:prstGeom prst="rect">
            <a:avLst/>
          </a:prstGeom>
          <a:noFill/>
        </p:spPr>
        <p:txBody>
          <a:bodyPr wrap="square" lIns="0" tIns="0" rIns="0" bIns="0" anchor="t">
            <a:spAutoFit/>
          </a:bodyPr>
          <a:lstStyle/>
          <a:p>
            <a:pPr>
              <a:spcAft>
                <a:spcPts val="300"/>
              </a:spcAft>
              <a:defRPr sz="1150" b="0">
                <a:solidFill>
                  <a:srgbClr val="58697B"/>
                </a:solidFill>
                <a:latin typeface="Aptos"/>
              </a:defRPr>
            </a:pPr>
            <a:r>
              <a:t>fixed 2 / 10 · retry 2 / 10</a:t>
            </a:r>
          </a:p>
        </p:txBody>
      </p:sp>
      <p:sp>
        <p:nvSpPr>
          <p:cNvPr id="19" name="Rounded Rectangle 18"/>
          <p:cNvSpPr/>
          <p:nvPr/>
        </p:nvSpPr>
        <p:spPr>
          <a:xfrm>
            <a:off x="6300216" y="1810512"/>
            <a:ext cx="2633472" cy="233172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0216" y="1810512"/>
            <a:ext cx="2633472" cy="91440"/>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1384" y="2103120"/>
            <a:ext cx="2286000" cy="548640"/>
          </a:xfrm>
          <a:prstGeom prst="rect">
            <a:avLst/>
          </a:prstGeom>
          <a:noFill/>
        </p:spPr>
        <p:txBody>
          <a:bodyPr wrap="square" lIns="0" tIns="0" rIns="0" bIns="0" anchor="t">
            <a:spAutoFit/>
          </a:bodyPr>
          <a:lstStyle/>
          <a:p>
            <a:pPr>
              <a:spcAft>
                <a:spcPts val="300"/>
              </a:spcAft>
              <a:defRPr sz="3000" b="1">
                <a:solidFill>
                  <a:srgbClr val="EFA33C"/>
                </a:solidFill>
                <a:latin typeface="Aptos"/>
              </a:defRPr>
            </a:pPr>
            <a:r>
              <a:t>65 / 70</a:t>
            </a:r>
          </a:p>
        </p:txBody>
      </p:sp>
      <p:sp>
        <p:nvSpPr>
          <p:cNvPr id="22" name="TextBox 21"/>
          <p:cNvSpPr txBox="1"/>
          <p:nvPr/>
        </p:nvSpPr>
        <p:spPr>
          <a:xfrm>
            <a:off x="6501384" y="2816352"/>
            <a:ext cx="2286000" cy="548640"/>
          </a:xfrm>
          <a:prstGeom prst="rect">
            <a:avLst/>
          </a:prstGeom>
          <a:noFill/>
        </p:spPr>
        <p:txBody>
          <a:bodyPr wrap="square" lIns="0" tIns="0" rIns="0" bIns="0" anchor="t">
            <a:spAutoFit/>
          </a:bodyPr>
          <a:lstStyle/>
          <a:p>
            <a:pPr>
              <a:spcAft>
                <a:spcPts val="300"/>
              </a:spcAft>
              <a:defRPr sz="1350" b="1">
                <a:solidFill>
                  <a:srgbClr val="19283D"/>
                </a:solidFill>
                <a:latin typeface="Aptos"/>
              </a:defRPr>
            </a:pPr>
            <a:r>
              <a:t>SkillNodes succeeded in a real call</a:t>
            </a:r>
          </a:p>
        </p:txBody>
      </p:sp>
      <p:sp>
        <p:nvSpPr>
          <p:cNvPr id="23" name="TextBox 22"/>
          <p:cNvSpPr txBox="1"/>
          <p:nvPr/>
        </p:nvSpPr>
        <p:spPr>
          <a:xfrm>
            <a:off x="6501384" y="3474720"/>
            <a:ext cx="2286000" cy="548640"/>
          </a:xfrm>
          <a:prstGeom prst="rect">
            <a:avLst/>
          </a:prstGeom>
          <a:noFill/>
        </p:spPr>
        <p:txBody>
          <a:bodyPr wrap="square" lIns="0" tIns="0" rIns="0" bIns="0" anchor="t">
            <a:spAutoFit/>
          </a:bodyPr>
          <a:lstStyle/>
          <a:p>
            <a:pPr>
              <a:spcAft>
                <a:spcPts val="300"/>
              </a:spcAft>
              <a:defRPr sz="1150" b="0">
                <a:solidFill>
                  <a:srgbClr val="58697B"/>
                </a:solidFill>
                <a:latin typeface="Aptos"/>
              </a:defRPr>
            </a:pPr>
            <a:r>
              <a:t>4 called but failed · 1 never called</a:t>
            </a:r>
          </a:p>
        </p:txBody>
      </p:sp>
      <p:sp>
        <p:nvSpPr>
          <p:cNvPr id="24" name="Rounded Rectangle 23"/>
          <p:cNvSpPr/>
          <p:nvPr/>
        </p:nvSpPr>
        <p:spPr>
          <a:xfrm>
            <a:off x="9171432" y="1810512"/>
            <a:ext cx="2633472" cy="233172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71432" y="1810512"/>
            <a:ext cx="2633472" cy="91440"/>
          </a:xfrm>
          <a:prstGeom prst="rect">
            <a:avLst/>
          </a:prstGeom>
          <a:solidFill>
            <a:srgbClr val="C44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72600" y="2103120"/>
            <a:ext cx="2286000" cy="548640"/>
          </a:xfrm>
          <a:prstGeom prst="rect">
            <a:avLst/>
          </a:prstGeom>
          <a:noFill/>
        </p:spPr>
        <p:txBody>
          <a:bodyPr wrap="square" lIns="0" tIns="0" rIns="0" bIns="0" anchor="t">
            <a:spAutoFit/>
          </a:bodyPr>
          <a:lstStyle/>
          <a:p>
            <a:pPr>
              <a:spcAft>
                <a:spcPts val="300"/>
              </a:spcAft>
              <a:defRPr sz="3000" b="1">
                <a:solidFill>
                  <a:srgbClr val="C44E4B"/>
                </a:solidFill>
                <a:latin typeface="Aptos"/>
              </a:defRPr>
            </a:pPr>
            <a:r>
              <a:t>14 / 21</a:t>
            </a:r>
          </a:p>
        </p:txBody>
      </p:sp>
      <p:sp>
        <p:nvSpPr>
          <p:cNvPr id="27" name="TextBox 26"/>
          <p:cNvSpPr txBox="1"/>
          <p:nvPr/>
        </p:nvSpPr>
        <p:spPr>
          <a:xfrm>
            <a:off x="9372600" y="2816352"/>
            <a:ext cx="2286000" cy="548640"/>
          </a:xfrm>
          <a:prstGeom prst="rect">
            <a:avLst/>
          </a:prstGeom>
          <a:noFill/>
        </p:spPr>
        <p:txBody>
          <a:bodyPr wrap="square" lIns="0" tIns="0" rIns="0" bIns="0" anchor="t">
            <a:spAutoFit/>
          </a:bodyPr>
          <a:lstStyle/>
          <a:p>
            <a:pPr>
              <a:spcAft>
                <a:spcPts val="300"/>
              </a:spcAft>
              <a:defRPr sz="1350" b="1">
                <a:solidFill>
                  <a:srgbClr val="19283D"/>
                </a:solidFill>
                <a:latin typeface="Aptos"/>
              </a:defRPr>
            </a:pPr>
            <a:r>
              <a:t>single-skill probes pass</a:t>
            </a:r>
          </a:p>
        </p:txBody>
      </p:sp>
      <p:sp>
        <p:nvSpPr>
          <p:cNvPr id="28" name="TextBox 27"/>
          <p:cNvSpPr txBox="1"/>
          <p:nvPr/>
        </p:nvSpPr>
        <p:spPr>
          <a:xfrm>
            <a:off x="9372600" y="3474720"/>
            <a:ext cx="2286000" cy="548640"/>
          </a:xfrm>
          <a:prstGeom prst="rect">
            <a:avLst/>
          </a:prstGeom>
          <a:noFill/>
        </p:spPr>
        <p:txBody>
          <a:bodyPr wrap="square" lIns="0" tIns="0" rIns="0" bIns="0" anchor="t">
            <a:spAutoFit/>
          </a:bodyPr>
          <a:lstStyle/>
          <a:p>
            <a:pPr>
              <a:spcAft>
                <a:spcPts val="300"/>
              </a:spcAft>
              <a:defRPr sz="1150" b="0">
                <a:solidFill>
                  <a:srgbClr val="58697B"/>
                </a:solidFill>
                <a:latin typeface="Aptos"/>
              </a:defRPr>
            </a:pPr>
            <a:r>
              <a:t>brace, pour, empty, swap ... fail</a:t>
            </a:r>
          </a:p>
        </p:txBody>
      </p:sp>
      <p:sp>
        <p:nvSpPr>
          <p:cNvPr id="29" name="TextBox 28"/>
          <p:cNvSpPr txBox="1"/>
          <p:nvPr/>
        </p:nvSpPr>
        <p:spPr>
          <a:xfrm>
            <a:off x="603504" y="4407408"/>
            <a:ext cx="5486400" cy="301752"/>
          </a:xfrm>
          <a:prstGeom prst="rect">
            <a:avLst/>
          </a:prstGeom>
          <a:noFill/>
        </p:spPr>
        <p:txBody>
          <a:bodyPr wrap="square" lIns="0" tIns="0" rIns="0" bIns="0" anchor="t">
            <a:spAutoFit/>
          </a:bodyPr>
          <a:lstStyle/>
          <a:p>
            <a:pPr>
              <a:spcAft>
                <a:spcPts val="300"/>
              </a:spcAft>
              <a:defRPr sz="1500" b="1">
                <a:solidFill>
                  <a:srgbClr val="19283D"/>
                </a:solidFill>
                <a:latin typeface="Aptos"/>
              </a:defRPr>
            </a:pPr>
            <a:r>
              <a:t>Checked this round</a:t>
            </a:r>
          </a:p>
        </p:txBody>
      </p:sp>
      <p:sp>
        <p:nvSpPr>
          <p:cNvPr id="30" name="TextBox 29"/>
          <p:cNvSpPr txBox="1"/>
          <p:nvPr/>
        </p:nvSpPr>
        <p:spPr>
          <a:xfrm>
            <a:off x="603504" y="4736592"/>
            <a:ext cx="5577840" cy="1097280"/>
          </a:xfrm>
          <a:prstGeom prst="rect">
            <a:avLst/>
          </a:prstGeom>
          <a:noFill/>
        </p:spPr>
        <p:txBody>
          <a:bodyPr wrap="square" lIns="0" tIns="0" rIns="0" bIns="0" anchor="t">
            <a:spAutoFit/>
          </a:bodyPr>
          <a:lstStyle/>
          <a:p>
            <a:pPr>
              <a:spcAft>
                <a:spcPts val="300"/>
              </a:spcAft>
              <a:defRPr sz="1230" b="0">
                <a:solidFill>
                  <a:srgbClr val="58697B"/>
                </a:solidFill>
                <a:latin typeface="Aptos"/>
              </a:defRPr>
            </a:pPr>
            <a:r>
              <a:t>• Edge-pinch regression fixed (opt-in flag); g_expose_then_pick_book 3/3</a:t>
            </a:r>
          </a:p>
          <a:p>
            <a:pPr>
              <a:spcAft>
                <a:spcPts val="300"/>
              </a:spcAft>
              <a:defRPr sz="1230" b="0">
                <a:solidFill>
                  <a:srgbClr val="58697B"/>
                </a:solidFill>
                <a:latin typeface="Aptos"/>
              </a:defRPr>
            </a:pPr>
            <a:r>
              <a:t>• Result fields checked live: normal, recovered, failure exit, budget exit, crash → incomplete</a:t>
            </a:r>
          </a:p>
        </p:txBody>
      </p:sp>
      <p:sp>
        <p:nvSpPr>
          <p:cNvPr id="31" name="TextBox 30"/>
          <p:cNvSpPr txBox="1"/>
          <p:nvPr/>
        </p:nvSpPr>
        <p:spPr>
          <a:xfrm>
            <a:off x="6355080" y="4407408"/>
            <a:ext cx="5120640" cy="301752"/>
          </a:xfrm>
          <a:prstGeom prst="rect">
            <a:avLst/>
          </a:prstGeom>
          <a:noFill/>
        </p:spPr>
        <p:txBody>
          <a:bodyPr wrap="square" lIns="0" tIns="0" rIns="0" bIns="0" anchor="t">
            <a:spAutoFit/>
          </a:bodyPr>
          <a:lstStyle/>
          <a:p>
            <a:pPr>
              <a:spcAft>
                <a:spcPts val="300"/>
              </a:spcAft>
              <a:defRPr sz="1500" b="1">
                <a:solidFill>
                  <a:srgbClr val="19283D"/>
                </a:solidFill>
                <a:latin typeface="Aptos"/>
              </a:defRPr>
            </a:pPr>
            <a:r>
              <a:t>Not done yet</a:t>
            </a:r>
          </a:p>
        </p:txBody>
      </p:sp>
      <p:sp>
        <p:nvSpPr>
          <p:cNvPr id="32" name="TextBox 31"/>
          <p:cNvSpPr txBox="1"/>
          <p:nvPr/>
        </p:nvSpPr>
        <p:spPr>
          <a:xfrm>
            <a:off x="6355080" y="4736592"/>
            <a:ext cx="5257800" cy="1097280"/>
          </a:xfrm>
          <a:prstGeom prst="rect">
            <a:avLst/>
          </a:prstGeom>
          <a:noFill/>
        </p:spPr>
        <p:txBody>
          <a:bodyPr wrap="square" lIns="0" tIns="0" rIns="0" bIns="0" anchor="t">
            <a:spAutoFit/>
          </a:bodyPr>
          <a:lstStyle/>
          <a:p>
            <a:pPr>
              <a:spcAft>
                <a:spcPts val="300"/>
              </a:spcAft>
              <a:defRPr sz="1230" b="0">
                <a:solidFill>
                  <a:srgbClr val="58697B"/>
                </a:solidFill>
                <a:latin typeface="Aptos"/>
              </a:defRPr>
            </a:pPr>
            <a:r>
              <a:t>• No real VLM connected yet (interface tested with test planners)</a:t>
            </a:r>
          </a:p>
          <a:p>
            <a:pPr>
              <a:spcAft>
                <a:spcPts val="300"/>
              </a:spcAft>
              <a:defRPr sz="1230" b="0">
                <a:solidFill>
                  <a:srgbClr val="58697B"/>
                </a:solidFill>
                <a:latin typeface="Aptos"/>
              </a:defRPr>
            </a:pPr>
            <a:r>
              <a:t>• 174-episode eval grid not run; baselines are 1 seed per task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210312"/>
          </a:xfrm>
          <a:prstGeom prst="rect">
            <a:avLst/>
          </a:prstGeom>
          <a:noFill/>
        </p:spPr>
        <p:txBody>
          <a:bodyPr wrap="square" lIns="0" tIns="0" rIns="0" bIns="0" anchor="t">
            <a:spAutoFit/>
          </a:bodyPr>
          <a:lstStyle/>
          <a:p>
            <a:pPr>
              <a:spcAft>
                <a:spcPts val="300"/>
              </a:spcAft>
              <a:defRPr sz="1000" b="1">
                <a:solidFill>
                  <a:srgbClr val="008F93"/>
                </a:solidFill>
                <a:latin typeface="Aptos"/>
              </a:defRPr>
            </a:pPr>
            <a:r>
              <a:t>PLAN</a:t>
            </a:r>
          </a:p>
        </p:txBody>
      </p:sp>
      <p:sp>
        <p:nvSpPr>
          <p:cNvPr id="4" name="TextBox 3"/>
          <p:cNvSpPr txBox="1"/>
          <p:nvPr/>
        </p:nvSpPr>
        <p:spPr>
          <a:xfrm>
            <a:off x="502920" y="585216"/>
            <a:ext cx="11018520" cy="685800"/>
          </a:xfrm>
          <a:prstGeom prst="rect">
            <a:avLst/>
          </a:prstGeom>
          <a:noFill/>
        </p:spPr>
        <p:txBody>
          <a:bodyPr wrap="square" lIns="0" tIns="0" rIns="0" bIns="0" anchor="t">
            <a:spAutoFit/>
          </a:bodyPr>
          <a:lstStyle/>
          <a:p>
            <a:pPr>
              <a:spcAft>
                <a:spcPts val="300"/>
              </a:spcAft>
              <a:defRPr sz="2800" b="1">
                <a:solidFill>
                  <a:srgbClr val="19283D"/>
                </a:solidFill>
                <a:latin typeface="Aptos"/>
              </a:defRPr>
            </a:pPr>
            <a:r>
              <a:t>Next steps</a:t>
            </a:r>
          </a:p>
        </p:txBody>
      </p:sp>
      <p:sp>
        <p:nvSpPr>
          <p:cNvPr id="5" name="Rectangle 4"/>
          <p:cNvSpPr/>
          <p:nvPr/>
        </p:nvSpPr>
        <p:spPr>
          <a:xfrm>
            <a:off x="502920" y="6473952"/>
            <a:ext cx="11183112" cy="10972"/>
          </a:xfrm>
          <a:prstGeom prst="rect">
            <a:avLst/>
          </a:prstGeom>
          <a:solidFill>
            <a:srgbClr val="DB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12064" y="6519672"/>
            <a:ext cx="7315200" cy="164592"/>
          </a:xfrm>
          <a:prstGeom prst="rect">
            <a:avLst/>
          </a:prstGeom>
          <a:noFill/>
        </p:spPr>
        <p:txBody>
          <a:bodyPr wrap="square" lIns="0" tIns="0" rIns="0" bIns="0" anchor="t">
            <a:spAutoFit/>
          </a:bodyPr>
          <a:lstStyle/>
          <a:p>
            <a:pPr>
              <a:spcAft>
                <a:spcPts val="300"/>
              </a:spcAft>
              <a:defRPr sz="850" b="0">
                <a:solidFill>
                  <a:srgbClr val="58697B"/>
                </a:solidFill>
                <a:latin typeface="Aptos"/>
              </a:defRPr>
            </a:pPr>
            <a:r>
              <a:t>ZenoBench  ·  CMU Agentic Library</a:t>
            </a:r>
          </a:p>
        </p:txBody>
      </p:sp>
      <p:sp>
        <p:nvSpPr>
          <p:cNvPr id="7" name="TextBox 6"/>
          <p:cNvSpPr txBox="1"/>
          <p:nvPr/>
        </p:nvSpPr>
        <p:spPr>
          <a:xfrm>
            <a:off x="11100816" y="6510528"/>
            <a:ext cx="566928" cy="182880"/>
          </a:xfrm>
          <a:prstGeom prst="rect">
            <a:avLst/>
          </a:prstGeom>
          <a:noFill/>
        </p:spPr>
        <p:txBody>
          <a:bodyPr wrap="square" lIns="0" tIns="0" rIns="0" bIns="0" anchor="t">
            <a:spAutoFit/>
          </a:bodyPr>
          <a:lstStyle/>
          <a:p>
            <a:pPr algn="r">
              <a:spcAft>
                <a:spcPts val="300"/>
              </a:spcAft>
              <a:defRPr sz="850" b="0">
                <a:solidFill>
                  <a:srgbClr val="58697B"/>
                </a:solidFill>
                <a:latin typeface="Aptos"/>
              </a:defRPr>
            </a:pPr>
            <a:r>
              <a:t>18 / 20</a:t>
            </a:r>
          </a:p>
        </p:txBody>
      </p:sp>
      <p:sp>
        <p:nvSpPr>
          <p:cNvPr id="8" name="Rounded Rectangle 7"/>
          <p:cNvSpPr/>
          <p:nvPr/>
        </p:nvSpPr>
        <p:spPr>
          <a:xfrm>
            <a:off x="557784" y="1810512"/>
            <a:ext cx="2633472" cy="251460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810512"/>
            <a:ext cx="2633472" cy="109728"/>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157984"/>
            <a:ext cx="2286000" cy="685800"/>
          </a:xfrm>
          <a:prstGeom prst="rect">
            <a:avLst/>
          </a:prstGeom>
          <a:noFill/>
        </p:spPr>
        <p:txBody>
          <a:bodyPr wrap="square" lIns="0" tIns="0" rIns="0" bIns="0" anchor="t">
            <a:spAutoFit/>
          </a:bodyPr>
          <a:lstStyle/>
          <a:p>
            <a:pPr>
              <a:spcAft>
                <a:spcPts val="300"/>
              </a:spcAft>
              <a:defRPr sz="1700" b="1">
                <a:solidFill>
                  <a:srgbClr val="19283D"/>
                </a:solidFill>
                <a:latin typeface="Aptos"/>
              </a:defRPr>
            </a:pPr>
            <a:r>
              <a:t>1 · Connect a VLM</a:t>
            </a:r>
          </a:p>
        </p:txBody>
      </p:sp>
      <p:sp>
        <p:nvSpPr>
          <p:cNvPr id="11" name="TextBox 10"/>
          <p:cNvSpPr txBox="1"/>
          <p:nvPr/>
        </p:nvSpPr>
        <p:spPr>
          <a:xfrm>
            <a:off x="758952" y="2788920"/>
            <a:ext cx="2286000" cy="1371600"/>
          </a:xfrm>
          <a:prstGeom prst="rect">
            <a:avLst/>
          </a:prstGeom>
          <a:noFill/>
        </p:spPr>
        <p:txBody>
          <a:bodyPr wrap="square" lIns="0" tIns="0" rIns="0" bIns="0" anchor="t">
            <a:spAutoFit/>
          </a:bodyPr>
          <a:lstStyle/>
          <a:p>
            <a:pPr>
              <a:spcAft>
                <a:spcPts val="300"/>
              </a:spcAft>
              <a:defRPr sz="1350" b="0">
                <a:solidFill>
                  <a:srgbClr val="58697B"/>
                </a:solidFill>
                <a:latin typeface="Aptos"/>
              </a:defRPr>
            </a:pPr>
            <a:r>
              <a:t>3–4 stable tasks (T01, T03, T08, T10), easy + medium: check that it reads the feedback and the gate</a:t>
            </a:r>
          </a:p>
        </p:txBody>
      </p:sp>
      <p:sp>
        <p:nvSpPr>
          <p:cNvPr id="12" name="Rounded Rectangle 11"/>
          <p:cNvSpPr/>
          <p:nvPr/>
        </p:nvSpPr>
        <p:spPr>
          <a:xfrm>
            <a:off x="3429000" y="1810512"/>
            <a:ext cx="2633472" cy="251460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29000" y="1810512"/>
            <a:ext cx="2633472" cy="109728"/>
          </a:xfrm>
          <a:prstGeom prst="rect">
            <a:avLst/>
          </a:prstGeom>
          <a:solidFill>
            <a:srgbClr val="2468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0168" y="2157984"/>
            <a:ext cx="2286000" cy="685800"/>
          </a:xfrm>
          <a:prstGeom prst="rect">
            <a:avLst/>
          </a:prstGeom>
          <a:noFill/>
        </p:spPr>
        <p:txBody>
          <a:bodyPr wrap="square" lIns="0" tIns="0" rIns="0" bIns="0" anchor="t">
            <a:spAutoFit/>
          </a:bodyPr>
          <a:lstStyle/>
          <a:p>
            <a:pPr>
              <a:spcAft>
                <a:spcPts val="300"/>
              </a:spcAft>
              <a:defRPr sz="1700" b="1">
                <a:solidFill>
                  <a:srgbClr val="19283D"/>
                </a:solidFill>
                <a:latin typeface="Aptos"/>
              </a:defRPr>
            </a:pPr>
            <a:r>
              <a:t>2 · Rerun all routes</a:t>
            </a:r>
          </a:p>
        </p:txBody>
      </p:sp>
      <p:sp>
        <p:nvSpPr>
          <p:cNvPr id="15" name="TextBox 14"/>
          <p:cNvSpPr txBox="1"/>
          <p:nvPr/>
        </p:nvSpPr>
        <p:spPr>
          <a:xfrm>
            <a:off x="3630168" y="2788920"/>
            <a:ext cx="2286000" cy="1371600"/>
          </a:xfrm>
          <a:prstGeom prst="rect">
            <a:avLst/>
          </a:prstGeom>
          <a:noFill/>
        </p:spPr>
        <p:txBody>
          <a:bodyPr wrap="square" lIns="0" tIns="0" rIns="0" bIns="0" anchor="t">
            <a:spAutoFit/>
          </a:bodyPr>
          <a:lstStyle/>
          <a:p>
            <a:pPr>
              <a:spcAft>
                <a:spcPts val="300"/>
              </a:spcAft>
              <a:defRPr sz="1350" b="0">
                <a:solidFill>
                  <a:srgbClr val="58697B"/>
                </a:solidFill>
                <a:latin typeface="Aptos"/>
              </a:defRPr>
            </a:pPr>
            <a:r>
              <a:t>on the current code, so every route has fresh evidence</a:t>
            </a:r>
          </a:p>
        </p:txBody>
      </p:sp>
      <p:sp>
        <p:nvSpPr>
          <p:cNvPr id="16" name="Rounded Rectangle 15"/>
          <p:cNvSpPr/>
          <p:nvPr/>
        </p:nvSpPr>
        <p:spPr>
          <a:xfrm>
            <a:off x="6300216" y="1810512"/>
            <a:ext cx="2633472" cy="251460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0216" y="1810512"/>
            <a:ext cx="2633472" cy="109728"/>
          </a:xfrm>
          <a:prstGeom prst="rect">
            <a:avLst/>
          </a:prstGeom>
          <a:solidFill>
            <a:srgbClr val="EFA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1384" y="2157984"/>
            <a:ext cx="2286000" cy="685800"/>
          </a:xfrm>
          <a:prstGeom prst="rect">
            <a:avLst/>
          </a:prstGeom>
          <a:noFill/>
        </p:spPr>
        <p:txBody>
          <a:bodyPr wrap="square" lIns="0" tIns="0" rIns="0" bIns="0" anchor="t">
            <a:spAutoFit/>
          </a:bodyPr>
          <a:lstStyle/>
          <a:p>
            <a:pPr>
              <a:spcAft>
                <a:spcPts val="300"/>
              </a:spcAft>
              <a:defRPr sz="1700" b="1">
                <a:solidFill>
                  <a:srgbClr val="19283D"/>
                </a:solidFill>
                <a:latin typeface="Aptos"/>
              </a:defRPr>
            </a:pPr>
            <a:r>
              <a:t>3 · Fix flaky routes</a:t>
            </a:r>
          </a:p>
        </p:txBody>
      </p:sp>
      <p:sp>
        <p:nvSpPr>
          <p:cNvPr id="19" name="TextBox 18"/>
          <p:cNvSpPr txBox="1"/>
          <p:nvPr/>
        </p:nvSpPr>
        <p:spPr>
          <a:xfrm>
            <a:off x="6501384" y="2788920"/>
            <a:ext cx="2286000" cy="1371600"/>
          </a:xfrm>
          <a:prstGeom prst="rect">
            <a:avLst/>
          </a:prstGeom>
          <a:noFill/>
        </p:spPr>
        <p:txBody>
          <a:bodyPr wrap="square" lIns="0" tIns="0" rIns="0" bIns="0" anchor="t">
            <a:spAutoFit/>
          </a:bodyPr>
          <a:lstStyle/>
          <a:p>
            <a:pPr>
              <a:spcAft>
                <a:spcPts val="300"/>
              </a:spcAft>
              <a:defRPr sz="1350" b="0">
                <a:solidFill>
                  <a:srgbClr val="58697B"/>
                </a:solidFill>
                <a:latin typeface="Aptos"/>
              </a:defRPr>
            </a:pPr>
            <a:r>
              <a:t>T01 hard, T02 separate: adjust the local layout first; otherwise mark diagnostic</a:t>
            </a:r>
          </a:p>
        </p:txBody>
      </p:sp>
      <p:sp>
        <p:nvSpPr>
          <p:cNvPr id="20" name="Rounded Rectangle 19"/>
          <p:cNvSpPr/>
          <p:nvPr/>
        </p:nvSpPr>
        <p:spPr>
          <a:xfrm>
            <a:off x="9171432" y="1810512"/>
            <a:ext cx="2633472" cy="2514600"/>
          </a:xfrm>
          <a:prstGeom prst="roundRect">
            <a:avLst/>
          </a:prstGeom>
          <a:solidFill>
            <a:srgbClr val="F1F6FB"/>
          </a:solidFill>
          <a:ln>
            <a:solidFill>
              <a:srgbClr val="DB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71432" y="1810512"/>
            <a:ext cx="2633472" cy="109728"/>
          </a:xfrm>
          <a:prstGeom prst="rect">
            <a:avLst/>
          </a:prstGeom>
          <a:solidFill>
            <a:srgbClr val="2693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72600" y="2157984"/>
            <a:ext cx="2286000" cy="685800"/>
          </a:xfrm>
          <a:prstGeom prst="rect">
            <a:avLst/>
          </a:prstGeom>
          <a:noFill/>
        </p:spPr>
        <p:txBody>
          <a:bodyPr wrap="square" lIns="0" tIns="0" rIns="0" bIns="0" anchor="t">
            <a:spAutoFit/>
          </a:bodyPr>
          <a:lstStyle/>
          <a:p>
            <a:pPr>
              <a:spcAft>
                <a:spcPts val="300"/>
              </a:spcAft>
              <a:defRPr sz="1700" b="1">
                <a:solidFill>
                  <a:srgbClr val="19283D"/>
                </a:solidFill>
                <a:latin typeface="Aptos"/>
              </a:defRPr>
            </a:pPr>
            <a:r>
              <a:t>4 · Run the eval grid</a:t>
            </a:r>
          </a:p>
        </p:txBody>
      </p:sp>
      <p:sp>
        <p:nvSpPr>
          <p:cNvPr id="23" name="TextBox 22"/>
          <p:cNvSpPr txBox="1"/>
          <p:nvPr/>
        </p:nvSpPr>
        <p:spPr>
          <a:xfrm>
            <a:off x="9372600" y="2788920"/>
            <a:ext cx="2286000" cy="1371600"/>
          </a:xfrm>
          <a:prstGeom prst="rect">
            <a:avLst/>
          </a:prstGeom>
          <a:noFill/>
        </p:spPr>
        <p:txBody>
          <a:bodyPr wrap="square" lIns="0" tIns="0" rIns="0" bIns="0" anchor="t">
            <a:spAutoFit/>
          </a:bodyPr>
          <a:lstStyle/>
          <a:p>
            <a:pPr>
              <a:spcAft>
                <a:spcPts val="300"/>
              </a:spcAft>
              <a:defRPr sz="1350" b="0">
                <a:solidFill>
                  <a:srgbClr val="58697B"/>
                </a:solidFill>
                <a:latin typeface="Aptos"/>
              </a:defRPr>
            </a:pPr>
            <a:r>
              <a:t>fixed / retry / oracle + VLM, 58 episodes each: the first comparable numbers</a:t>
            </a:r>
          </a:p>
        </p:txBody>
      </p:sp>
      <p:sp>
        <p:nvSpPr>
          <p:cNvPr id="24" name="TextBox 23"/>
          <p:cNvSpPr txBox="1"/>
          <p:nvPr/>
        </p:nvSpPr>
        <p:spPr>
          <a:xfrm>
            <a:off x="603504" y="4709160"/>
            <a:ext cx="10972800" cy="274320"/>
          </a:xfrm>
          <a:prstGeom prst="rect">
            <a:avLst/>
          </a:prstGeom>
          <a:noFill/>
        </p:spPr>
        <p:txBody>
          <a:bodyPr wrap="square" lIns="0" tIns="0" rIns="0" bIns="0" anchor="t">
            <a:spAutoFit/>
          </a:bodyPr>
          <a:lstStyle/>
          <a:p>
            <a:pPr>
              <a:spcAft>
                <a:spcPts val="300"/>
              </a:spcAft>
              <a:defRPr sz="1300" b="0">
                <a:solidFill>
                  <a:srgbClr val="58697B"/>
                </a:solidFill>
                <a:latin typeface="Aptos"/>
              </a:defRPr>
            </a:pPr>
            <a:r>
              <a:t>Lower priority: k_separate / k_restore_swap, which already fail on 15d948e.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pper_figure_1_skill_graph.png"/>
          <p:cNvPicPr>
            <a:picLocks noChangeAspect="1"/>
          </p:cNvPicPr>
          <p:nvPr/>
        </p:nvPicPr>
        <p:blipFill>
          <a:blip r:embed="rId1"/>
          <a:stretch>
            <a:fillRect/>
          </a:stretch>
        </p:blipFill>
        <p:spPr>
          <a:xfrm>
            <a:off x="0" y="431874"/>
            <a:ext cx="12191695" cy="59942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pper_figure_2_skill_library.png"/>
          <p:cNvPicPr>
            <a:picLocks noChangeAspect="1"/>
          </p:cNvPicPr>
          <p:nvPr/>
        </p:nvPicPr>
        <p:blipFill>
          <a:blip r:embed="rId1"/>
          <a:stretch>
            <a:fillRect/>
          </a:stretch>
        </p:blipFill>
        <p:spPr>
          <a:xfrm>
            <a:off x="300354" y="0"/>
            <a:ext cx="1159098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10328</Words>
  <Application>WPS Presentation</Application>
  <PresentationFormat>On-screen Show (4:3)</PresentationFormat>
  <Paragraphs>632</Paragraphs>
  <Slides>20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SimSun</vt:lpstr>
      <vt:lpstr>Wingdings</vt:lpstr>
      <vt:lpstr>Arial</vt:lpstr>
      <vt:lpstr>DejaVu Sans</vt:lpstr>
      <vt:lpstr>Aptos</vt:lpstr>
      <vt:lpstr>C059</vt:lpstr>
      <vt:lpstr>Calibri</vt:lpstr>
      <vt:lpstr>Microsoft YaHei</vt:lpstr>
      <vt:lpstr>Droid Sans Fallback</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ZenoBench: Generated Worlds to Household Tasks</dc:title>
  <dc:creator/>
  <cp:keywords>ZenoBench; EmbodiedGen V2; SkillNode; planning benchmark; Skill Graph</cp:keywords>
  <dc:description>generated using python-pptx</dc:description>
  <dc:subject>Group meeting overview: skill library, task demos, planning benchmark and upper-level handoff</dc:subject>
  <cp:lastModifiedBy>all</cp:lastModifiedBy>
  <cp:revision>2</cp:revision>
  <dcterms:created xsi:type="dcterms:W3CDTF">2026-10-19T16:44:18Z</dcterms:created>
  <dcterms:modified xsi:type="dcterms:W3CDTF">2026-10-19T16:44:18Z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